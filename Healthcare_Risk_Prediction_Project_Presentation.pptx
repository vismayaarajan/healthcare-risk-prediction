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19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Diabetes dataset: class distribution (raw records)</a:t>
            </a:r>
          </a:p>
        </c:rich>
      </c:tx>
      <c:layout/>
      <c:overlay val="0"/>
    </c:title>
    <c:autoTitleDeleted val="0"/>
    <c:plotArea>
      <c:layout/>
      <c:barChart>
        <c:barDir val="bar"/>
        <c:grouping val="clustered"/>
        <c:varyColors val="0"/>
        <c:ser>
          <c:idx val="0"/>
          <c:order val="0"/>
          <c:tx>
            <c:strRef>
              <c:f>Sheet1!$B$1</c:f>
              <c:strCache>
                <c:ptCount val="1"/>
                <c:pt idx="0">
                  <c:v>Records</c:v>
                </c:pt>
              </c:strCache>
            </c:strRef>
          </c:tx>
          <c:spPr>
            <a:solidFill>
              <a:srgbClr val="0E8C8C"/>
            </a:solidFill>
            <a:effectLst/>
          </c:spPr>
          <c:invertIfNegative val="0"/>
          <c:dLbls>
            <c:numFmt formatCode="#,##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No diabetes (0)</c:v>
                </c:pt>
                <c:pt idx="1">
                  <c:v>Prediabetes (1)</c:v>
                </c:pt>
                <c:pt idx="2">
                  <c:v>Diabetes (2)</c:v>
                </c:pt>
              </c:strCache>
            </c:strRef>
          </c:cat>
          <c:val>
            <c:numRef>
              <c:f>Sheet1!$B$2:$B$4</c:f>
              <c:numCache>
                <c:formatCode>General</c:formatCode>
                <c:ptCount val="3"/>
                <c:pt idx="0">
                  <c:v>213703</c:v>
                </c:pt>
                <c:pt idx="1">
                  <c:v>4631</c:v>
                </c:pt>
                <c:pt idx="2">
                  <c:v>35346</c:v>
                </c:pt>
              </c:numCache>
            </c:numRef>
          </c:val>
          <c:extLst>
            <c:ext xmlns:c16="http://schemas.microsoft.com/office/drawing/2014/chart" uri="{C3380CC4-5D6E-409C-BE32-E72D297353CC}">
              <c16:uniqueId val="{00000000-7E5C-45C1-B117-33652FD755AA}"/>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Hospital dataset: readmission categories</a:t>
            </a:r>
          </a:p>
        </c:rich>
      </c:tx>
      <c:layout/>
      <c:overlay val="0"/>
    </c:title>
    <c:autoTitleDeleted val="0"/>
    <c:plotArea>
      <c:layout/>
      <c:barChart>
        <c:barDir val="bar"/>
        <c:grouping val="clustered"/>
        <c:varyColors val="0"/>
        <c:ser>
          <c:idx val="0"/>
          <c:order val="0"/>
          <c:tx>
            <c:strRef>
              <c:f>Sheet1!$B$1</c:f>
              <c:strCache>
                <c:ptCount val="1"/>
                <c:pt idx="0">
                  <c:v>Encounters</c:v>
                </c:pt>
              </c:strCache>
            </c:strRef>
          </c:tx>
          <c:spPr>
            <a:solidFill>
              <a:srgbClr val="0B2545"/>
            </a:solidFill>
            <a:effectLst/>
          </c:spPr>
          <c:invertIfNegative val="0"/>
          <c:dLbls>
            <c:numFmt formatCode="#,##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No readmission</c:v>
                </c:pt>
                <c:pt idx="1">
                  <c:v>Readmitted after 30 days</c:v>
                </c:pt>
                <c:pt idx="2">
                  <c:v>Readmitted within 30 days</c:v>
                </c:pt>
              </c:strCache>
            </c:strRef>
          </c:cat>
          <c:val>
            <c:numRef>
              <c:f>Sheet1!$B$2:$B$4</c:f>
              <c:numCache>
                <c:formatCode>General</c:formatCode>
                <c:ptCount val="3"/>
                <c:pt idx="0">
                  <c:v>54864</c:v>
                </c:pt>
                <c:pt idx="1">
                  <c:v>35545</c:v>
                </c:pt>
                <c:pt idx="2">
                  <c:v>11357</c:v>
                </c:pt>
              </c:numCache>
            </c:numRef>
          </c:val>
          <c:extLst>
            <c:ext xmlns:c16="http://schemas.microsoft.com/office/drawing/2014/chart" uri="{C3380CC4-5D6E-409C-BE32-E72D297353CC}">
              <c16:uniqueId val="{00000000-6569-4813-B357-399A61947806}"/>
            </c:ext>
          </c:extLst>
        </c:ser>
        <c:dLbls>
          <c:showLegendKey val="0"/>
          <c:showVal val="1"/>
          <c:showCatName val="0"/>
          <c:showSerName val="0"/>
          <c:showPercent val="0"/>
          <c:showBubbleSize val="0"/>
        </c:dLbls>
        <c:gapWidth val="4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Hospital dataset: missing values per column (101,766 rows)</a:t>
            </a:r>
          </a:p>
        </c:rich>
      </c:tx>
      <c:layout/>
      <c:overlay val="0"/>
    </c:title>
    <c:autoTitleDeleted val="0"/>
    <c:plotArea>
      <c:layout/>
      <c:barChart>
        <c:barDir val="bar"/>
        <c:grouping val="clustered"/>
        <c:varyColors val="0"/>
        <c:ser>
          <c:idx val="0"/>
          <c:order val="0"/>
          <c:tx>
            <c:strRef>
              <c:f>Sheet1!$B$1</c:f>
              <c:strCache>
                <c:ptCount val="1"/>
                <c:pt idx="0">
                  <c:v>Missing</c:v>
                </c:pt>
              </c:strCache>
            </c:strRef>
          </c:tx>
          <c:spPr>
            <a:solidFill>
              <a:srgbClr val="0E8C8C"/>
            </a:solidFill>
            <a:effectLst/>
          </c:spPr>
          <c:invertIfNegative val="0"/>
          <c:dLbls>
            <c:numFmt formatCode="#,##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Sheet1!$A$2:$A$10</c:f>
              <c:strCache>
                <c:ptCount val="9"/>
                <c:pt idx="0">
                  <c:v>weight</c:v>
                </c:pt>
                <c:pt idx="1">
                  <c:v>max_glu_serum</c:v>
                </c:pt>
                <c:pt idx="2">
                  <c:v>A1Cresult</c:v>
                </c:pt>
                <c:pt idx="3">
                  <c:v>medical_specialty</c:v>
                </c:pt>
                <c:pt idx="4">
                  <c:v>payer_code</c:v>
                </c:pt>
                <c:pt idx="5">
                  <c:v>race</c:v>
                </c:pt>
                <c:pt idx="6">
                  <c:v>diag_3</c:v>
                </c:pt>
                <c:pt idx="7">
                  <c:v>diag_2</c:v>
                </c:pt>
                <c:pt idx="8">
                  <c:v>diag_1</c:v>
                </c:pt>
              </c:strCache>
            </c:strRef>
          </c:cat>
          <c:val>
            <c:numRef>
              <c:f>Sheet1!$B$2:$B$10</c:f>
              <c:numCache>
                <c:formatCode>General</c:formatCode>
                <c:ptCount val="9"/>
                <c:pt idx="0">
                  <c:v>98569</c:v>
                </c:pt>
                <c:pt idx="1">
                  <c:v>96420</c:v>
                </c:pt>
                <c:pt idx="2">
                  <c:v>84748</c:v>
                </c:pt>
                <c:pt idx="3">
                  <c:v>49949</c:v>
                </c:pt>
                <c:pt idx="4">
                  <c:v>40256</c:v>
                </c:pt>
                <c:pt idx="5">
                  <c:v>2273</c:v>
                </c:pt>
                <c:pt idx="6">
                  <c:v>1423</c:v>
                </c:pt>
                <c:pt idx="7">
                  <c:v>358</c:v>
                </c:pt>
                <c:pt idx="8">
                  <c:v>21</c:v>
                </c:pt>
              </c:numCache>
            </c:numRef>
          </c:val>
          <c:extLst>
            <c:ext xmlns:c16="http://schemas.microsoft.com/office/drawing/2014/chart" uri="{C3380CC4-5D6E-409C-BE32-E72D297353CC}">
              <c16:uniqueId val="{00000000-5E83-428D-BECD-6D84D737ED67}"/>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Recall by class (test set)</a:t>
            </a:r>
          </a:p>
        </c:rich>
      </c:tx>
      <c:layout/>
      <c:overlay val="0"/>
    </c:title>
    <c:autoTitleDeleted val="0"/>
    <c:plotArea>
      <c:layout/>
      <c:barChart>
        <c:barDir val="col"/>
        <c:grouping val="clustered"/>
        <c:varyColors val="0"/>
        <c:ser>
          <c:idx val="0"/>
          <c:order val="0"/>
          <c:tx>
            <c:strRef>
              <c:f>Sheet1!$B$1</c:f>
              <c:strCache>
                <c:ptCount val="1"/>
                <c:pt idx="0">
                  <c:v>Logistic Regression</c:v>
                </c:pt>
              </c:strCache>
            </c:strRef>
          </c:tx>
          <c:spPr>
            <a:solidFill>
              <a:srgbClr val="0E8C8C"/>
            </a:solidFill>
            <a:effectLst/>
          </c:spPr>
          <c:invertIfNegative val="0"/>
          <c:dLbls>
            <c:numFmt formatCode="0.0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No diabetes</c:v>
                </c:pt>
                <c:pt idx="1">
                  <c:v>Prediabetes</c:v>
                </c:pt>
                <c:pt idx="2">
                  <c:v>Diabetes</c:v>
                </c:pt>
              </c:strCache>
            </c:strRef>
          </c:cat>
          <c:val>
            <c:numRef>
              <c:f>Sheet1!$B$2:$B$4</c:f>
              <c:numCache>
                <c:formatCode>General</c:formatCode>
                <c:ptCount val="3"/>
                <c:pt idx="0">
                  <c:v>0.64</c:v>
                </c:pt>
                <c:pt idx="1">
                  <c:v>0.3</c:v>
                </c:pt>
                <c:pt idx="2">
                  <c:v>0.59</c:v>
                </c:pt>
              </c:numCache>
            </c:numRef>
          </c:val>
          <c:extLst>
            <c:ext xmlns:c16="http://schemas.microsoft.com/office/drawing/2014/chart" uri="{C3380CC4-5D6E-409C-BE32-E72D297353CC}">
              <c16:uniqueId val="{00000000-14E2-42F4-88CF-508BA65ABB34}"/>
            </c:ext>
          </c:extLst>
        </c:ser>
        <c:ser>
          <c:idx val="1"/>
          <c:order val="1"/>
          <c:tx>
            <c:strRef>
              <c:f>Sheet1!$C$1</c:f>
              <c:strCache>
                <c:ptCount val="1"/>
                <c:pt idx="0">
                  <c:v>Soft-voting ensemble</c:v>
                </c:pt>
              </c:strCache>
            </c:strRef>
          </c:tx>
          <c:spPr>
            <a:solidFill>
              <a:srgbClr val="0B2545"/>
            </a:solidFill>
            <a:effectLst/>
          </c:spPr>
          <c:invertIfNegative val="0"/>
          <c:dLbls>
            <c:numFmt formatCode="0.0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No diabetes</c:v>
                </c:pt>
                <c:pt idx="1">
                  <c:v>Prediabetes</c:v>
                </c:pt>
                <c:pt idx="2">
                  <c:v>Diabetes</c:v>
                </c:pt>
              </c:strCache>
            </c:strRef>
          </c:cat>
          <c:val>
            <c:numRef>
              <c:f>Sheet1!$C$2:$C$4</c:f>
              <c:numCache>
                <c:formatCode>General</c:formatCode>
                <c:ptCount val="3"/>
                <c:pt idx="0">
                  <c:v>0.95</c:v>
                </c:pt>
                <c:pt idx="1">
                  <c:v>0</c:v>
                </c:pt>
                <c:pt idx="2">
                  <c:v>0.23</c:v>
                </c:pt>
              </c:numCache>
            </c:numRef>
          </c:val>
          <c:extLst>
            <c:ext xmlns:c16="http://schemas.microsoft.com/office/drawing/2014/chart" uri="{C3380CC4-5D6E-409C-BE32-E72D297353CC}">
              <c16:uniqueId val="{00000001-14E2-42F4-88CF-508BA65ABB3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max val="1.100000000000000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layout/>
      <c:overlay val="0"/>
      <c:txPr>
        <a:bodyPr/>
        <a:lstStyle/>
        <a:p>
          <a:pPr>
            <a:defRPr sz="1000">
              <a:solidFill>
                <a:srgbClr val="44525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Validation set: metrics by decision threshold (best F1 at 0.40)</a:t>
            </a:r>
          </a:p>
        </c:rich>
      </c:tx>
      <c:layout/>
      <c:overlay val="0"/>
    </c:title>
    <c:autoTitleDeleted val="0"/>
    <c:plotArea>
      <c:layout/>
      <c:lineChart>
        <c:grouping val="standard"/>
        <c:varyColors val="0"/>
        <c:ser>
          <c:idx val="0"/>
          <c:order val="0"/>
          <c:tx>
            <c:strRef>
              <c:f>Sheet1!$B$1</c:f>
              <c:strCache>
                <c:ptCount val="1"/>
                <c:pt idx="0">
                  <c:v>Precision</c:v>
                </c:pt>
              </c:strCache>
            </c:strRef>
          </c:tx>
          <c:spPr>
            <a:ln w="31750" cap="flat">
              <a:solidFill>
                <a:srgbClr val="0B2545"/>
              </a:solidFill>
              <a:prstDash val="solid"/>
              <a:round/>
            </a:ln>
            <a:effectLst/>
          </c:spPr>
          <c:marker>
            <c:symbol val="circle"/>
            <c:size val="6"/>
            <c:spPr>
              <a:solidFill>
                <a:srgbClr val="0B2545"/>
              </a:solidFill>
              <a:ln w="9525" cap="flat">
                <a:solidFill>
                  <a:srgbClr val="0B2545"/>
                </a:solidFill>
                <a:prstDash val="solid"/>
                <a:round/>
              </a:ln>
              <a:effectLst/>
            </c:spPr>
          </c:marker>
          <c:cat>
            <c:strRef>
              <c:f>Sheet1!$A$2:$A$12</c:f>
              <c:strCache>
                <c:ptCount val="11"/>
                <c:pt idx="0">
                  <c:v>0.1</c:v>
                </c:pt>
                <c:pt idx="1">
                  <c:v>0.15</c:v>
                </c:pt>
                <c:pt idx="2">
                  <c:v>0.2</c:v>
                </c:pt>
                <c:pt idx="3">
                  <c:v>0.25</c:v>
                </c:pt>
                <c:pt idx="4">
                  <c:v>0.3</c:v>
                </c:pt>
                <c:pt idx="5">
                  <c:v>0.35</c:v>
                </c:pt>
                <c:pt idx="6">
                  <c:v>0.4</c:v>
                </c:pt>
                <c:pt idx="7">
                  <c:v>0.45</c:v>
                </c:pt>
                <c:pt idx="8">
                  <c:v>0.5</c:v>
                </c:pt>
                <c:pt idx="9">
                  <c:v>0.55</c:v>
                </c:pt>
                <c:pt idx="10">
                  <c:v>0.6</c:v>
                </c:pt>
              </c:strCache>
            </c:strRef>
          </c:cat>
          <c:val>
            <c:numRef>
              <c:f>Sheet1!$B$2:$B$12</c:f>
              <c:numCache>
                <c:formatCode>General</c:formatCode>
                <c:ptCount val="11"/>
                <c:pt idx="0">
                  <c:v>0.1116</c:v>
                </c:pt>
                <c:pt idx="1">
                  <c:v>0.112</c:v>
                </c:pt>
                <c:pt idx="2">
                  <c:v>0.114</c:v>
                </c:pt>
                <c:pt idx="3">
                  <c:v>0.1215</c:v>
                </c:pt>
                <c:pt idx="4">
                  <c:v>0.13350000000000001</c:v>
                </c:pt>
                <c:pt idx="5">
                  <c:v>0.15210000000000001</c:v>
                </c:pt>
                <c:pt idx="6">
                  <c:v>0.17949999999999999</c:v>
                </c:pt>
                <c:pt idx="7">
                  <c:v>0.2167</c:v>
                </c:pt>
                <c:pt idx="8">
                  <c:v>0.26419999999999999</c:v>
                </c:pt>
                <c:pt idx="9">
                  <c:v>0.35320000000000001</c:v>
                </c:pt>
                <c:pt idx="10">
                  <c:v>0.41549999999999998</c:v>
                </c:pt>
              </c:numCache>
            </c:numRef>
          </c:val>
          <c:smooth val="0"/>
          <c:extLst>
            <c:ext xmlns:c16="http://schemas.microsoft.com/office/drawing/2014/chart" uri="{C3380CC4-5D6E-409C-BE32-E72D297353CC}">
              <c16:uniqueId val="{00000000-9350-4DCF-9A91-A6E77A11CD22}"/>
            </c:ext>
          </c:extLst>
        </c:ser>
        <c:ser>
          <c:idx val="1"/>
          <c:order val="1"/>
          <c:tx>
            <c:strRef>
              <c:f>Sheet1!$C$1</c:f>
              <c:strCache>
                <c:ptCount val="1"/>
                <c:pt idx="0">
                  <c:v>Recall</c:v>
                </c:pt>
              </c:strCache>
            </c:strRef>
          </c:tx>
          <c:spPr>
            <a:ln w="31750" cap="flat">
              <a:solidFill>
                <a:srgbClr val="D98E04"/>
              </a:solidFill>
              <a:prstDash val="solid"/>
              <a:round/>
            </a:ln>
            <a:effectLst/>
          </c:spPr>
          <c:marker>
            <c:symbol val="circle"/>
            <c:size val="6"/>
            <c:spPr>
              <a:solidFill>
                <a:srgbClr val="D98E04"/>
              </a:solidFill>
              <a:ln w="9525" cap="flat">
                <a:solidFill>
                  <a:srgbClr val="D98E04"/>
                </a:solidFill>
                <a:prstDash val="solid"/>
                <a:round/>
              </a:ln>
              <a:effectLst/>
            </c:spPr>
          </c:marker>
          <c:cat>
            <c:strRef>
              <c:f>Sheet1!$A$2:$A$12</c:f>
              <c:strCache>
                <c:ptCount val="11"/>
                <c:pt idx="0">
                  <c:v>0.1</c:v>
                </c:pt>
                <c:pt idx="1">
                  <c:v>0.15</c:v>
                </c:pt>
                <c:pt idx="2">
                  <c:v>0.2</c:v>
                </c:pt>
                <c:pt idx="3">
                  <c:v>0.25</c:v>
                </c:pt>
                <c:pt idx="4">
                  <c:v>0.3</c:v>
                </c:pt>
                <c:pt idx="5">
                  <c:v>0.35</c:v>
                </c:pt>
                <c:pt idx="6">
                  <c:v>0.4</c:v>
                </c:pt>
                <c:pt idx="7">
                  <c:v>0.45</c:v>
                </c:pt>
                <c:pt idx="8">
                  <c:v>0.5</c:v>
                </c:pt>
                <c:pt idx="9">
                  <c:v>0.55</c:v>
                </c:pt>
                <c:pt idx="10">
                  <c:v>0.6</c:v>
                </c:pt>
              </c:strCache>
            </c:strRef>
          </c:cat>
          <c:val>
            <c:numRef>
              <c:f>Sheet1!$C$2:$C$12</c:f>
              <c:numCache>
                <c:formatCode>General</c:formatCode>
                <c:ptCount val="11"/>
                <c:pt idx="0">
                  <c:v>1</c:v>
                </c:pt>
                <c:pt idx="1">
                  <c:v>1</c:v>
                </c:pt>
                <c:pt idx="2">
                  <c:v>0.99390000000000001</c:v>
                </c:pt>
                <c:pt idx="3">
                  <c:v>0.95979999999999999</c:v>
                </c:pt>
                <c:pt idx="4">
                  <c:v>0.86460000000000004</c:v>
                </c:pt>
                <c:pt idx="5">
                  <c:v>0.7006</c:v>
                </c:pt>
                <c:pt idx="6">
                  <c:v>0.50960000000000005</c:v>
                </c:pt>
                <c:pt idx="7">
                  <c:v>0.32200000000000001</c:v>
                </c:pt>
                <c:pt idx="8">
                  <c:v>0.1767</c:v>
                </c:pt>
                <c:pt idx="9">
                  <c:v>9.4700000000000006E-2</c:v>
                </c:pt>
                <c:pt idx="10">
                  <c:v>3.2500000000000001E-2</c:v>
                </c:pt>
              </c:numCache>
            </c:numRef>
          </c:val>
          <c:smooth val="0"/>
          <c:extLst>
            <c:ext xmlns:c16="http://schemas.microsoft.com/office/drawing/2014/chart" uri="{C3380CC4-5D6E-409C-BE32-E72D297353CC}">
              <c16:uniqueId val="{00000001-9350-4DCF-9A91-A6E77A11CD22}"/>
            </c:ext>
          </c:extLst>
        </c:ser>
        <c:ser>
          <c:idx val="2"/>
          <c:order val="2"/>
          <c:tx>
            <c:strRef>
              <c:f>Sheet1!$D$1</c:f>
              <c:strCache>
                <c:ptCount val="1"/>
                <c:pt idx="0">
                  <c:v>F1-score</c:v>
                </c:pt>
              </c:strCache>
            </c:strRef>
          </c:tx>
          <c:spPr>
            <a:ln w="31750" cap="flat">
              <a:solidFill>
                <a:srgbClr val="0E8C8C"/>
              </a:solidFill>
              <a:prstDash val="solid"/>
              <a:round/>
            </a:ln>
            <a:effectLst/>
          </c:spPr>
          <c:marker>
            <c:symbol val="circle"/>
            <c:size val="6"/>
            <c:spPr>
              <a:solidFill>
                <a:srgbClr val="0E8C8C"/>
              </a:solidFill>
              <a:ln w="9525" cap="flat">
                <a:solidFill>
                  <a:srgbClr val="0E8C8C"/>
                </a:solidFill>
                <a:prstDash val="solid"/>
                <a:round/>
              </a:ln>
              <a:effectLst/>
            </c:spPr>
          </c:marker>
          <c:cat>
            <c:strRef>
              <c:f>Sheet1!$A$2:$A$12</c:f>
              <c:strCache>
                <c:ptCount val="11"/>
                <c:pt idx="0">
                  <c:v>0.1</c:v>
                </c:pt>
                <c:pt idx="1">
                  <c:v>0.15</c:v>
                </c:pt>
                <c:pt idx="2">
                  <c:v>0.2</c:v>
                </c:pt>
                <c:pt idx="3">
                  <c:v>0.25</c:v>
                </c:pt>
                <c:pt idx="4">
                  <c:v>0.3</c:v>
                </c:pt>
                <c:pt idx="5">
                  <c:v>0.35</c:v>
                </c:pt>
                <c:pt idx="6">
                  <c:v>0.4</c:v>
                </c:pt>
                <c:pt idx="7">
                  <c:v>0.45</c:v>
                </c:pt>
                <c:pt idx="8">
                  <c:v>0.5</c:v>
                </c:pt>
                <c:pt idx="9">
                  <c:v>0.55</c:v>
                </c:pt>
                <c:pt idx="10">
                  <c:v>0.6</c:v>
                </c:pt>
              </c:strCache>
            </c:strRef>
          </c:cat>
          <c:val>
            <c:numRef>
              <c:f>Sheet1!$D$2:$D$12</c:f>
              <c:numCache>
                <c:formatCode>General</c:formatCode>
                <c:ptCount val="11"/>
                <c:pt idx="0">
                  <c:v>0.20080000000000001</c:v>
                </c:pt>
                <c:pt idx="1">
                  <c:v>0.2014</c:v>
                </c:pt>
                <c:pt idx="2">
                  <c:v>0.20449999999999999</c:v>
                </c:pt>
                <c:pt idx="3">
                  <c:v>0.2157</c:v>
                </c:pt>
                <c:pt idx="4">
                  <c:v>0.23119999999999999</c:v>
                </c:pt>
                <c:pt idx="5">
                  <c:v>0.25</c:v>
                </c:pt>
                <c:pt idx="6">
                  <c:v>0.26550000000000001</c:v>
                </c:pt>
                <c:pt idx="7">
                  <c:v>0.25900000000000001</c:v>
                </c:pt>
                <c:pt idx="8">
                  <c:v>0.2117</c:v>
                </c:pt>
                <c:pt idx="9">
                  <c:v>0.14929999999999999</c:v>
                </c:pt>
                <c:pt idx="10">
                  <c:v>6.0199999999999997E-2</c:v>
                </c:pt>
              </c:numCache>
            </c:numRef>
          </c:val>
          <c:smooth val="0"/>
          <c:extLst>
            <c:ext xmlns:c16="http://schemas.microsoft.com/office/drawing/2014/chart" uri="{C3380CC4-5D6E-409C-BE32-E72D297353CC}">
              <c16:uniqueId val="{00000002-9350-4DCF-9A91-A6E77A11CD2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000" b="0" i="0" u="none" strike="noStrike">
                    <a:solidFill>
                      <a:srgbClr val="44525F"/>
                    </a:solidFill>
                    <a:latin typeface="Arial"/>
                  </a:defRPr>
                </a:pPr>
                <a:r>
                  <a:rPr lang="en-US" sz="1000" b="0" i="0" u="none" strike="noStrike">
                    <a:solidFill>
                      <a:srgbClr val="44525F"/>
                    </a:solidFill>
                    <a:latin typeface="Arial"/>
                  </a:rPr>
                  <a:t>Threshold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E1E8EE"/>
              </a:solidFill>
              <a:prstDash val="solid"/>
              <a:round/>
            </a:ln>
          </c:spPr>
        </c:majorGridlines>
        <c:title>
          <c:tx>
            <c:rich>
              <a:bodyPr/>
              <a:lstStyle/>
              <a:p>
                <a:pPr>
                  <a:defRPr sz="1000" b="0" i="0" u="none" strike="noStrike">
                    <a:solidFill>
                      <a:srgbClr val="44525F"/>
                    </a:solidFill>
                    <a:latin typeface="Arial"/>
                  </a:defRPr>
                </a:pPr>
                <a:r>
                  <a:rPr lang="en-US" sz="1000" b="0" i="0" u="none" strike="noStrike">
                    <a:solidFill>
                      <a:srgbClr val="44525F"/>
                    </a:solidFill>
                    <a:latin typeface="Arial"/>
                  </a:rPr>
                  <a:t>Score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4"/>
        <c:crosses val="autoZero"/>
        <c:crossBetween val="between"/>
        <c:majorUnit val="0.2"/>
      </c:valAx>
      <c:spPr>
        <a:noFill/>
        <a:ln>
          <a:noFill/>
        </a:ln>
        <a:effectLst/>
      </c:spPr>
    </c:plotArea>
    <c:legend>
      <c:legendPos val="b"/>
      <c:layout/>
      <c:overlay val="0"/>
      <c:txPr>
        <a:bodyPr/>
        <a:lstStyle/>
        <a:p>
          <a:pPr>
            <a:defRPr sz="1000">
              <a:solidFill>
                <a:srgbClr val="44525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Diabetes: accuracy versus macro F1</a:t>
            </a:r>
          </a:p>
        </c:rich>
      </c:tx>
      <c:layout/>
      <c:overlay val="0"/>
    </c:title>
    <c:autoTitleDeleted val="0"/>
    <c:plotArea>
      <c:layout/>
      <c:barChart>
        <c:barDir val="col"/>
        <c:grouping val="clustered"/>
        <c:varyColors val="0"/>
        <c:ser>
          <c:idx val="0"/>
          <c:order val="0"/>
          <c:tx>
            <c:strRef>
              <c:f>Sheet1!$B$1</c:f>
              <c:strCache>
                <c:ptCount val="1"/>
                <c:pt idx="0">
                  <c:v>Accuracy</c:v>
                </c:pt>
              </c:strCache>
            </c:strRef>
          </c:tx>
          <c:spPr>
            <a:solidFill>
              <a:srgbClr val="0B2545"/>
            </a:solidFill>
            <a:effectLst/>
          </c:spPr>
          <c:invertIfNegative val="0"/>
          <c:dLbls>
            <c:numFmt formatCode="0.0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LR</c:v>
                </c:pt>
                <c:pt idx="1">
                  <c:v>Random Forest</c:v>
                </c:pt>
                <c:pt idx="2">
                  <c:v>Extra Trees</c:v>
                </c:pt>
                <c:pt idx="3">
                  <c:v>Ensemble</c:v>
                </c:pt>
              </c:strCache>
            </c:strRef>
          </c:cat>
          <c:val>
            <c:numRef>
              <c:f>Sheet1!$B$2:$B$5</c:f>
              <c:numCache>
                <c:formatCode>General</c:formatCode>
                <c:ptCount val="4"/>
                <c:pt idx="0">
                  <c:v>0.62919999999999998</c:v>
                </c:pt>
                <c:pt idx="1">
                  <c:v>0.82310000000000005</c:v>
                </c:pt>
                <c:pt idx="2">
                  <c:v>0.81110000000000004</c:v>
                </c:pt>
                <c:pt idx="3">
                  <c:v>0.81969999999999998</c:v>
                </c:pt>
              </c:numCache>
            </c:numRef>
          </c:val>
          <c:extLst>
            <c:ext xmlns:c16="http://schemas.microsoft.com/office/drawing/2014/chart" uri="{C3380CC4-5D6E-409C-BE32-E72D297353CC}">
              <c16:uniqueId val="{00000000-1BBB-4730-9DE3-2722DA8A1AC5}"/>
            </c:ext>
          </c:extLst>
        </c:ser>
        <c:ser>
          <c:idx val="1"/>
          <c:order val="1"/>
          <c:tx>
            <c:strRef>
              <c:f>Sheet1!$C$1</c:f>
              <c:strCache>
                <c:ptCount val="1"/>
                <c:pt idx="0">
                  <c:v>Macro F1</c:v>
                </c:pt>
              </c:strCache>
            </c:strRef>
          </c:tx>
          <c:spPr>
            <a:solidFill>
              <a:srgbClr val="0E8C8C"/>
            </a:solidFill>
            <a:effectLst/>
          </c:spPr>
          <c:invertIfNegative val="0"/>
          <c:dLbls>
            <c:numFmt formatCode="0.0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LR</c:v>
                </c:pt>
                <c:pt idx="1">
                  <c:v>Random Forest</c:v>
                </c:pt>
                <c:pt idx="2">
                  <c:v>Extra Trees</c:v>
                </c:pt>
                <c:pt idx="3">
                  <c:v>Ensemble</c:v>
                </c:pt>
              </c:strCache>
            </c:strRef>
          </c:cat>
          <c:val>
            <c:numRef>
              <c:f>Sheet1!$C$2:$C$5</c:f>
              <c:numCache>
                <c:formatCode>General</c:formatCode>
                <c:ptCount val="4"/>
                <c:pt idx="0">
                  <c:v>0.42570000000000002</c:v>
                </c:pt>
                <c:pt idx="1">
                  <c:v>0.37709999999999999</c:v>
                </c:pt>
                <c:pt idx="2">
                  <c:v>0.3805</c:v>
                </c:pt>
                <c:pt idx="3">
                  <c:v>0.40300000000000002</c:v>
                </c:pt>
              </c:numCache>
            </c:numRef>
          </c:val>
          <c:extLst>
            <c:ext xmlns:c16="http://schemas.microsoft.com/office/drawing/2014/chart" uri="{C3380CC4-5D6E-409C-BE32-E72D297353CC}">
              <c16:uniqueId val="{00000001-1BBB-4730-9DE3-2722DA8A1AC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max val="1"/>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layout/>
      <c:overlay val="0"/>
      <c:txPr>
        <a:bodyPr/>
        <a:lstStyle/>
        <a:p>
          <a:pPr>
            <a:defRPr sz="1000">
              <a:solidFill>
                <a:srgbClr val="44525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Readmission: early-readmission recall and F1</a:t>
            </a:r>
          </a:p>
        </c:rich>
      </c:tx>
      <c:layout/>
      <c:overlay val="0"/>
    </c:title>
    <c:autoTitleDeleted val="0"/>
    <c:plotArea>
      <c:layout/>
      <c:barChart>
        <c:barDir val="col"/>
        <c:grouping val="clustered"/>
        <c:varyColors val="0"/>
        <c:ser>
          <c:idx val="0"/>
          <c:order val="0"/>
          <c:tx>
            <c:strRef>
              <c:f>Sheet1!$B$1</c:f>
              <c:strCache>
                <c:ptCount val="1"/>
                <c:pt idx="0">
                  <c:v>Recall</c:v>
                </c:pt>
              </c:strCache>
            </c:strRef>
          </c:tx>
          <c:spPr>
            <a:solidFill>
              <a:srgbClr val="D98E04"/>
            </a:solidFill>
            <a:effectLst/>
          </c:spPr>
          <c:invertIfNegative val="0"/>
          <c:dLbls>
            <c:numFmt formatCode="0.0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LR</c:v>
                </c:pt>
                <c:pt idx="1">
                  <c:v>Random Forest</c:v>
                </c:pt>
                <c:pt idx="2">
                  <c:v>Extra Trees</c:v>
                </c:pt>
                <c:pt idx="3">
                  <c:v>Ensemble</c:v>
                </c:pt>
                <c:pt idx="4">
                  <c:v>Tuned RF</c:v>
                </c:pt>
              </c:strCache>
            </c:strRef>
          </c:cat>
          <c:val>
            <c:numRef>
              <c:f>Sheet1!$B$2:$B$6</c:f>
              <c:numCache>
                <c:formatCode>General</c:formatCode>
                <c:ptCount val="5"/>
                <c:pt idx="0">
                  <c:v>0.55000000000000004</c:v>
                </c:pt>
                <c:pt idx="1">
                  <c:v>0.01</c:v>
                </c:pt>
                <c:pt idx="2">
                  <c:v>0.01</c:v>
                </c:pt>
                <c:pt idx="3">
                  <c:v>0.02</c:v>
                </c:pt>
                <c:pt idx="4">
                  <c:v>0.53</c:v>
                </c:pt>
              </c:numCache>
            </c:numRef>
          </c:val>
          <c:extLst>
            <c:ext xmlns:c16="http://schemas.microsoft.com/office/drawing/2014/chart" uri="{C3380CC4-5D6E-409C-BE32-E72D297353CC}">
              <c16:uniqueId val="{00000000-BA2B-493F-9225-F1D6DC645EB5}"/>
            </c:ext>
          </c:extLst>
        </c:ser>
        <c:ser>
          <c:idx val="1"/>
          <c:order val="1"/>
          <c:tx>
            <c:strRef>
              <c:f>Sheet1!$C$1</c:f>
              <c:strCache>
                <c:ptCount val="1"/>
                <c:pt idx="0">
                  <c:v>F1</c:v>
                </c:pt>
              </c:strCache>
            </c:strRef>
          </c:tx>
          <c:spPr>
            <a:solidFill>
              <a:srgbClr val="0E8C8C"/>
            </a:solidFill>
            <a:effectLst/>
          </c:spPr>
          <c:invertIfNegative val="0"/>
          <c:dLbls>
            <c:numFmt formatCode="0.0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LR</c:v>
                </c:pt>
                <c:pt idx="1">
                  <c:v>Random Forest</c:v>
                </c:pt>
                <c:pt idx="2">
                  <c:v>Extra Trees</c:v>
                </c:pt>
                <c:pt idx="3">
                  <c:v>Ensemble</c:v>
                </c:pt>
                <c:pt idx="4">
                  <c:v>Tuned RF</c:v>
                </c:pt>
              </c:strCache>
            </c:strRef>
          </c:cat>
          <c:val>
            <c:numRef>
              <c:f>Sheet1!$C$2:$C$6</c:f>
              <c:numCache>
                <c:formatCode>General</c:formatCode>
                <c:ptCount val="5"/>
                <c:pt idx="0">
                  <c:v>0.25</c:v>
                </c:pt>
                <c:pt idx="1">
                  <c:v>0.01</c:v>
                </c:pt>
                <c:pt idx="2">
                  <c:v>0.03</c:v>
                </c:pt>
                <c:pt idx="3">
                  <c:v>0.03</c:v>
                </c:pt>
                <c:pt idx="4">
                  <c:v>0.28000000000000003</c:v>
                </c:pt>
              </c:numCache>
            </c:numRef>
          </c:val>
          <c:extLst>
            <c:ext xmlns:c16="http://schemas.microsoft.com/office/drawing/2014/chart" uri="{C3380CC4-5D6E-409C-BE32-E72D297353CC}">
              <c16:uniqueId val="{00000001-BA2B-493F-9225-F1D6DC645EB5}"/>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max val="0.7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r"/>
      <c:layout/>
      <c:overlay val="0"/>
      <c:txPr>
        <a:bodyPr/>
        <a:lstStyle/>
        <a:p>
          <a:pPr>
            <a:defRPr sz="1000">
              <a:solidFill>
                <a:srgbClr val="44525F"/>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0B2545"/>
                </a:solidFill>
                <a:latin typeface="Calibri"/>
              </a:defRPr>
            </a:pPr>
            <a:r>
              <a:rPr lang="en-US" sz="1200" b="0" i="0" u="none" strike="noStrike">
                <a:solidFill>
                  <a:srgbClr val="0B2545"/>
                </a:solidFill>
                <a:latin typeface="Calibri"/>
              </a:rPr>
              <a:t>Readmission: top 10 Random Forest feature importances</a:t>
            </a:r>
          </a:p>
        </c:rich>
      </c:tx>
      <c:layout/>
      <c:overlay val="0"/>
    </c:title>
    <c:autoTitleDeleted val="0"/>
    <c:plotArea>
      <c:layout/>
      <c:barChart>
        <c:barDir val="bar"/>
        <c:grouping val="clustered"/>
        <c:varyColors val="0"/>
        <c:ser>
          <c:idx val="0"/>
          <c:order val="0"/>
          <c:tx>
            <c:strRef>
              <c:f>Sheet1!$B$1</c:f>
              <c:strCache>
                <c:ptCount val="1"/>
                <c:pt idx="0">
                  <c:v>Importance</c:v>
                </c:pt>
              </c:strCache>
            </c:strRef>
          </c:tx>
          <c:spPr>
            <a:solidFill>
              <a:srgbClr val="0E8C8C"/>
            </a:solidFill>
            <a:effectLst/>
          </c:spPr>
          <c:invertIfNegative val="0"/>
          <c:dLbls>
            <c:numFmt formatCode="0.000" sourceLinked="0"/>
            <c:spPr>
              <a:noFill/>
              <a:ln>
                <a:noFill/>
              </a:ln>
              <a:effectLst/>
            </c:spPr>
            <c:txPr>
              <a:bodyPr/>
              <a:lstStyle/>
              <a:p>
                <a:pPr>
                  <a:defRPr sz="1000" b="0" i="0" u="none" strike="noStrike">
                    <a:solidFill>
                      <a:srgbClr val="1F2D3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Lab procedures</c:v>
                </c:pt>
                <c:pt idx="1">
                  <c:v>Medications</c:v>
                </c:pt>
                <c:pt idx="2">
                  <c:v>Prior inpatient visits</c:v>
                </c:pt>
                <c:pt idx="3">
                  <c:v>Time in hospital</c:v>
                </c:pt>
                <c:pt idx="4">
                  <c:v>Discharge disposition</c:v>
                </c:pt>
                <c:pt idx="5">
                  <c:v>Diagnoses</c:v>
                </c:pt>
                <c:pt idx="6">
                  <c:v>Procedures</c:v>
                </c:pt>
                <c:pt idx="7">
                  <c:v>Admission type</c:v>
                </c:pt>
                <c:pt idx="8">
                  <c:v>Admission source</c:v>
                </c:pt>
                <c:pt idx="9">
                  <c:v>Outpatient visits</c:v>
                </c:pt>
              </c:strCache>
            </c:strRef>
          </c:cat>
          <c:val>
            <c:numRef>
              <c:f>Sheet1!$B$2:$B$11</c:f>
              <c:numCache>
                <c:formatCode>General</c:formatCode>
                <c:ptCount val="10"/>
                <c:pt idx="0">
                  <c:v>4.7225999999999997E-2</c:v>
                </c:pt>
                <c:pt idx="1">
                  <c:v>4.4606E-2</c:v>
                </c:pt>
                <c:pt idx="2">
                  <c:v>3.8276999999999999E-2</c:v>
                </c:pt>
                <c:pt idx="3">
                  <c:v>3.5815E-2</c:v>
                </c:pt>
                <c:pt idx="4">
                  <c:v>2.8417999999999999E-2</c:v>
                </c:pt>
                <c:pt idx="5">
                  <c:v>2.5500999999999999E-2</c:v>
                </c:pt>
                <c:pt idx="6">
                  <c:v>2.4693E-2</c:v>
                </c:pt>
                <c:pt idx="7">
                  <c:v>1.8849000000000001E-2</c:v>
                </c:pt>
                <c:pt idx="8">
                  <c:v>1.6799999999999999E-2</c:v>
                </c:pt>
                <c:pt idx="9">
                  <c:v>1.265E-2</c:v>
                </c:pt>
              </c:numCache>
            </c:numRef>
          </c:val>
          <c:extLst>
            <c:ext xmlns:c16="http://schemas.microsoft.com/office/drawing/2014/chart" uri="{C3380CC4-5D6E-409C-BE32-E72D297353CC}">
              <c16:uniqueId val="{00000000-4F32-4832-8ECD-D9E1267E34B9}"/>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lblOffset val="100"/>
        <c:noMultiLvlLbl val="1"/>
      </c:catAx>
      <c:valAx>
        <c:axId val="2094734552"/>
        <c:scaling>
          <c:orientation val="minMax"/>
          <c:max val="5.8000000000000003E-2"/>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3543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Project: explainable ensemble learning for early patient risk prediction, covering two tasks: diabetes status (BRFSS survey data) and 30-day hospital readmission (Diabetes 130-US Hospitals).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two problems: diabetes status from survey indicators, and early readmission after a hospital stay. Both are imbalanced, which shapes every later decision. This is a research prototype on public data and has not been clinically validated.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five objectives that were implemented in the notebook. Right: what the system predicts and what remains future work. Nothing on the right side has been implemented.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public datasets, two different tasks. Diabetes data: 253,680 survey records, 23,899 exact duplicates removed. Hospital data: 101,766 encounters, target converted to binary early readmission.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Separate preparation from exploration. Preparation: duplicates, missing markers, imputation, scaling, encoding, splits and class weights. Exploration: class distribution, missing values per column, duplicate counts. The chart shows missing values in the hospital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top row left to right: acquisition to interpretation. The two lanes below show what is specific to each task: cross-validation for diabetes, and imbalance handling plus threshold selection on a validation set for readmission.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were implemented for each task. All use class_weight balanced, 100 trees for tree models, random state 42. The soft-voting ensemble averages predicted probabilities with weights 1, 2, 2. For readmission, a class-weighted Random Forest with a validation-selected threshold was added.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combined pipeline, not a claim of research novelty. SHAP outputs shown are the actual outputs from the notebook runs. Readmission SHAP used 50 test records and 30 background records. The diabetes SHAP image is from a sample-based run and shows the top features only.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was implemented in a Google Colab notebook. Models and result tables were saved with joblib and CSV. No web application, API or real-time system was built.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is high mostly because 82.7% of records are non-diabetic. The ensemble almost never detects prediabetes (recall 0.00, only 926 test cases). Logistic Regression has lower accuracy but better recall on the minority classes and the best macro F1.</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Threshold 0.40 was chosen on the validation set (best F1 0.2655), then applied once to the test set. Recall for early readmission is 0.531: 1,206 of 2,271 early readmissions are flagged. Precision is 0.1856, so most flags are false alarms; this is a screening flag, not a diagnosis.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diabetes models on the test set plus 3-fold CV macro F1. Right: readmission models on the test set, with early readmission as the positive class. Best values per column are highlighted. The ensemble did not win on diabetes macro F1, and Logistic Regression is also a competitive baseline for readmission recall.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shows Random Forest feature importance for readmission. SHAP, on a small sample, ranks prior inpatient visits and discharge disposition highest. These are associations in observational data, not causes. Use as a screening and prioritisation aid only after validation.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principal findings, state the limitations plainly, and end with realistic future work.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777240"/>
            <a:ext cx="6949440" cy="320040"/>
          </a:xfrm>
          <a:prstGeom prst="rect">
            <a:avLst/>
          </a:prstGeom>
          <a:noFill/>
          <a:ln/>
        </p:spPr>
        <p:txBody>
          <a:bodyPr wrap="square" lIns="0" tIns="0" rIns="0" bIns="0" rtlCol="0" anchor="ctr"/>
          <a:lstStyle/>
          <a:p>
            <a:pPr marL="0" indent="0">
              <a:buNone/>
            </a:pPr>
            <a:r>
              <a:rPr lang="en-US" sz="1400" b="1" kern="0" spc="300" dirty="0">
                <a:solidFill>
                  <a:srgbClr val="7FD1D1"/>
                </a:solidFill>
                <a:latin typeface="Calibri" pitchFamily="34" charset="0"/>
                <a:ea typeface="Calibri" pitchFamily="34" charset="-122"/>
                <a:cs typeface="Calibri" pitchFamily="34" charset="-120"/>
              </a:rPr>
              <a:t>HEALTHCARE ANALYTICS PROJECT</a:t>
            </a:r>
            <a:endParaRPr lang="en-US" sz="1400" dirty="0"/>
          </a:p>
        </p:txBody>
      </p:sp>
      <p:sp>
        <p:nvSpPr>
          <p:cNvPr id="3" name="Text 1"/>
          <p:cNvSpPr txBox="1"/>
          <p:nvPr/>
        </p:nvSpPr>
        <p:spPr>
          <a:xfrm>
            <a:off x="640080" y="1280160"/>
            <a:ext cx="6949440" cy="2468880"/>
          </a:xfrm>
          <a:prstGeom prst="rect">
            <a:avLst/>
          </a:prstGeom>
          <a:noFill/>
          <a:ln/>
        </p:spPr>
        <p:txBody>
          <a:bodyPr wrap="square" lIns="0" tIns="0" rIns="0" bIns="0" rtlCol="0" anchor="t"/>
          <a:lstStyle/>
          <a:p>
            <a:pPr marL="0" indent="0">
              <a:buNone/>
            </a:pPr>
            <a:r>
              <a:rPr lang="en-US" sz="3600" b="1" dirty="0">
                <a:solidFill>
                  <a:srgbClr val="FFFFFF"/>
                </a:solidFill>
                <a:latin typeface="Cambria" pitchFamily="34" charset="0"/>
                <a:ea typeface="Cambria" pitchFamily="34" charset="-122"/>
                <a:cs typeface="Cambria" pitchFamily="34" charset="-120"/>
              </a:rPr>
              <a:t>An Explainable Ensemble Learning Framework for Early Patient Risk Prediction in Healthcare</a:t>
            </a:r>
            <a:endParaRPr lang="en-US" sz="3600" dirty="0"/>
          </a:p>
        </p:txBody>
      </p:sp>
      <p:sp>
        <p:nvSpPr>
          <p:cNvPr id="4" name="Text 2"/>
          <p:cNvSpPr txBox="1"/>
          <p:nvPr/>
        </p:nvSpPr>
        <p:spPr>
          <a:xfrm>
            <a:off x="640080" y="4160520"/>
            <a:ext cx="246888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Vismayaa Rajan</a:t>
            </a:r>
            <a:endParaRPr lang="en-US" sz="2000" dirty="0"/>
          </a:p>
        </p:txBody>
      </p:sp>
      <p:sp>
        <p:nvSpPr>
          <p:cNvPr id="5" name="Text 3"/>
          <p:cNvSpPr txBox="1"/>
          <p:nvPr/>
        </p:nvSpPr>
        <p:spPr>
          <a:xfrm>
            <a:off x="3200400" y="4160520"/>
            <a:ext cx="3657600" cy="411480"/>
          </a:xfrm>
          <a:prstGeom prst="rect">
            <a:avLst/>
          </a:prstGeom>
          <a:noFill/>
          <a:ln/>
        </p:spPr>
        <p:txBody>
          <a:bodyPr wrap="square" lIns="0" tIns="0" rIns="0" bIns="0" rtlCol="0" anchor="ctr"/>
          <a:lstStyle/>
          <a:p>
            <a:pPr marL="0" indent="0">
              <a:buNone/>
            </a:pPr>
            <a:r>
              <a:rPr lang="en-US" sz="2000" dirty="0">
                <a:solidFill>
                  <a:srgbClr val="BFD3E4"/>
                </a:solidFill>
                <a:latin typeface="Calibri" pitchFamily="34" charset="0"/>
                <a:ea typeface="Calibri" pitchFamily="34" charset="-122"/>
                <a:cs typeface="Calibri" pitchFamily="34" charset="-120"/>
              </a:rPr>
              <a:t>PRN: 23070521169</a:t>
            </a:r>
            <a:endParaRPr lang="en-US" sz="2000" dirty="0"/>
          </a:p>
        </p:txBody>
      </p:sp>
      <p:sp>
        <p:nvSpPr>
          <p:cNvPr id="6" name="Text 4"/>
          <p:cNvSpPr txBox="1"/>
          <p:nvPr/>
        </p:nvSpPr>
        <p:spPr>
          <a:xfrm>
            <a:off x="640080" y="4663440"/>
            <a:ext cx="2468880" cy="411480"/>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Arya Jain</a:t>
            </a:r>
            <a:endParaRPr lang="en-US" sz="2000" dirty="0"/>
          </a:p>
        </p:txBody>
      </p:sp>
      <p:sp>
        <p:nvSpPr>
          <p:cNvPr id="7" name="Text 5"/>
          <p:cNvSpPr txBox="1"/>
          <p:nvPr/>
        </p:nvSpPr>
        <p:spPr>
          <a:xfrm>
            <a:off x="3200400" y="4663440"/>
            <a:ext cx="3657600" cy="411480"/>
          </a:xfrm>
          <a:prstGeom prst="rect">
            <a:avLst/>
          </a:prstGeom>
          <a:noFill/>
          <a:ln/>
        </p:spPr>
        <p:txBody>
          <a:bodyPr wrap="square" lIns="0" tIns="0" rIns="0" bIns="0" rtlCol="0" anchor="ctr"/>
          <a:lstStyle/>
          <a:p>
            <a:pPr marL="0" indent="0">
              <a:buNone/>
            </a:pPr>
            <a:r>
              <a:rPr lang="en-US" sz="2000" dirty="0">
                <a:solidFill>
                  <a:srgbClr val="BFD3E4"/>
                </a:solidFill>
                <a:latin typeface="Calibri" pitchFamily="34" charset="0"/>
                <a:ea typeface="Calibri" pitchFamily="34" charset="-122"/>
                <a:cs typeface="Calibri" pitchFamily="34" charset="-120"/>
              </a:rPr>
              <a:t>PRN: 23070521218</a:t>
            </a:r>
            <a:endParaRPr lang="en-US" sz="2000" dirty="0"/>
          </a:p>
        </p:txBody>
      </p:sp>
      <p:sp>
        <p:nvSpPr>
          <p:cNvPr id="8" name="Text 6"/>
          <p:cNvSpPr txBox="1"/>
          <p:nvPr/>
        </p:nvSpPr>
        <p:spPr>
          <a:xfrm>
            <a:off x="640080" y="5486400"/>
            <a:ext cx="6949440" cy="411480"/>
          </a:xfrm>
          <a:prstGeom prst="rect">
            <a:avLst/>
          </a:prstGeom>
          <a:noFill/>
          <a:ln/>
        </p:spPr>
        <p:txBody>
          <a:bodyPr wrap="square" lIns="0" tIns="0" rIns="0" bIns="0" rtlCol="0" anchor="ctr"/>
          <a:lstStyle/>
          <a:p>
            <a:pPr marL="0" indent="0">
              <a:buNone/>
            </a:pPr>
            <a:r>
              <a:rPr lang="en-US" sz="1800" dirty="0">
                <a:solidFill>
                  <a:srgbClr val="7FD1D1"/>
                </a:solidFill>
                <a:latin typeface="Calibri" pitchFamily="34" charset="0"/>
                <a:ea typeface="Calibri" pitchFamily="34" charset="-122"/>
                <a:cs typeface="Calibri" pitchFamily="34" charset="-120"/>
              </a:rPr>
              <a:t>Course: Healthcare Analytics</a:t>
            </a:r>
            <a:endParaRPr lang="en-US" sz="1800" dirty="0"/>
          </a:p>
        </p:txBody>
      </p:sp>
      <p:sp>
        <p:nvSpPr>
          <p:cNvPr id="9" name="Shape 7"/>
          <p:cNvSpPr/>
          <p:nvPr/>
        </p:nvSpPr>
        <p:spPr>
          <a:xfrm>
            <a:off x="8046720" y="777240"/>
            <a:ext cx="3520440" cy="5303520"/>
          </a:xfrm>
          <a:prstGeom prst="roundRect">
            <a:avLst>
              <a:gd name="adj" fmla="val 3117"/>
            </a:avLst>
          </a:prstGeom>
          <a:solidFill>
            <a:srgbClr val="123A63"/>
          </a:solidFill>
          <a:ln w="12700">
            <a:solidFill>
              <a:srgbClr val="1E5A8A"/>
            </a:solidFill>
            <a:prstDash val="solid"/>
          </a:ln>
        </p:spPr>
      </p:sp>
      <p:sp>
        <p:nvSpPr>
          <p:cNvPr id="10" name="Shape 8"/>
          <p:cNvSpPr/>
          <p:nvPr/>
        </p:nvSpPr>
        <p:spPr>
          <a:xfrm>
            <a:off x="8321040" y="2148840"/>
            <a:ext cx="548640" cy="0"/>
          </a:xfrm>
          <a:prstGeom prst="line">
            <a:avLst/>
          </a:prstGeom>
          <a:noFill/>
          <a:ln w="31750">
            <a:solidFill>
              <a:srgbClr val="4FD1C5"/>
            </a:solidFill>
            <a:prstDash val="solid"/>
          </a:ln>
        </p:spPr>
      </p:sp>
      <p:sp>
        <p:nvSpPr>
          <p:cNvPr id="11" name="Shape 9"/>
          <p:cNvSpPr/>
          <p:nvPr/>
        </p:nvSpPr>
        <p:spPr>
          <a:xfrm flipV="1">
            <a:off x="8869680" y="1920240"/>
            <a:ext cx="182880" cy="228600"/>
          </a:xfrm>
          <a:prstGeom prst="line">
            <a:avLst/>
          </a:prstGeom>
          <a:noFill/>
          <a:ln w="31750">
            <a:solidFill>
              <a:srgbClr val="4FD1C5"/>
            </a:solidFill>
            <a:prstDash val="solid"/>
          </a:ln>
        </p:spPr>
      </p:sp>
      <p:sp>
        <p:nvSpPr>
          <p:cNvPr id="12" name="Shape 10"/>
          <p:cNvSpPr/>
          <p:nvPr/>
        </p:nvSpPr>
        <p:spPr>
          <a:xfrm>
            <a:off x="9052560" y="1920240"/>
            <a:ext cx="182880" cy="320040"/>
          </a:xfrm>
          <a:prstGeom prst="line">
            <a:avLst/>
          </a:prstGeom>
          <a:noFill/>
          <a:ln w="31750">
            <a:solidFill>
              <a:srgbClr val="4FD1C5"/>
            </a:solidFill>
            <a:prstDash val="solid"/>
          </a:ln>
        </p:spPr>
      </p:sp>
      <p:sp>
        <p:nvSpPr>
          <p:cNvPr id="13" name="Shape 11"/>
          <p:cNvSpPr/>
          <p:nvPr/>
        </p:nvSpPr>
        <p:spPr>
          <a:xfrm flipV="1">
            <a:off x="9235440" y="1325880"/>
            <a:ext cx="228600" cy="914400"/>
          </a:xfrm>
          <a:prstGeom prst="line">
            <a:avLst/>
          </a:prstGeom>
          <a:noFill/>
          <a:ln w="31750">
            <a:solidFill>
              <a:srgbClr val="4FD1C5"/>
            </a:solidFill>
            <a:prstDash val="solid"/>
          </a:ln>
        </p:spPr>
      </p:sp>
      <p:sp>
        <p:nvSpPr>
          <p:cNvPr id="14" name="Shape 12"/>
          <p:cNvSpPr/>
          <p:nvPr/>
        </p:nvSpPr>
        <p:spPr>
          <a:xfrm>
            <a:off x="9464040" y="1325880"/>
            <a:ext cx="274320" cy="1417320"/>
          </a:xfrm>
          <a:prstGeom prst="line">
            <a:avLst/>
          </a:prstGeom>
          <a:noFill/>
          <a:ln w="31750">
            <a:solidFill>
              <a:srgbClr val="4FD1C5"/>
            </a:solidFill>
            <a:prstDash val="solid"/>
          </a:ln>
        </p:spPr>
      </p:sp>
      <p:sp>
        <p:nvSpPr>
          <p:cNvPr id="15" name="Shape 13"/>
          <p:cNvSpPr/>
          <p:nvPr/>
        </p:nvSpPr>
        <p:spPr>
          <a:xfrm flipV="1">
            <a:off x="9738360" y="2148840"/>
            <a:ext cx="228600" cy="594360"/>
          </a:xfrm>
          <a:prstGeom prst="line">
            <a:avLst/>
          </a:prstGeom>
          <a:noFill/>
          <a:ln w="31750">
            <a:solidFill>
              <a:srgbClr val="4FD1C5"/>
            </a:solidFill>
            <a:prstDash val="solid"/>
          </a:ln>
        </p:spPr>
      </p:sp>
      <p:sp>
        <p:nvSpPr>
          <p:cNvPr id="16" name="Shape 14"/>
          <p:cNvSpPr/>
          <p:nvPr/>
        </p:nvSpPr>
        <p:spPr>
          <a:xfrm>
            <a:off x="9966960" y="2148840"/>
            <a:ext cx="411480" cy="0"/>
          </a:xfrm>
          <a:prstGeom prst="line">
            <a:avLst/>
          </a:prstGeom>
          <a:noFill/>
          <a:ln w="31750">
            <a:solidFill>
              <a:srgbClr val="4FD1C5"/>
            </a:solidFill>
            <a:prstDash val="solid"/>
          </a:ln>
        </p:spPr>
      </p:sp>
      <p:sp>
        <p:nvSpPr>
          <p:cNvPr id="17" name="Shape 15"/>
          <p:cNvSpPr/>
          <p:nvPr/>
        </p:nvSpPr>
        <p:spPr>
          <a:xfrm flipV="1">
            <a:off x="10378440" y="1965960"/>
            <a:ext cx="182880" cy="182880"/>
          </a:xfrm>
          <a:prstGeom prst="line">
            <a:avLst/>
          </a:prstGeom>
          <a:noFill/>
          <a:ln w="31750">
            <a:solidFill>
              <a:srgbClr val="4FD1C5"/>
            </a:solidFill>
            <a:prstDash val="solid"/>
          </a:ln>
        </p:spPr>
      </p:sp>
      <p:sp>
        <p:nvSpPr>
          <p:cNvPr id="18" name="Shape 16"/>
          <p:cNvSpPr/>
          <p:nvPr/>
        </p:nvSpPr>
        <p:spPr>
          <a:xfrm>
            <a:off x="10561320" y="1965960"/>
            <a:ext cx="228600" cy="182880"/>
          </a:xfrm>
          <a:prstGeom prst="line">
            <a:avLst/>
          </a:prstGeom>
          <a:noFill/>
          <a:ln w="31750">
            <a:solidFill>
              <a:srgbClr val="4FD1C5"/>
            </a:solidFill>
            <a:prstDash val="solid"/>
          </a:ln>
        </p:spPr>
      </p:sp>
      <p:sp>
        <p:nvSpPr>
          <p:cNvPr id="19" name="Shape 17"/>
          <p:cNvSpPr/>
          <p:nvPr/>
        </p:nvSpPr>
        <p:spPr>
          <a:xfrm>
            <a:off x="10789920" y="2148840"/>
            <a:ext cx="502920" cy="0"/>
          </a:xfrm>
          <a:prstGeom prst="line">
            <a:avLst/>
          </a:prstGeom>
          <a:noFill/>
          <a:ln w="31750">
            <a:solidFill>
              <a:srgbClr val="4FD1C5"/>
            </a:solidFill>
            <a:prstDash val="solid"/>
          </a:ln>
        </p:spPr>
      </p:sp>
      <p:sp>
        <p:nvSpPr>
          <p:cNvPr id="20" name="Text 18"/>
          <p:cNvSpPr txBox="1"/>
          <p:nvPr/>
        </p:nvSpPr>
        <p:spPr>
          <a:xfrm>
            <a:off x="8275320" y="3200400"/>
            <a:ext cx="1051560" cy="731520"/>
          </a:xfrm>
          <a:prstGeom prst="rect">
            <a:avLst/>
          </a:prstGeom>
          <a:noFill/>
          <a:ln/>
        </p:spPr>
        <p:txBody>
          <a:bodyPr wrap="square" lIns="0" tIns="0" rIns="0" bIns="0" rtlCol="0" anchor="ctr"/>
          <a:lstStyle/>
          <a:p>
            <a:pPr marL="0" indent="0">
              <a:buNone/>
            </a:pPr>
            <a:r>
              <a:rPr lang="en-US" sz="3400" b="1" dirty="0">
                <a:solidFill>
                  <a:srgbClr val="4FD1C5"/>
                </a:solidFill>
                <a:latin typeface="Cambria" pitchFamily="34" charset="0"/>
                <a:ea typeface="Cambria" pitchFamily="34" charset="-122"/>
                <a:cs typeface="Cambria" pitchFamily="34" charset="-120"/>
              </a:rPr>
              <a:t>2</a:t>
            </a:r>
            <a:endParaRPr lang="en-US" sz="3400" dirty="0"/>
          </a:p>
        </p:txBody>
      </p:sp>
      <p:sp>
        <p:nvSpPr>
          <p:cNvPr id="21" name="Text 19"/>
          <p:cNvSpPr txBox="1"/>
          <p:nvPr/>
        </p:nvSpPr>
        <p:spPr>
          <a:xfrm>
            <a:off x="9372600" y="3200400"/>
            <a:ext cx="2057400" cy="731520"/>
          </a:xfrm>
          <a:prstGeom prst="rect">
            <a:avLst/>
          </a:prstGeom>
          <a:noFill/>
          <a:ln/>
        </p:spPr>
        <p:txBody>
          <a:bodyPr wrap="square" lIns="0" tIns="0" rIns="0" bIns="0" rtlCol="0" anchor="ctr"/>
          <a:lstStyle/>
          <a:p>
            <a:pPr marL="0" indent="0">
              <a:buNone/>
            </a:pPr>
            <a:r>
              <a:rPr lang="en-US" sz="1250" dirty="0">
                <a:solidFill>
                  <a:srgbClr val="DCE8F2"/>
                </a:solidFill>
                <a:latin typeface="Calibri" pitchFamily="34" charset="0"/>
                <a:ea typeface="Calibri" pitchFamily="34" charset="-122"/>
                <a:cs typeface="Calibri" pitchFamily="34" charset="-120"/>
              </a:rPr>
              <a:t>prediction tasks: diabetes status and 30-day readmission</a:t>
            </a:r>
            <a:endParaRPr lang="en-US" sz="1250" dirty="0"/>
          </a:p>
        </p:txBody>
      </p:sp>
      <p:sp>
        <p:nvSpPr>
          <p:cNvPr id="22" name="Text 20"/>
          <p:cNvSpPr txBox="1"/>
          <p:nvPr/>
        </p:nvSpPr>
        <p:spPr>
          <a:xfrm>
            <a:off x="8275320" y="4133088"/>
            <a:ext cx="1051560" cy="731520"/>
          </a:xfrm>
          <a:prstGeom prst="rect">
            <a:avLst/>
          </a:prstGeom>
          <a:noFill/>
          <a:ln/>
        </p:spPr>
        <p:txBody>
          <a:bodyPr wrap="square" lIns="0" tIns="0" rIns="0" bIns="0" rtlCol="0" anchor="ctr"/>
          <a:lstStyle/>
          <a:p>
            <a:pPr marL="0" indent="0">
              <a:buNone/>
            </a:pPr>
            <a:r>
              <a:rPr lang="en-US" sz="3400" b="1" dirty="0">
                <a:solidFill>
                  <a:srgbClr val="4FD1C5"/>
                </a:solidFill>
                <a:latin typeface="Cambria" pitchFamily="34" charset="0"/>
                <a:ea typeface="Cambria" pitchFamily="34" charset="-122"/>
                <a:cs typeface="Cambria" pitchFamily="34" charset="-120"/>
              </a:rPr>
              <a:t>4</a:t>
            </a:r>
            <a:endParaRPr lang="en-US" sz="3400" dirty="0"/>
          </a:p>
        </p:txBody>
      </p:sp>
      <p:sp>
        <p:nvSpPr>
          <p:cNvPr id="23" name="Text 21"/>
          <p:cNvSpPr txBox="1"/>
          <p:nvPr/>
        </p:nvSpPr>
        <p:spPr>
          <a:xfrm>
            <a:off x="9372600" y="4133088"/>
            <a:ext cx="2057400" cy="731520"/>
          </a:xfrm>
          <a:prstGeom prst="rect">
            <a:avLst/>
          </a:prstGeom>
          <a:noFill/>
          <a:ln/>
        </p:spPr>
        <p:txBody>
          <a:bodyPr wrap="square" lIns="0" tIns="0" rIns="0" bIns="0" rtlCol="0" anchor="ctr"/>
          <a:lstStyle/>
          <a:p>
            <a:pPr marL="0" indent="0">
              <a:buNone/>
            </a:pPr>
            <a:r>
              <a:rPr lang="en-US" sz="1250" dirty="0">
                <a:solidFill>
                  <a:srgbClr val="DCE8F2"/>
                </a:solidFill>
                <a:latin typeface="Calibri" pitchFamily="34" charset="0"/>
                <a:ea typeface="Calibri" pitchFamily="34" charset="-122"/>
                <a:cs typeface="Calibri" pitchFamily="34" charset="-120"/>
              </a:rPr>
              <a:t>models compared: LR, Random Forest, Extra Trees, soft-voting ensemble</a:t>
            </a:r>
            <a:endParaRPr lang="en-US" sz="1250" dirty="0"/>
          </a:p>
        </p:txBody>
      </p:sp>
      <p:sp>
        <p:nvSpPr>
          <p:cNvPr id="24" name="Text 22"/>
          <p:cNvSpPr txBox="1"/>
          <p:nvPr/>
        </p:nvSpPr>
        <p:spPr>
          <a:xfrm>
            <a:off x="8275320" y="5065776"/>
            <a:ext cx="1051560" cy="731520"/>
          </a:xfrm>
          <a:prstGeom prst="rect">
            <a:avLst/>
          </a:prstGeom>
          <a:noFill/>
          <a:ln/>
        </p:spPr>
        <p:txBody>
          <a:bodyPr wrap="square" lIns="0" tIns="0" rIns="0" bIns="0" rtlCol="0" anchor="ctr"/>
          <a:lstStyle/>
          <a:p>
            <a:pPr marL="0" indent="0">
              <a:buNone/>
            </a:pPr>
            <a:r>
              <a:rPr lang="en-US" sz="2200" b="1" dirty="0">
                <a:solidFill>
                  <a:srgbClr val="4FD1C5"/>
                </a:solidFill>
                <a:latin typeface="Cambria" pitchFamily="34" charset="0"/>
                <a:ea typeface="Cambria" pitchFamily="34" charset="-122"/>
                <a:cs typeface="Cambria" pitchFamily="34" charset="-120"/>
              </a:rPr>
              <a:t>SHAP</a:t>
            </a:r>
            <a:endParaRPr lang="en-US" sz="2200" dirty="0"/>
          </a:p>
        </p:txBody>
      </p:sp>
      <p:sp>
        <p:nvSpPr>
          <p:cNvPr id="25" name="Text 23"/>
          <p:cNvSpPr txBox="1"/>
          <p:nvPr/>
        </p:nvSpPr>
        <p:spPr>
          <a:xfrm>
            <a:off x="9372600" y="5065776"/>
            <a:ext cx="2057400" cy="731520"/>
          </a:xfrm>
          <a:prstGeom prst="rect">
            <a:avLst/>
          </a:prstGeom>
          <a:noFill/>
          <a:ln/>
        </p:spPr>
        <p:txBody>
          <a:bodyPr wrap="square" lIns="0" tIns="0" rIns="0" bIns="0" rtlCol="0" anchor="ctr"/>
          <a:lstStyle/>
          <a:p>
            <a:pPr marL="0" indent="0">
              <a:buNone/>
            </a:pPr>
            <a:r>
              <a:rPr lang="en-US" sz="1250" dirty="0">
                <a:solidFill>
                  <a:srgbClr val="DCE8F2"/>
                </a:solidFill>
                <a:latin typeface="Calibri" pitchFamily="34" charset="0"/>
                <a:ea typeface="Calibri" pitchFamily="34" charset="-122"/>
                <a:cs typeface="Calibri" pitchFamily="34" charset="-120"/>
              </a:rPr>
              <a:t>explainability applied to the Random Forest models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Problem Statement and Motivation</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Identifying higher-risk patients earlier, with models whose predictions can be explained</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457200" y="1371600"/>
            <a:ext cx="6309360" cy="1389888"/>
          </a:xfrm>
          <a:prstGeom prst="roundRect">
            <a:avLst>
              <a:gd name="adj" fmla="val 5263"/>
            </a:avLst>
          </a:prstGeom>
          <a:solidFill>
            <a:srgbClr val="FFFFFF"/>
          </a:solidFill>
          <a:ln w="9525">
            <a:solidFill>
              <a:srgbClr val="DCE4EA"/>
            </a:solidFill>
            <a:prstDash val="solid"/>
          </a:ln>
        </p:spPr>
      </p:sp>
      <p:sp>
        <p:nvSpPr>
          <p:cNvPr id="8" name="Shape 5"/>
          <p:cNvSpPr/>
          <p:nvPr/>
        </p:nvSpPr>
        <p:spPr>
          <a:xfrm>
            <a:off x="640080" y="1554480"/>
            <a:ext cx="384048" cy="384048"/>
          </a:xfrm>
          <a:prstGeom prst="ellipse">
            <a:avLst/>
          </a:prstGeom>
          <a:solidFill>
            <a:srgbClr val="0E8C8C"/>
          </a:solidFill>
          <a:ln w="12700">
            <a:solidFill>
              <a:srgbClr val="0E8C8C"/>
            </a:solidFill>
            <a:prstDash val="solid"/>
          </a:ln>
        </p:spPr>
      </p:sp>
      <p:sp>
        <p:nvSpPr>
          <p:cNvPr id="9" name="Text 6"/>
          <p:cNvSpPr txBox="1"/>
          <p:nvPr/>
        </p:nvSpPr>
        <p:spPr>
          <a:xfrm>
            <a:off x="640080" y="15544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188720" y="1508760"/>
            <a:ext cx="5303520" cy="29260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Problem</a:t>
            </a:r>
            <a:endParaRPr lang="en-US" sz="1500" dirty="0"/>
          </a:p>
        </p:txBody>
      </p:sp>
      <p:sp>
        <p:nvSpPr>
          <p:cNvPr id="11" name="Text 8"/>
          <p:cNvSpPr txBox="1"/>
          <p:nvPr/>
        </p:nvSpPr>
        <p:spPr>
          <a:xfrm>
            <a:off x="1188720" y="1847088"/>
            <a:ext cx="5394960" cy="868680"/>
          </a:xfrm>
          <a:prstGeom prst="rect">
            <a:avLst/>
          </a:prstGeom>
          <a:noFill/>
          <a:ln/>
        </p:spPr>
        <p:txBody>
          <a:bodyPr wrap="square" lIns="0" tIns="0" rIns="0" bIns="0" rtlCol="0" anchor="t"/>
          <a:lstStyle/>
          <a:p>
            <a:pPr marL="0" indent="0">
              <a:buNone/>
            </a:pPr>
            <a:r>
              <a:rPr lang="en-US" sz="1250" dirty="0">
                <a:solidFill>
                  <a:srgbClr val="1F2D3A"/>
                </a:solidFill>
                <a:latin typeface="Calibri" pitchFamily="34" charset="0"/>
                <a:ea typeface="Calibri" pitchFamily="34" charset="-122"/>
                <a:cs typeface="Calibri" pitchFamily="34" charset="-120"/>
              </a:rPr>
              <a:t>Clinicians and health systems need to identify patients at higher risk of diabetes or of early hospital readmission before problems escalate. Both outcomes are rare relative to the whole population, which makes them hard to predict.</a:t>
            </a:r>
            <a:endParaRPr lang="en-US" sz="1250" dirty="0"/>
          </a:p>
        </p:txBody>
      </p:sp>
      <p:sp>
        <p:nvSpPr>
          <p:cNvPr id="12" name="Shape 9"/>
          <p:cNvSpPr/>
          <p:nvPr/>
        </p:nvSpPr>
        <p:spPr>
          <a:xfrm>
            <a:off x="457200" y="2880360"/>
            <a:ext cx="6309360" cy="1389888"/>
          </a:xfrm>
          <a:prstGeom prst="roundRect">
            <a:avLst>
              <a:gd name="adj" fmla="val 5263"/>
            </a:avLst>
          </a:prstGeom>
          <a:solidFill>
            <a:srgbClr val="FFFFFF"/>
          </a:solidFill>
          <a:ln w="9525">
            <a:solidFill>
              <a:srgbClr val="DCE4EA"/>
            </a:solidFill>
            <a:prstDash val="solid"/>
          </a:ln>
        </p:spPr>
      </p:sp>
      <p:sp>
        <p:nvSpPr>
          <p:cNvPr id="13" name="Shape 10"/>
          <p:cNvSpPr/>
          <p:nvPr/>
        </p:nvSpPr>
        <p:spPr>
          <a:xfrm>
            <a:off x="640080" y="3063240"/>
            <a:ext cx="384048" cy="384048"/>
          </a:xfrm>
          <a:prstGeom prst="ellipse">
            <a:avLst/>
          </a:prstGeom>
          <a:solidFill>
            <a:srgbClr val="0E8C8C"/>
          </a:solidFill>
          <a:ln w="12700">
            <a:solidFill>
              <a:srgbClr val="0E8C8C"/>
            </a:solidFill>
            <a:prstDash val="solid"/>
          </a:ln>
        </p:spPr>
      </p:sp>
      <p:sp>
        <p:nvSpPr>
          <p:cNvPr id="14" name="Text 11"/>
          <p:cNvSpPr txBox="1"/>
          <p:nvPr/>
        </p:nvSpPr>
        <p:spPr>
          <a:xfrm>
            <a:off x="640080" y="30632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1188720" y="3017520"/>
            <a:ext cx="5303520" cy="29260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Why early prediction matters</a:t>
            </a:r>
            <a:endParaRPr lang="en-US" sz="1500" dirty="0"/>
          </a:p>
        </p:txBody>
      </p:sp>
      <p:sp>
        <p:nvSpPr>
          <p:cNvPr id="16" name="Text 13"/>
          <p:cNvSpPr txBox="1"/>
          <p:nvPr/>
        </p:nvSpPr>
        <p:spPr>
          <a:xfrm>
            <a:off x="1188720" y="3355848"/>
            <a:ext cx="5394960" cy="868680"/>
          </a:xfrm>
          <a:prstGeom prst="rect">
            <a:avLst/>
          </a:prstGeom>
          <a:noFill/>
          <a:ln/>
        </p:spPr>
        <p:txBody>
          <a:bodyPr wrap="square" lIns="0" tIns="0" rIns="0" bIns="0" rtlCol="0" anchor="t"/>
          <a:lstStyle/>
          <a:p>
            <a:pPr marL="0" indent="0">
              <a:buNone/>
            </a:pPr>
            <a:r>
              <a:rPr lang="en-US" sz="1250" dirty="0">
                <a:solidFill>
                  <a:srgbClr val="1F2D3A"/>
                </a:solidFill>
                <a:latin typeface="Calibri" pitchFamily="34" charset="0"/>
                <a:ea typeface="Calibri" pitchFamily="34" charset="-122"/>
                <a:cs typeface="Calibri" pitchFamily="34" charset="-120"/>
              </a:rPr>
              <a:t>Earlier identification can prioritise screening, follow-up and discharge planning for the people who need it most. Late identification means missed opportunities for lifestyle advice, treatment and care coordination.</a:t>
            </a:r>
            <a:endParaRPr lang="en-US" sz="1250" dirty="0"/>
          </a:p>
        </p:txBody>
      </p:sp>
      <p:sp>
        <p:nvSpPr>
          <p:cNvPr id="17" name="Shape 14"/>
          <p:cNvSpPr/>
          <p:nvPr/>
        </p:nvSpPr>
        <p:spPr>
          <a:xfrm>
            <a:off x="457200" y="4389120"/>
            <a:ext cx="6309360" cy="1389888"/>
          </a:xfrm>
          <a:prstGeom prst="roundRect">
            <a:avLst>
              <a:gd name="adj" fmla="val 5263"/>
            </a:avLst>
          </a:prstGeom>
          <a:solidFill>
            <a:srgbClr val="FFFFFF"/>
          </a:solidFill>
          <a:ln w="9525">
            <a:solidFill>
              <a:srgbClr val="DCE4EA"/>
            </a:solidFill>
            <a:prstDash val="solid"/>
          </a:ln>
        </p:spPr>
      </p:sp>
      <p:sp>
        <p:nvSpPr>
          <p:cNvPr id="18" name="Shape 15"/>
          <p:cNvSpPr/>
          <p:nvPr/>
        </p:nvSpPr>
        <p:spPr>
          <a:xfrm>
            <a:off x="640080" y="4572000"/>
            <a:ext cx="384048" cy="384048"/>
          </a:xfrm>
          <a:prstGeom prst="ellipse">
            <a:avLst/>
          </a:prstGeom>
          <a:solidFill>
            <a:srgbClr val="0E8C8C"/>
          </a:solidFill>
          <a:ln w="12700">
            <a:solidFill>
              <a:srgbClr val="0E8C8C"/>
            </a:solidFill>
            <a:prstDash val="solid"/>
          </a:ln>
        </p:spPr>
      </p:sp>
      <p:sp>
        <p:nvSpPr>
          <p:cNvPr id="19" name="Text 16"/>
          <p:cNvSpPr txBox="1"/>
          <p:nvPr/>
        </p:nvSpPr>
        <p:spPr>
          <a:xfrm>
            <a:off x="640080" y="45720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188720" y="4526280"/>
            <a:ext cx="5303520" cy="29260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Why machine learning</a:t>
            </a:r>
            <a:endParaRPr lang="en-US" sz="1500" dirty="0"/>
          </a:p>
        </p:txBody>
      </p:sp>
      <p:sp>
        <p:nvSpPr>
          <p:cNvPr id="21" name="Text 18"/>
          <p:cNvSpPr txBox="1"/>
          <p:nvPr/>
        </p:nvSpPr>
        <p:spPr>
          <a:xfrm>
            <a:off x="1188720" y="4864608"/>
            <a:ext cx="5394960" cy="868680"/>
          </a:xfrm>
          <a:prstGeom prst="rect">
            <a:avLst/>
          </a:prstGeom>
          <a:noFill/>
          <a:ln/>
        </p:spPr>
        <p:txBody>
          <a:bodyPr wrap="square" lIns="0" tIns="0" rIns="0" bIns="0" rtlCol="0" anchor="t"/>
          <a:lstStyle/>
          <a:p>
            <a:pPr marL="0" indent="0">
              <a:buNone/>
            </a:pPr>
            <a:r>
              <a:rPr lang="en-US" sz="1250" dirty="0">
                <a:solidFill>
                  <a:srgbClr val="1F2D3A"/>
                </a:solidFill>
                <a:latin typeface="Calibri" pitchFamily="34" charset="0"/>
                <a:ea typeface="Calibri" pitchFamily="34" charset="-122"/>
                <a:cs typeface="Calibri" pitchFamily="34" charset="-120"/>
              </a:rPr>
              <a:t>Patient records contain many interacting variables. Models can learn these patterns, and ensemble methods combine several learners. Explainability (SHAP) shows which factors drive a prediction, which is essential in healthcare.</a:t>
            </a:r>
            <a:endParaRPr lang="en-US" sz="1250" dirty="0"/>
          </a:p>
        </p:txBody>
      </p:sp>
      <p:sp>
        <p:nvSpPr>
          <p:cNvPr id="22" name="Shape 19"/>
          <p:cNvSpPr/>
          <p:nvPr/>
        </p:nvSpPr>
        <p:spPr>
          <a:xfrm>
            <a:off x="6995160" y="1371600"/>
            <a:ext cx="4739335" cy="2194560"/>
          </a:xfrm>
          <a:prstGeom prst="roundRect">
            <a:avLst>
              <a:gd name="adj" fmla="val 3333"/>
            </a:avLst>
          </a:prstGeom>
          <a:solidFill>
            <a:srgbClr val="0B2545"/>
          </a:solidFill>
          <a:ln w="9525">
            <a:solidFill>
              <a:srgbClr val="0B2545"/>
            </a:solidFill>
            <a:prstDash val="solid"/>
          </a:ln>
        </p:spPr>
      </p:sp>
      <p:sp>
        <p:nvSpPr>
          <p:cNvPr id="23" name="Text 20"/>
          <p:cNvSpPr txBox="1"/>
          <p:nvPr/>
        </p:nvSpPr>
        <p:spPr>
          <a:xfrm>
            <a:off x="7223760" y="1508760"/>
            <a:ext cx="1828800" cy="274320"/>
          </a:xfrm>
          <a:prstGeom prst="rect">
            <a:avLst/>
          </a:prstGeom>
          <a:noFill/>
          <a:ln/>
        </p:spPr>
        <p:txBody>
          <a:bodyPr wrap="square" lIns="0" tIns="0" rIns="0" bIns="0" rtlCol="0" anchor="ctr"/>
          <a:lstStyle/>
          <a:p>
            <a:pPr marL="0" indent="0">
              <a:buNone/>
            </a:pPr>
            <a:r>
              <a:rPr lang="en-US" sz="1200" b="1" dirty="0">
                <a:solidFill>
                  <a:srgbClr val="7FD1D1"/>
                </a:solidFill>
                <a:latin typeface="Calibri" pitchFamily="34" charset="0"/>
                <a:ea typeface="Calibri" pitchFamily="34" charset="-122"/>
                <a:cs typeface="Calibri" pitchFamily="34" charset="-120"/>
              </a:rPr>
              <a:t>TASK A</a:t>
            </a:r>
            <a:endParaRPr lang="en-US" sz="1200" dirty="0"/>
          </a:p>
        </p:txBody>
      </p:sp>
      <p:sp>
        <p:nvSpPr>
          <p:cNvPr id="24" name="Text 21"/>
          <p:cNvSpPr txBox="1"/>
          <p:nvPr/>
        </p:nvSpPr>
        <p:spPr>
          <a:xfrm>
            <a:off x="7223760" y="1783080"/>
            <a:ext cx="4282135" cy="36576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Diabetes status</a:t>
            </a:r>
            <a:endParaRPr lang="en-US" sz="2000" dirty="0"/>
          </a:p>
        </p:txBody>
      </p:sp>
      <p:sp>
        <p:nvSpPr>
          <p:cNvPr id="25" name="Text 22"/>
          <p:cNvSpPr txBox="1"/>
          <p:nvPr/>
        </p:nvSpPr>
        <p:spPr>
          <a:xfrm>
            <a:off x="7223760" y="2194560"/>
            <a:ext cx="4282135" cy="731520"/>
          </a:xfrm>
          <a:prstGeom prst="rect">
            <a:avLst/>
          </a:prstGeom>
          <a:noFill/>
          <a:ln/>
        </p:spPr>
        <p:txBody>
          <a:bodyPr wrap="square" lIns="0" tIns="0" rIns="0" bIns="0" rtlCol="0" anchor="t"/>
          <a:lstStyle/>
          <a:p>
            <a:pPr marL="0" indent="0">
              <a:buNone/>
            </a:pPr>
            <a:r>
              <a:rPr lang="en-US" sz="1250" dirty="0">
                <a:solidFill>
                  <a:srgbClr val="DCE8F2"/>
                </a:solidFill>
                <a:latin typeface="Calibri" pitchFamily="34" charset="0"/>
                <a:ea typeface="Calibri" pitchFamily="34" charset="-122"/>
                <a:cs typeface="Calibri" pitchFamily="34" charset="-120"/>
              </a:rPr>
              <a:t>Predict no diabetes, prediabetes or diabetes from 21 health indicators of 253,680 survey respondents (3 classes).</a:t>
            </a:r>
            <a:endParaRPr lang="en-US" sz="1250" dirty="0"/>
          </a:p>
        </p:txBody>
      </p:sp>
      <p:sp>
        <p:nvSpPr>
          <p:cNvPr id="26" name="Text 23"/>
          <p:cNvSpPr txBox="1"/>
          <p:nvPr/>
        </p:nvSpPr>
        <p:spPr>
          <a:xfrm>
            <a:off x="7223760" y="3017520"/>
            <a:ext cx="4282135" cy="365760"/>
          </a:xfrm>
          <a:prstGeom prst="rect">
            <a:avLst/>
          </a:prstGeom>
          <a:noFill/>
          <a:ln/>
        </p:spPr>
        <p:txBody>
          <a:bodyPr wrap="square" lIns="0" tIns="0" rIns="0" bIns="0" rtlCol="0" anchor="ctr"/>
          <a:lstStyle/>
          <a:p>
            <a:pPr marL="0" indent="0">
              <a:buNone/>
            </a:pPr>
            <a:r>
              <a:rPr lang="en-US" sz="1250" b="1" dirty="0">
                <a:solidFill>
                  <a:srgbClr val="4FD1C5"/>
                </a:solidFill>
                <a:latin typeface="Calibri" pitchFamily="34" charset="0"/>
                <a:ea typeface="Calibri" pitchFamily="34" charset="-122"/>
                <a:cs typeface="Calibri" pitchFamily="34" charset="-120"/>
              </a:rPr>
              <a:t>Prediabetes is only 2.0% of records</a:t>
            </a:r>
            <a:endParaRPr lang="en-US" sz="1250" dirty="0"/>
          </a:p>
        </p:txBody>
      </p:sp>
      <p:sp>
        <p:nvSpPr>
          <p:cNvPr id="27" name="Shape 24"/>
          <p:cNvSpPr/>
          <p:nvPr/>
        </p:nvSpPr>
        <p:spPr>
          <a:xfrm>
            <a:off x="6995160" y="3703320"/>
            <a:ext cx="4739335" cy="2194560"/>
          </a:xfrm>
          <a:prstGeom prst="roundRect">
            <a:avLst>
              <a:gd name="adj" fmla="val 3333"/>
            </a:avLst>
          </a:prstGeom>
          <a:solidFill>
            <a:srgbClr val="FFFFFF"/>
          </a:solidFill>
          <a:ln w="9525">
            <a:solidFill>
              <a:srgbClr val="DCE4EA"/>
            </a:solidFill>
            <a:prstDash val="solid"/>
          </a:ln>
        </p:spPr>
      </p:sp>
      <p:sp>
        <p:nvSpPr>
          <p:cNvPr id="28" name="Text 25"/>
          <p:cNvSpPr txBox="1"/>
          <p:nvPr/>
        </p:nvSpPr>
        <p:spPr>
          <a:xfrm>
            <a:off x="7223760" y="3840480"/>
            <a:ext cx="1828800" cy="274320"/>
          </a:xfrm>
          <a:prstGeom prst="rect">
            <a:avLst/>
          </a:prstGeom>
          <a:noFill/>
          <a:ln/>
        </p:spPr>
        <p:txBody>
          <a:bodyPr wrap="square" lIns="0" tIns="0" rIns="0" bIns="0" rtlCol="0" anchor="ctr"/>
          <a:lstStyle/>
          <a:p>
            <a:pPr marL="0" indent="0">
              <a:buNone/>
            </a:pPr>
            <a:r>
              <a:rPr lang="en-US" sz="1200" b="1" dirty="0">
                <a:solidFill>
                  <a:srgbClr val="0E8C8C"/>
                </a:solidFill>
                <a:latin typeface="Calibri" pitchFamily="34" charset="0"/>
                <a:ea typeface="Calibri" pitchFamily="34" charset="-122"/>
                <a:cs typeface="Calibri" pitchFamily="34" charset="-120"/>
              </a:rPr>
              <a:t>TASK B</a:t>
            </a:r>
            <a:endParaRPr lang="en-US" sz="1200" dirty="0"/>
          </a:p>
        </p:txBody>
      </p:sp>
      <p:sp>
        <p:nvSpPr>
          <p:cNvPr id="29" name="Text 26"/>
          <p:cNvSpPr txBox="1"/>
          <p:nvPr/>
        </p:nvSpPr>
        <p:spPr>
          <a:xfrm>
            <a:off x="7223760" y="4114800"/>
            <a:ext cx="4282135" cy="365760"/>
          </a:xfrm>
          <a:prstGeom prst="rect">
            <a:avLst/>
          </a:prstGeom>
          <a:noFill/>
          <a:ln/>
        </p:spPr>
        <p:txBody>
          <a:bodyPr wrap="square" lIns="0" tIns="0" rIns="0" bIns="0" rtlCol="0" anchor="ctr"/>
          <a:lstStyle/>
          <a:p>
            <a:pPr marL="0" indent="0">
              <a:buNone/>
            </a:pPr>
            <a:r>
              <a:rPr lang="en-US" sz="2000" b="1" dirty="0">
                <a:solidFill>
                  <a:srgbClr val="0B2545"/>
                </a:solidFill>
                <a:latin typeface="Cambria" pitchFamily="34" charset="0"/>
                <a:ea typeface="Cambria" pitchFamily="34" charset="-122"/>
                <a:cs typeface="Cambria" pitchFamily="34" charset="-120"/>
              </a:rPr>
              <a:t>30-day readmission</a:t>
            </a:r>
            <a:endParaRPr lang="en-US" sz="2000" dirty="0"/>
          </a:p>
        </p:txBody>
      </p:sp>
      <p:sp>
        <p:nvSpPr>
          <p:cNvPr id="30" name="Text 27"/>
          <p:cNvSpPr txBox="1"/>
          <p:nvPr/>
        </p:nvSpPr>
        <p:spPr>
          <a:xfrm>
            <a:off x="7223760" y="4526280"/>
            <a:ext cx="4282135" cy="731520"/>
          </a:xfrm>
          <a:prstGeom prst="rect">
            <a:avLst/>
          </a:prstGeom>
          <a:noFill/>
          <a:ln/>
        </p:spPr>
        <p:txBody>
          <a:bodyPr wrap="square" lIns="0" tIns="0" rIns="0" bIns="0" rtlCol="0" anchor="t"/>
          <a:lstStyle/>
          <a:p>
            <a:pPr marL="0" indent="0">
              <a:buNone/>
            </a:pPr>
            <a:r>
              <a:rPr lang="en-US" sz="1250" dirty="0">
                <a:solidFill>
                  <a:srgbClr val="1F2D3A"/>
                </a:solidFill>
                <a:latin typeface="Calibri" pitchFamily="34" charset="0"/>
                <a:ea typeface="Calibri" pitchFamily="34" charset="-122"/>
                <a:cs typeface="Calibri" pitchFamily="34" charset="-120"/>
              </a:rPr>
              <a:t>Predict early readmission (within 30 days) from 47 admission, clinical and medication features of 101,766 hospital encounters (binary).</a:t>
            </a:r>
            <a:endParaRPr lang="en-US" sz="1250" dirty="0"/>
          </a:p>
        </p:txBody>
      </p:sp>
      <p:sp>
        <p:nvSpPr>
          <p:cNvPr id="31" name="Text 28"/>
          <p:cNvSpPr txBox="1"/>
          <p:nvPr/>
        </p:nvSpPr>
        <p:spPr>
          <a:xfrm>
            <a:off x="7223760" y="5349240"/>
            <a:ext cx="4282135" cy="365760"/>
          </a:xfrm>
          <a:prstGeom prst="rect">
            <a:avLst/>
          </a:prstGeom>
          <a:noFill/>
          <a:ln/>
        </p:spPr>
        <p:txBody>
          <a:bodyPr wrap="square" lIns="0" tIns="0" rIns="0" bIns="0" rtlCol="0" anchor="ctr"/>
          <a:lstStyle/>
          <a:p>
            <a:pPr marL="0" indent="0">
              <a:buNone/>
            </a:pPr>
            <a:r>
              <a:rPr lang="en-US" sz="1250" b="1" dirty="0">
                <a:solidFill>
                  <a:srgbClr val="0E8C8C"/>
                </a:solidFill>
                <a:latin typeface="Calibri" pitchFamily="34" charset="0"/>
                <a:ea typeface="Calibri" pitchFamily="34" charset="-122"/>
                <a:cs typeface="Calibri" pitchFamily="34" charset="-120"/>
              </a:rPr>
              <a:t>Early readmission is 11.2% of encounters</a:t>
            </a:r>
            <a:endParaRPr lang="en-US" sz="1250" dirty="0"/>
          </a:p>
        </p:txBody>
      </p:sp>
      <p:sp>
        <p:nvSpPr>
          <p:cNvPr id="32" name="Text 29"/>
          <p:cNvSpPr txBox="1"/>
          <p:nvPr/>
        </p:nvSpPr>
        <p:spPr>
          <a:xfrm>
            <a:off x="457200" y="5989320"/>
            <a:ext cx="6309360" cy="320040"/>
          </a:xfrm>
          <a:prstGeom prst="rect">
            <a:avLst/>
          </a:prstGeom>
          <a:noFill/>
          <a:ln/>
        </p:spPr>
        <p:txBody>
          <a:bodyPr wrap="square" lIns="0" tIns="0" rIns="0" bIns="0" rtlCol="0" anchor="ctr"/>
          <a:lstStyle/>
          <a:p>
            <a:pPr marL="0" indent="0">
              <a:buNone/>
            </a:pP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Project Objectives and Scope</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What was implemented, and what is proposed for future work</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3</a:t>
            </a:r>
            <a:endParaRPr lang="en-US" sz="1000" dirty="0"/>
          </a:p>
        </p:txBody>
      </p:sp>
      <p:sp>
        <p:nvSpPr>
          <p:cNvPr id="7" name="Text 4"/>
          <p:cNvSpPr txBox="1"/>
          <p:nvPr/>
        </p:nvSpPr>
        <p:spPr>
          <a:xfrm>
            <a:off x="457200" y="1325880"/>
            <a:ext cx="6766560" cy="292608"/>
          </a:xfrm>
          <a:prstGeom prst="rect">
            <a:avLst/>
          </a:prstGeom>
          <a:noFill/>
          <a:ln/>
        </p:spPr>
        <p:txBody>
          <a:bodyPr wrap="square" lIns="0" tIns="0" rIns="0" bIns="0" rtlCol="0" anchor="ctr"/>
          <a:lstStyle/>
          <a:p>
            <a:pPr marL="0" indent="0">
              <a:buNone/>
            </a:pPr>
            <a:r>
              <a:rPr lang="en-US" sz="1500" b="1" dirty="0">
                <a:solidFill>
                  <a:srgbClr val="0E8C8C"/>
                </a:solidFill>
                <a:latin typeface="Calibri" pitchFamily="34" charset="0"/>
                <a:ea typeface="Calibri" pitchFamily="34" charset="-122"/>
                <a:cs typeface="Calibri" pitchFamily="34" charset="-120"/>
              </a:rPr>
              <a:t>Implemented objectives</a:t>
            </a:r>
            <a:endParaRPr lang="en-US" sz="1500" dirty="0"/>
          </a:p>
        </p:txBody>
      </p:sp>
      <p:sp>
        <p:nvSpPr>
          <p:cNvPr id="8" name="Shape 5"/>
          <p:cNvSpPr/>
          <p:nvPr/>
        </p:nvSpPr>
        <p:spPr>
          <a:xfrm>
            <a:off x="457200" y="1691640"/>
            <a:ext cx="6949440" cy="822960"/>
          </a:xfrm>
          <a:prstGeom prst="roundRect">
            <a:avLst>
              <a:gd name="adj" fmla="val 8889"/>
            </a:avLst>
          </a:prstGeom>
          <a:solidFill>
            <a:srgbClr val="FFFFFF"/>
          </a:solidFill>
          <a:ln w="9525">
            <a:solidFill>
              <a:srgbClr val="DCE4EA"/>
            </a:solidFill>
            <a:prstDash val="solid"/>
          </a:ln>
        </p:spPr>
      </p:sp>
      <p:sp>
        <p:nvSpPr>
          <p:cNvPr id="9" name="Shape 6"/>
          <p:cNvSpPr/>
          <p:nvPr/>
        </p:nvSpPr>
        <p:spPr>
          <a:xfrm>
            <a:off x="621792" y="1911096"/>
            <a:ext cx="384048" cy="384048"/>
          </a:xfrm>
          <a:prstGeom prst="ellipse">
            <a:avLst/>
          </a:prstGeom>
          <a:solidFill>
            <a:srgbClr val="0E8C8C"/>
          </a:solidFill>
          <a:ln w="12700">
            <a:solidFill>
              <a:srgbClr val="0E8C8C"/>
            </a:solidFill>
            <a:prstDash val="solid"/>
          </a:ln>
        </p:spPr>
      </p:sp>
      <p:sp>
        <p:nvSpPr>
          <p:cNvPr id="10" name="Text 7"/>
          <p:cNvSpPr txBox="1"/>
          <p:nvPr/>
        </p:nvSpPr>
        <p:spPr>
          <a:xfrm>
            <a:off x="621792" y="19110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txBox="1"/>
          <p:nvPr/>
        </p:nvSpPr>
        <p:spPr>
          <a:xfrm>
            <a:off x="1170432" y="1746504"/>
            <a:ext cx="612648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Predict diabetes status</a:t>
            </a:r>
            <a:endParaRPr lang="en-US" sz="1400" dirty="0"/>
          </a:p>
        </p:txBody>
      </p:sp>
      <p:sp>
        <p:nvSpPr>
          <p:cNvPr id="12" name="Text 9"/>
          <p:cNvSpPr txBox="1"/>
          <p:nvPr/>
        </p:nvSpPr>
        <p:spPr>
          <a:xfrm>
            <a:off x="1170432" y="2039112"/>
            <a:ext cx="6126480" cy="4572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Classify respondents as no diabetes, prediabetes or diabetes from 21 survey-based health indicators.</a:t>
            </a:r>
            <a:endParaRPr lang="en-US" sz="1200" dirty="0"/>
          </a:p>
        </p:txBody>
      </p:sp>
      <p:sp>
        <p:nvSpPr>
          <p:cNvPr id="13" name="Shape 10"/>
          <p:cNvSpPr/>
          <p:nvPr/>
        </p:nvSpPr>
        <p:spPr>
          <a:xfrm>
            <a:off x="457200" y="2606040"/>
            <a:ext cx="6949440" cy="822960"/>
          </a:xfrm>
          <a:prstGeom prst="roundRect">
            <a:avLst>
              <a:gd name="adj" fmla="val 8889"/>
            </a:avLst>
          </a:prstGeom>
          <a:solidFill>
            <a:srgbClr val="FFFFFF"/>
          </a:solidFill>
          <a:ln w="9525">
            <a:solidFill>
              <a:srgbClr val="DCE4EA"/>
            </a:solidFill>
            <a:prstDash val="solid"/>
          </a:ln>
        </p:spPr>
      </p:sp>
      <p:sp>
        <p:nvSpPr>
          <p:cNvPr id="14" name="Shape 11"/>
          <p:cNvSpPr/>
          <p:nvPr/>
        </p:nvSpPr>
        <p:spPr>
          <a:xfrm>
            <a:off x="621792" y="2825496"/>
            <a:ext cx="384048" cy="384048"/>
          </a:xfrm>
          <a:prstGeom prst="ellipse">
            <a:avLst/>
          </a:prstGeom>
          <a:solidFill>
            <a:srgbClr val="0E8C8C"/>
          </a:solidFill>
          <a:ln w="12700">
            <a:solidFill>
              <a:srgbClr val="0E8C8C"/>
            </a:solidFill>
            <a:prstDash val="solid"/>
          </a:ln>
        </p:spPr>
      </p:sp>
      <p:sp>
        <p:nvSpPr>
          <p:cNvPr id="15" name="Text 12"/>
          <p:cNvSpPr txBox="1"/>
          <p:nvPr/>
        </p:nvSpPr>
        <p:spPr>
          <a:xfrm>
            <a:off x="621792" y="28254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1170432" y="2660904"/>
            <a:ext cx="612648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Predict 30-day readmission</a:t>
            </a:r>
            <a:endParaRPr lang="en-US" sz="1400" dirty="0"/>
          </a:p>
        </p:txBody>
      </p:sp>
      <p:sp>
        <p:nvSpPr>
          <p:cNvPr id="17" name="Text 14"/>
          <p:cNvSpPr txBox="1"/>
          <p:nvPr/>
        </p:nvSpPr>
        <p:spPr>
          <a:xfrm>
            <a:off x="1170432" y="2953512"/>
            <a:ext cx="6126480" cy="4572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Predict whether a hospital encounter is followed by readmission within 30 days, using 47 predictors.</a:t>
            </a:r>
            <a:endParaRPr lang="en-US" sz="1200" dirty="0"/>
          </a:p>
        </p:txBody>
      </p:sp>
      <p:sp>
        <p:nvSpPr>
          <p:cNvPr id="18" name="Shape 15"/>
          <p:cNvSpPr/>
          <p:nvPr/>
        </p:nvSpPr>
        <p:spPr>
          <a:xfrm>
            <a:off x="457200" y="3520440"/>
            <a:ext cx="6949440" cy="822960"/>
          </a:xfrm>
          <a:prstGeom prst="roundRect">
            <a:avLst>
              <a:gd name="adj" fmla="val 8889"/>
            </a:avLst>
          </a:prstGeom>
          <a:solidFill>
            <a:srgbClr val="FFFFFF"/>
          </a:solidFill>
          <a:ln w="9525">
            <a:solidFill>
              <a:srgbClr val="DCE4EA"/>
            </a:solidFill>
            <a:prstDash val="solid"/>
          </a:ln>
        </p:spPr>
      </p:sp>
      <p:sp>
        <p:nvSpPr>
          <p:cNvPr id="19" name="Shape 16"/>
          <p:cNvSpPr/>
          <p:nvPr/>
        </p:nvSpPr>
        <p:spPr>
          <a:xfrm>
            <a:off x="621792" y="3739896"/>
            <a:ext cx="384048" cy="384048"/>
          </a:xfrm>
          <a:prstGeom prst="ellipse">
            <a:avLst/>
          </a:prstGeom>
          <a:solidFill>
            <a:srgbClr val="0E8C8C"/>
          </a:solidFill>
          <a:ln w="12700">
            <a:solidFill>
              <a:srgbClr val="0E8C8C"/>
            </a:solidFill>
            <a:prstDash val="solid"/>
          </a:ln>
        </p:spPr>
      </p:sp>
      <p:sp>
        <p:nvSpPr>
          <p:cNvPr id="20" name="Text 17"/>
          <p:cNvSpPr txBox="1"/>
          <p:nvPr/>
        </p:nvSpPr>
        <p:spPr>
          <a:xfrm>
            <a:off x="621792" y="37398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8"/>
          <p:cNvSpPr txBox="1"/>
          <p:nvPr/>
        </p:nvSpPr>
        <p:spPr>
          <a:xfrm>
            <a:off x="1170432" y="3575304"/>
            <a:ext cx="612648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Compare models fairly</a:t>
            </a:r>
            <a:endParaRPr lang="en-US" sz="1400" dirty="0"/>
          </a:p>
        </p:txBody>
      </p:sp>
      <p:sp>
        <p:nvSpPr>
          <p:cNvPr id="22" name="Text 19"/>
          <p:cNvSpPr txBox="1"/>
          <p:nvPr/>
        </p:nvSpPr>
        <p:spPr>
          <a:xfrm>
            <a:off x="1170432" y="3867912"/>
            <a:ext cx="6126480" cy="4572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Logistic Regression, Random Forest, Extra Trees and a soft-voting ensemble, trained and tested on identical splits.</a:t>
            </a:r>
            <a:endParaRPr lang="en-US" sz="1200" dirty="0"/>
          </a:p>
        </p:txBody>
      </p:sp>
      <p:sp>
        <p:nvSpPr>
          <p:cNvPr id="23" name="Shape 20"/>
          <p:cNvSpPr/>
          <p:nvPr/>
        </p:nvSpPr>
        <p:spPr>
          <a:xfrm>
            <a:off x="457200" y="4434840"/>
            <a:ext cx="6949440" cy="822960"/>
          </a:xfrm>
          <a:prstGeom prst="roundRect">
            <a:avLst>
              <a:gd name="adj" fmla="val 8889"/>
            </a:avLst>
          </a:prstGeom>
          <a:solidFill>
            <a:srgbClr val="FFFFFF"/>
          </a:solidFill>
          <a:ln w="9525">
            <a:solidFill>
              <a:srgbClr val="DCE4EA"/>
            </a:solidFill>
            <a:prstDash val="solid"/>
          </a:ln>
        </p:spPr>
      </p:sp>
      <p:sp>
        <p:nvSpPr>
          <p:cNvPr id="24" name="Shape 21"/>
          <p:cNvSpPr/>
          <p:nvPr/>
        </p:nvSpPr>
        <p:spPr>
          <a:xfrm>
            <a:off x="621792" y="4654296"/>
            <a:ext cx="384048" cy="384048"/>
          </a:xfrm>
          <a:prstGeom prst="ellipse">
            <a:avLst/>
          </a:prstGeom>
          <a:solidFill>
            <a:srgbClr val="0E8C8C"/>
          </a:solidFill>
          <a:ln w="12700">
            <a:solidFill>
              <a:srgbClr val="0E8C8C"/>
            </a:solidFill>
            <a:prstDash val="solid"/>
          </a:ln>
        </p:spPr>
      </p:sp>
      <p:sp>
        <p:nvSpPr>
          <p:cNvPr id="25" name="Text 22"/>
          <p:cNvSpPr txBox="1"/>
          <p:nvPr/>
        </p:nvSpPr>
        <p:spPr>
          <a:xfrm>
            <a:off x="621792" y="46542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3"/>
          <p:cNvSpPr txBox="1"/>
          <p:nvPr/>
        </p:nvSpPr>
        <p:spPr>
          <a:xfrm>
            <a:off x="1170432" y="4489704"/>
            <a:ext cx="612648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Handle class imbalance</a:t>
            </a:r>
            <a:endParaRPr lang="en-US" sz="1400" dirty="0"/>
          </a:p>
        </p:txBody>
      </p:sp>
      <p:sp>
        <p:nvSpPr>
          <p:cNvPr id="27" name="Text 24"/>
          <p:cNvSpPr txBox="1"/>
          <p:nvPr/>
        </p:nvSpPr>
        <p:spPr>
          <a:xfrm>
            <a:off x="1170432" y="4782312"/>
            <a:ext cx="6126480" cy="4572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Class weights, macro-averaged metrics, and a decision threshold selected on a validation set.</a:t>
            </a:r>
            <a:endParaRPr lang="en-US" sz="1200" dirty="0"/>
          </a:p>
        </p:txBody>
      </p:sp>
      <p:sp>
        <p:nvSpPr>
          <p:cNvPr id="28" name="Shape 25"/>
          <p:cNvSpPr/>
          <p:nvPr/>
        </p:nvSpPr>
        <p:spPr>
          <a:xfrm>
            <a:off x="457200" y="5349240"/>
            <a:ext cx="6949440" cy="822960"/>
          </a:xfrm>
          <a:prstGeom prst="roundRect">
            <a:avLst>
              <a:gd name="adj" fmla="val 8889"/>
            </a:avLst>
          </a:prstGeom>
          <a:solidFill>
            <a:srgbClr val="FFFFFF"/>
          </a:solidFill>
          <a:ln w="9525">
            <a:solidFill>
              <a:srgbClr val="DCE4EA"/>
            </a:solidFill>
            <a:prstDash val="solid"/>
          </a:ln>
        </p:spPr>
      </p:sp>
      <p:sp>
        <p:nvSpPr>
          <p:cNvPr id="29" name="Shape 26"/>
          <p:cNvSpPr/>
          <p:nvPr/>
        </p:nvSpPr>
        <p:spPr>
          <a:xfrm>
            <a:off x="621792" y="5568696"/>
            <a:ext cx="384048" cy="384048"/>
          </a:xfrm>
          <a:prstGeom prst="ellipse">
            <a:avLst/>
          </a:prstGeom>
          <a:solidFill>
            <a:srgbClr val="0E8C8C"/>
          </a:solidFill>
          <a:ln w="12700">
            <a:solidFill>
              <a:srgbClr val="0E8C8C"/>
            </a:solidFill>
            <a:prstDash val="solid"/>
          </a:ln>
        </p:spPr>
      </p:sp>
      <p:sp>
        <p:nvSpPr>
          <p:cNvPr id="30" name="Text 27"/>
          <p:cNvSpPr txBox="1"/>
          <p:nvPr/>
        </p:nvSpPr>
        <p:spPr>
          <a:xfrm>
            <a:off x="621792" y="55686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8"/>
          <p:cNvSpPr txBox="1"/>
          <p:nvPr/>
        </p:nvSpPr>
        <p:spPr>
          <a:xfrm>
            <a:off x="1170432" y="5404104"/>
            <a:ext cx="612648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Explain the predictions</a:t>
            </a:r>
            <a:endParaRPr lang="en-US" sz="1400" dirty="0"/>
          </a:p>
        </p:txBody>
      </p:sp>
      <p:sp>
        <p:nvSpPr>
          <p:cNvPr id="32" name="Text 29"/>
          <p:cNvSpPr txBox="1"/>
          <p:nvPr/>
        </p:nvSpPr>
        <p:spPr>
          <a:xfrm>
            <a:off x="1170432" y="5696712"/>
            <a:ext cx="6126480" cy="457200"/>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SHAP (permutation explainer) on Random Forest models, plus Random Forest feature importance.</a:t>
            </a:r>
            <a:endParaRPr lang="en-US" sz="1200" dirty="0"/>
          </a:p>
        </p:txBody>
      </p:sp>
      <p:sp>
        <p:nvSpPr>
          <p:cNvPr id="33" name="Shape 30"/>
          <p:cNvSpPr/>
          <p:nvPr/>
        </p:nvSpPr>
        <p:spPr>
          <a:xfrm>
            <a:off x="7680960" y="1325880"/>
            <a:ext cx="4053535" cy="2103120"/>
          </a:xfrm>
          <a:prstGeom prst="roundRect">
            <a:avLst>
              <a:gd name="adj" fmla="val 3478"/>
            </a:avLst>
          </a:prstGeom>
          <a:solidFill>
            <a:srgbClr val="0B2545"/>
          </a:solidFill>
          <a:ln w="9525">
            <a:solidFill>
              <a:srgbClr val="0B2545"/>
            </a:solidFill>
            <a:prstDash val="solid"/>
          </a:ln>
        </p:spPr>
      </p:sp>
      <p:sp>
        <p:nvSpPr>
          <p:cNvPr id="34" name="Text 31"/>
          <p:cNvSpPr txBox="1"/>
          <p:nvPr/>
        </p:nvSpPr>
        <p:spPr>
          <a:xfrm>
            <a:off x="7909560" y="1444752"/>
            <a:ext cx="3596335" cy="292608"/>
          </a:xfrm>
          <a:prstGeom prst="rect">
            <a:avLst/>
          </a:prstGeom>
          <a:noFill/>
          <a:ln/>
        </p:spPr>
        <p:txBody>
          <a:bodyPr wrap="square" lIns="0" tIns="0" rIns="0" bIns="0" rtlCol="0" anchor="ctr"/>
          <a:lstStyle/>
          <a:p>
            <a:pPr marL="0" indent="0">
              <a:buNone/>
            </a:pPr>
            <a:r>
              <a:rPr lang="en-US" sz="1500" b="1" dirty="0">
                <a:solidFill>
                  <a:srgbClr val="7FD1D1"/>
                </a:solidFill>
                <a:latin typeface="Calibri" pitchFamily="34" charset="0"/>
                <a:ea typeface="Calibri" pitchFamily="34" charset="-122"/>
                <a:cs typeface="Calibri" pitchFamily="34" charset="-120"/>
              </a:rPr>
              <a:t>Predicted outputs</a:t>
            </a:r>
            <a:endParaRPr lang="en-US" sz="1500" dirty="0"/>
          </a:p>
        </p:txBody>
      </p:sp>
      <p:sp>
        <p:nvSpPr>
          <p:cNvPr id="35" name="Text 32"/>
          <p:cNvSpPr txBox="1"/>
          <p:nvPr/>
        </p:nvSpPr>
        <p:spPr>
          <a:xfrm>
            <a:off x="7909560" y="1828800"/>
            <a:ext cx="3596335" cy="150876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6EFF6"/>
                </a:solidFill>
                <a:latin typeface="Calibri" pitchFamily="34" charset="0"/>
                <a:ea typeface="Calibri" pitchFamily="34" charset="-122"/>
                <a:cs typeface="Calibri" pitchFamily="34" charset="-120"/>
              </a:rPr>
              <a:t>Task A: class 0, 1 or 2 (no diabetes, prediabetes, diabetes)</a:t>
            </a:r>
            <a:endParaRPr lang="en-US" sz="1400" dirty="0"/>
          </a:p>
          <a:p>
            <a:pPr marL="177800" indent="-177800">
              <a:spcAft>
                <a:spcPts val="500"/>
              </a:spcAft>
              <a:buSzPct val="100000"/>
              <a:buChar char="•"/>
            </a:pPr>
            <a:r>
              <a:rPr lang="en-US" sz="1400" dirty="0">
                <a:solidFill>
                  <a:srgbClr val="E6EFF6"/>
                </a:solidFill>
                <a:latin typeface="Calibri" pitchFamily="34" charset="0"/>
                <a:ea typeface="Calibri" pitchFamily="34" charset="-122"/>
                <a:cs typeface="Calibri" pitchFamily="34" charset="-120"/>
              </a:rPr>
              <a:t>Task B: probability of early readmission, converted to a yes/no flag at threshold 0.40</a:t>
            </a:r>
            <a:endParaRPr lang="en-US" sz="1400" dirty="0"/>
          </a:p>
        </p:txBody>
      </p:sp>
      <p:sp>
        <p:nvSpPr>
          <p:cNvPr id="36" name="Shape 33"/>
          <p:cNvSpPr/>
          <p:nvPr/>
        </p:nvSpPr>
        <p:spPr>
          <a:xfrm>
            <a:off x="7680960" y="3566160"/>
            <a:ext cx="4053535" cy="2697480"/>
          </a:xfrm>
          <a:prstGeom prst="roundRect">
            <a:avLst>
              <a:gd name="adj" fmla="val 2712"/>
            </a:avLst>
          </a:prstGeom>
          <a:solidFill>
            <a:srgbClr val="FFFFFF"/>
          </a:solidFill>
          <a:ln w="9525">
            <a:solidFill>
              <a:srgbClr val="DCE4EA"/>
            </a:solidFill>
            <a:prstDash val="solid"/>
          </a:ln>
        </p:spPr>
      </p:sp>
      <p:sp>
        <p:nvSpPr>
          <p:cNvPr id="37" name="Text 34"/>
          <p:cNvSpPr txBox="1"/>
          <p:nvPr/>
        </p:nvSpPr>
        <p:spPr>
          <a:xfrm>
            <a:off x="7909560" y="3685032"/>
            <a:ext cx="3596335" cy="292608"/>
          </a:xfrm>
          <a:prstGeom prst="rect">
            <a:avLst/>
          </a:prstGeom>
          <a:noFill/>
          <a:ln/>
        </p:spPr>
        <p:txBody>
          <a:bodyPr wrap="square" lIns="0" tIns="0" rIns="0" bIns="0" rtlCol="0" anchor="ctr"/>
          <a:lstStyle/>
          <a:p>
            <a:pPr marL="0" indent="0">
              <a:buNone/>
            </a:pPr>
            <a:r>
              <a:rPr lang="en-US" sz="1500" b="1" dirty="0">
                <a:solidFill>
                  <a:srgbClr val="D98E04"/>
                </a:solidFill>
                <a:latin typeface="Calibri" pitchFamily="34" charset="0"/>
                <a:ea typeface="Calibri" pitchFamily="34" charset="-122"/>
                <a:cs typeface="Calibri" pitchFamily="34" charset="-120"/>
              </a:rPr>
              <a:t>Proposed future objectives</a:t>
            </a:r>
            <a:endParaRPr lang="en-US" sz="1500" dirty="0"/>
          </a:p>
        </p:txBody>
      </p:sp>
      <p:sp>
        <p:nvSpPr>
          <p:cNvPr id="38" name="Text 35"/>
          <p:cNvSpPr txBox="1"/>
          <p:nvPr/>
        </p:nvSpPr>
        <p:spPr>
          <a:xfrm>
            <a:off x="7909560" y="4069080"/>
            <a:ext cx="3596335" cy="21031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1F2D3A"/>
                </a:solidFill>
                <a:latin typeface="Calibri" pitchFamily="34" charset="0"/>
                <a:ea typeface="Calibri" pitchFamily="34" charset="-122"/>
                <a:cs typeface="Calibri" pitchFamily="34" charset="-120"/>
              </a:rPr>
              <a:t>External validation on independent data</a:t>
            </a:r>
            <a:endParaRPr lang="en-US" sz="1400" dirty="0"/>
          </a:p>
          <a:p>
            <a:pPr marL="177800" indent="-177800">
              <a:spcAft>
                <a:spcPts val="500"/>
              </a:spcAft>
              <a:buSzPct val="100000"/>
              <a:buChar char="•"/>
            </a:pPr>
            <a:r>
              <a:rPr lang="en-US" sz="1400" dirty="0">
                <a:solidFill>
                  <a:srgbClr val="1F2D3A"/>
                </a:solidFill>
                <a:latin typeface="Calibri" pitchFamily="34" charset="0"/>
                <a:ea typeface="Calibri" pitchFamily="34" charset="-122"/>
                <a:cs typeface="Calibri" pitchFamily="34" charset="-120"/>
              </a:rPr>
              <a:t>SHAP on the final tuned model with larger samples</a:t>
            </a:r>
            <a:endParaRPr lang="en-US" sz="1400" dirty="0"/>
          </a:p>
          <a:p>
            <a:pPr marL="177800" indent="-177800">
              <a:spcAft>
                <a:spcPts val="500"/>
              </a:spcAft>
              <a:buSzPct val="100000"/>
              <a:buChar char="•"/>
            </a:pPr>
            <a:r>
              <a:rPr lang="en-US" sz="1400" dirty="0">
                <a:solidFill>
                  <a:srgbClr val="1F2D3A"/>
                </a:solidFill>
                <a:latin typeface="Calibri" pitchFamily="34" charset="0"/>
                <a:ea typeface="Calibri" pitchFamily="34" charset="-122"/>
                <a:cs typeface="Calibri" pitchFamily="34" charset="-120"/>
              </a:rPr>
              <a:t>Hyperparameter optimisation and probability calibration</a:t>
            </a:r>
            <a:endParaRPr lang="en-US" sz="1400" dirty="0"/>
          </a:p>
          <a:p>
            <a:pPr marL="177800" indent="-177800">
              <a:spcAft>
                <a:spcPts val="500"/>
              </a:spcAft>
              <a:buSzPct val="100000"/>
              <a:buChar char="•"/>
            </a:pPr>
            <a:r>
              <a:rPr lang="en-US" sz="1400" dirty="0">
                <a:solidFill>
                  <a:srgbClr val="1F2D3A"/>
                </a:solidFill>
                <a:latin typeface="Calibri" pitchFamily="34" charset="0"/>
                <a:ea typeface="Calibri" pitchFamily="34" charset="-122"/>
                <a:cs typeface="Calibri" pitchFamily="34" charset="-120"/>
              </a:rPr>
              <a:t>Clinical review before any decision-support use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Datasets: Two Separate Prediction Tasks</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Each dataset is modelled on its own and never merged</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4</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6903720" cy="4233672"/>
        </p:xfrm>
        <a:graphic>
          <a:graphicData uri="http://schemas.openxmlformats.org/drawingml/2006/table">
            <a:tbl>
              <a:tblPr/>
              <a:tblGrid>
                <a:gridCol w="1234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347472">
                <a:tc>
                  <a:txBody>
                    <a:bodyPr/>
                    <a:lstStyle/>
                    <a:p>
                      <a:pPr marL="0" indent="0" algn="l">
                        <a:buNone/>
                      </a:pP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Diabetes Health Indicators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Diabetes 130-US Hospitals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457200">
                <a:tc>
                  <a:txBody>
                    <a:bodyPr/>
                    <a:lstStyle/>
                    <a:p>
                      <a:pPr marL="0" indent="0" algn="l">
                        <a:buNone/>
                      </a:pPr>
                      <a:r>
                        <a:rPr lang="en-US" sz="1150" b="1" dirty="0">
                          <a:solidFill>
                            <a:srgbClr val="1F2D3A"/>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BRFSS 2015 health survey (public CSV)</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UCI Machine Learning Repository, ID 296</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150" b="1" dirty="0">
                          <a:solidFill>
                            <a:srgbClr val="1F2D3A"/>
                          </a:solidFill>
                          <a:latin typeface="Calibri" pitchFamily="34" charset="0"/>
                          <a:ea typeface="Calibri" pitchFamily="34" charset="-122"/>
                          <a:cs typeface="Calibri" pitchFamily="34" charset="-120"/>
                        </a:rPr>
                        <a:t>Records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253,680; 229,781 after removing 23,899 duplicates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101,766 hospital encounters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lgn="l">
                        <a:buNone/>
                      </a:pPr>
                      <a:r>
                        <a:rPr lang="en-US" sz="1150" b="1" dirty="0">
                          <a:solidFill>
                            <a:srgbClr val="1F2D3A"/>
                          </a:solidFill>
                          <a:latin typeface="Calibri" pitchFamily="34" charset="0"/>
                          <a:ea typeface="Calibri" pitchFamily="34" charset="-122"/>
                          <a:cs typeface="Calibri" pitchFamily="34" charset="-120"/>
                        </a:rPr>
                        <a:t>Features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21 indicators: blood pressure, cholesterol, BMI, lifestyle, general health, demographics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47 predictors: demographics, admission details, lab and medication counts, diagnoses, drugs (11 numeric, 36 categorical)</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3"/>
                  </a:ext>
                </a:extLst>
              </a:tr>
              <a:tr h="731520">
                <a:tc>
                  <a:txBody>
                    <a:bodyPr/>
                    <a:lstStyle/>
                    <a:p>
                      <a:pPr marL="0" indent="0" algn="l">
                        <a:buNone/>
                      </a:pPr>
                      <a:r>
                        <a:rPr lang="en-US" sz="1150" b="1" dirty="0">
                          <a:solidFill>
                            <a:srgbClr val="1F2D3A"/>
                          </a:solidFill>
                          <a:latin typeface="Calibri" pitchFamily="34" charset="0"/>
                          <a:ea typeface="Calibri" pitchFamily="34" charset="-122"/>
                          <a:cs typeface="Calibri" pitchFamily="34" charset="-120"/>
                        </a:rPr>
                        <a:t>Target</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Diabetes_012: 0 no diabetes, 1 prediabetes, 2 diabetes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readmitted, converted to binary: 1 if within 30 days (&lt;30), otherwise 0</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l">
                        <a:buNone/>
                      </a:pPr>
                      <a:r>
                        <a:rPr lang="en-US" sz="1150" b="1" dirty="0">
                          <a:solidFill>
                            <a:srgbClr val="1F2D3A"/>
                          </a:solidFill>
                          <a:latin typeface="Calibri" pitchFamily="34" charset="0"/>
                          <a:ea typeface="Calibri" pitchFamily="34" charset="-122"/>
                          <a:cs typeface="Calibri" pitchFamily="34" charset="-120"/>
                        </a:rPr>
                        <a:t>Task</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3-class classification</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Binary classification</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lgn="l">
                        <a:buNone/>
                      </a:pPr>
                      <a:r>
                        <a:rPr lang="en-US" sz="1150" b="1" dirty="0">
                          <a:solidFill>
                            <a:srgbClr val="1F2D3A"/>
                          </a:solidFill>
                          <a:latin typeface="Calibri" pitchFamily="34" charset="0"/>
                          <a:ea typeface="Calibri" pitchFamily="34" charset="-122"/>
                          <a:cs typeface="Calibri" pitchFamily="34" charset="-120"/>
                        </a:rPr>
                        <a:t>Imbalance</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Prediabetes 2.0%, diabetes 15.3%, no diabetes 82.7%</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Early readmission 11.2%</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lgn="l">
                        <a:buNone/>
                      </a:pPr>
                      <a:r>
                        <a:rPr lang="en-US" sz="1150" b="1" dirty="0">
                          <a:solidFill>
                            <a:srgbClr val="1F2D3A"/>
                          </a:solidFill>
                          <a:latin typeface="Calibri" pitchFamily="34" charset="0"/>
                          <a:ea typeface="Calibri" pitchFamily="34" charset="-122"/>
                          <a:cs typeface="Calibri" pitchFamily="34" charset="-120"/>
                        </a:rPr>
                        <a:t>Missing values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l">
                        <a:buNone/>
                      </a:pPr>
                      <a:r>
                        <a:rPr lang="en-US" sz="1150" dirty="0">
                          <a:solidFill>
                            <a:srgbClr val="1F2D3A"/>
                          </a:solidFill>
                          <a:latin typeface="Calibri" pitchFamily="34" charset="0"/>
                          <a:ea typeface="Calibri" pitchFamily="34" charset="-122"/>
                          <a:cs typeface="Calibri" pitchFamily="34" charset="-120"/>
                        </a:rPr>
                        <a:t>374,017 missing cells across 9 columns</a:t>
                      </a:r>
                      <a:endParaRPr lang="en-US" sz="115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graphicFrame>
        <p:nvGraphicFramePr>
          <p:cNvPr id="8" name="Chart 0"/>
          <p:cNvGraphicFramePr/>
          <p:nvPr/>
        </p:nvGraphicFramePr>
        <p:xfrm>
          <a:off x="7589520" y="1325880"/>
          <a:ext cx="4144975" cy="23774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 name="Chart 1"/>
          <p:cNvGraphicFramePr/>
          <p:nvPr/>
        </p:nvGraphicFramePr>
        <p:xfrm>
          <a:off x="7589520" y="3840480"/>
          <a:ext cx="4144975" cy="237744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Data Preparation and Exploratory Checks</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Cleaning, encoding and splitting were applied through reusable scikit-learn pipelines</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5</a:t>
            </a:r>
            <a:endParaRPr lang="en-US" sz="1000" dirty="0"/>
          </a:p>
        </p:txBody>
      </p:sp>
      <p:sp>
        <p:nvSpPr>
          <p:cNvPr id="7" name="Shape 4"/>
          <p:cNvSpPr/>
          <p:nvPr/>
        </p:nvSpPr>
        <p:spPr>
          <a:xfrm>
            <a:off x="457200" y="1325880"/>
            <a:ext cx="5943600" cy="3429000"/>
          </a:xfrm>
          <a:prstGeom prst="roundRect">
            <a:avLst>
              <a:gd name="adj" fmla="val 2133"/>
            </a:avLst>
          </a:prstGeom>
          <a:solidFill>
            <a:srgbClr val="FFFFFF"/>
          </a:solidFill>
          <a:ln w="9525">
            <a:solidFill>
              <a:srgbClr val="DCE4EA"/>
            </a:solidFill>
            <a:prstDash val="solid"/>
          </a:ln>
        </p:spPr>
      </p:sp>
      <p:sp>
        <p:nvSpPr>
          <p:cNvPr id="8" name="Text 5"/>
          <p:cNvSpPr txBox="1"/>
          <p:nvPr/>
        </p:nvSpPr>
        <p:spPr>
          <a:xfrm>
            <a:off x="640080" y="1417320"/>
            <a:ext cx="5486400" cy="29260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Data preparation (implemented)</a:t>
            </a:r>
            <a:endParaRPr lang="en-US" sz="1500" dirty="0"/>
          </a:p>
        </p:txBody>
      </p:sp>
      <p:sp>
        <p:nvSpPr>
          <p:cNvPr id="9" name="Text 6"/>
          <p:cNvSpPr txBox="1"/>
          <p:nvPr/>
        </p:nvSpPr>
        <p:spPr>
          <a:xfrm>
            <a:off x="640080" y="1783080"/>
            <a:ext cx="5577840" cy="29260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Removed 23,899 exact duplicate rows from the diabetes data</a:t>
            </a:r>
            <a:endParaRPr lang="en-US" sz="1300" dirty="0"/>
          </a:p>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Converted "?" markers to missing values in the hospital data</a:t>
            </a:r>
            <a:endParaRPr lang="en-US" sz="1300" dirty="0"/>
          </a:p>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Target for Task B: readmitted "&lt;30" = 1, otherwise 0</a:t>
            </a:r>
            <a:endParaRPr lang="en-US" sz="1300" dirty="0"/>
          </a:p>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Numeric features: median imputation, then standardisation</a:t>
            </a:r>
            <a:endParaRPr lang="en-US" sz="1300" dirty="0"/>
          </a:p>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Categorical features: most-frequent imputation, then one-hot encoding</a:t>
            </a:r>
            <a:endParaRPr lang="en-US" sz="1300" dirty="0"/>
          </a:p>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Stratified 80/20 train/test split (random state 42)</a:t>
            </a:r>
            <a:endParaRPr lang="en-US" sz="1300" dirty="0"/>
          </a:p>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Readmission training set split again 80/20: 65,129 fitting and 16,283 validation records</a:t>
            </a:r>
            <a:endParaRPr lang="en-US" sz="1300" dirty="0"/>
          </a:p>
          <a:p>
            <a:pPr marL="177800" indent="-177800">
              <a:spcAft>
                <a:spcPts val="500"/>
              </a:spcAft>
              <a:buSzPct val="100000"/>
              <a:buChar char="•"/>
            </a:pPr>
            <a:r>
              <a:rPr lang="en-US" sz="1300" dirty="0">
                <a:solidFill>
                  <a:srgbClr val="1F2D3A"/>
                </a:solidFill>
                <a:latin typeface="Calibri" pitchFamily="34" charset="0"/>
                <a:ea typeface="Calibri" pitchFamily="34" charset="-122"/>
                <a:cs typeface="Calibri" pitchFamily="34" charset="-120"/>
              </a:rPr>
              <a:t>Class imbalance handled with balanced class weights</a:t>
            </a:r>
            <a:endParaRPr lang="en-US" sz="1300" dirty="0"/>
          </a:p>
        </p:txBody>
      </p:sp>
      <p:sp>
        <p:nvSpPr>
          <p:cNvPr id="10" name="Shape 7"/>
          <p:cNvSpPr/>
          <p:nvPr/>
        </p:nvSpPr>
        <p:spPr>
          <a:xfrm>
            <a:off x="457200" y="4892040"/>
            <a:ext cx="5943600" cy="1371600"/>
          </a:xfrm>
          <a:prstGeom prst="roundRect">
            <a:avLst>
              <a:gd name="adj" fmla="val 5333"/>
            </a:avLst>
          </a:prstGeom>
          <a:solidFill>
            <a:srgbClr val="D6EEF0"/>
          </a:solidFill>
          <a:ln w="9525">
            <a:solidFill>
              <a:srgbClr val="D6EEF0"/>
            </a:solidFill>
            <a:prstDash val="solid"/>
          </a:ln>
        </p:spPr>
      </p:sp>
      <p:sp>
        <p:nvSpPr>
          <p:cNvPr id="11" name="Text 8"/>
          <p:cNvSpPr txBox="1"/>
          <p:nvPr/>
        </p:nvSpPr>
        <p:spPr>
          <a:xfrm>
            <a:off x="640080" y="4965192"/>
            <a:ext cx="5486400" cy="292608"/>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Exploratory checks (findings)</a:t>
            </a:r>
            <a:endParaRPr lang="en-US" sz="1500" dirty="0"/>
          </a:p>
        </p:txBody>
      </p:sp>
      <p:sp>
        <p:nvSpPr>
          <p:cNvPr id="12" name="Text 9"/>
          <p:cNvSpPr txBox="1"/>
          <p:nvPr/>
        </p:nvSpPr>
        <p:spPr>
          <a:xfrm>
            <a:off x="640080" y="5303520"/>
            <a:ext cx="5577840" cy="914400"/>
          </a:xfrm>
          <a:prstGeom prst="rect">
            <a:avLst/>
          </a:prstGeom>
          <a:noFill/>
          <a:ln/>
        </p:spPr>
        <p:txBody>
          <a:bodyPr wrap="square" lIns="0" tIns="0" rIns="0" bIns="0" rtlCol="0" anchor="t"/>
          <a:lstStyle/>
          <a:p>
            <a:pPr marL="177800" indent="-177800">
              <a:spcAft>
                <a:spcPts val="500"/>
              </a:spcAft>
              <a:buSzPct val="100000"/>
              <a:buChar char="•"/>
            </a:pPr>
            <a:r>
              <a:rPr lang="en-US" sz="1250" dirty="0">
                <a:solidFill>
                  <a:srgbClr val="1F2D3A"/>
                </a:solidFill>
                <a:latin typeface="Calibri" pitchFamily="34" charset="0"/>
                <a:ea typeface="Calibri" pitchFamily="34" charset="-122"/>
                <a:cs typeface="Calibri" pitchFamily="34" charset="-120"/>
              </a:rPr>
              <a:t>Diabetes data: no missing values, but 9.4% of rows were exact duplicates</a:t>
            </a:r>
            <a:endParaRPr lang="en-US" sz="1250" dirty="0"/>
          </a:p>
          <a:p>
            <a:pPr marL="177800" indent="-177800">
              <a:spcAft>
                <a:spcPts val="500"/>
              </a:spcAft>
              <a:buSzPct val="100000"/>
              <a:buChar char="•"/>
            </a:pPr>
            <a:r>
              <a:rPr lang="en-US" sz="1250" dirty="0">
                <a:solidFill>
                  <a:srgbClr val="1F2D3A"/>
                </a:solidFill>
                <a:latin typeface="Calibri" pitchFamily="34" charset="0"/>
                <a:ea typeface="Calibri" pitchFamily="34" charset="-122"/>
                <a:cs typeface="Calibri" pitchFamily="34" charset="-120"/>
              </a:rPr>
              <a:t>Hospital data: no duplicates, but heavy missingness in a few columns</a:t>
            </a:r>
            <a:endParaRPr lang="en-US" sz="1250" dirty="0"/>
          </a:p>
          <a:p>
            <a:pPr marL="177800" indent="-177800">
              <a:spcAft>
                <a:spcPts val="500"/>
              </a:spcAft>
              <a:buSzPct val="100000"/>
              <a:buChar char="•"/>
            </a:pPr>
            <a:r>
              <a:rPr lang="en-US" sz="1250" dirty="0">
                <a:solidFill>
                  <a:srgbClr val="1F2D3A"/>
                </a:solidFill>
                <a:latin typeface="Calibri" pitchFamily="34" charset="0"/>
                <a:ea typeface="Calibri" pitchFamily="34" charset="-122"/>
                <a:cs typeface="Calibri" pitchFamily="34" charset="-120"/>
              </a:rPr>
              <a:t>Both targets are strongly imbalanced</a:t>
            </a:r>
            <a:endParaRPr lang="en-US" sz="1250" dirty="0"/>
          </a:p>
        </p:txBody>
      </p:sp>
      <p:graphicFrame>
        <p:nvGraphicFramePr>
          <p:cNvPr id="13" name="Chart 0"/>
          <p:cNvGraphicFramePr/>
          <p:nvPr/>
        </p:nvGraphicFramePr>
        <p:xfrm>
          <a:off x="6629400" y="1325880"/>
          <a:ext cx="5105095"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14" name="Shape 10"/>
          <p:cNvSpPr/>
          <p:nvPr/>
        </p:nvSpPr>
        <p:spPr>
          <a:xfrm>
            <a:off x="6629400" y="5074920"/>
            <a:ext cx="5105095" cy="1188720"/>
          </a:xfrm>
          <a:prstGeom prst="roundRect">
            <a:avLst>
              <a:gd name="adj" fmla="val 6154"/>
            </a:avLst>
          </a:prstGeom>
          <a:solidFill>
            <a:srgbClr val="FFFFFF"/>
          </a:solidFill>
          <a:ln w="9525">
            <a:solidFill>
              <a:srgbClr val="DCE4EA"/>
            </a:solidFill>
            <a:prstDash val="solid"/>
          </a:ln>
        </p:spPr>
      </p:sp>
      <p:sp>
        <p:nvSpPr>
          <p:cNvPr id="15" name="Text 11"/>
          <p:cNvSpPr txBox="1"/>
          <p:nvPr/>
        </p:nvSpPr>
        <p:spPr>
          <a:xfrm>
            <a:off x="6812280" y="5138928"/>
            <a:ext cx="4739335" cy="1060704"/>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What the graph shows: </a:t>
            </a:r>
            <a:r>
              <a:rPr lang="en-US" sz="1200" dirty="0">
                <a:solidFill>
                  <a:srgbClr val="1F2D3A"/>
                </a:solidFill>
                <a:latin typeface="Calibri" pitchFamily="34" charset="0"/>
                <a:ea typeface="Calibri" pitchFamily="34" charset="-122"/>
                <a:cs typeface="Calibri" pitchFamily="34" charset="-120"/>
              </a:rPr>
              <a:t>weight is missing in 96.9% of encounters, glucose serum in 94.7% and A1C in 83.3%. These columns carry little usable information, so imputed values should be interpreted cautiously.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Methodology: End-to-End Workflow</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One shared pipeline, applied separately to each prediction task</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6</a:t>
            </a:r>
            <a:endParaRPr lang="en-US" sz="1000" dirty="0"/>
          </a:p>
        </p:txBody>
      </p:sp>
      <p:sp>
        <p:nvSpPr>
          <p:cNvPr id="7" name="Shape 4"/>
          <p:cNvSpPr/>
          <p:nvPr/>
        </p:nvSpPr>
        <p:spPr>
          <a:xfrm>
            <a:off x="457200" y="1371600"/>
            <a:ext cx="1463040" cy="1828800"/>
          </a:xfrm>
          <a:prstGeom prst="roundRect">
            <a:avLst>
              <a:gd name="adj" fmla="val 5000"/>
            </a:avLst>
          </a:prstGeom>
          <a:solidFill>
            <a:srgbClr val="FFFFFF"/>
          </a:solidFill>
          <a:ln w="9525">
            <a:solidFill>
              <a:srgbClr val="DCE4EA"/>
            </a:solidFill>
            <a:prstDash val="solid"/>
          </a:ln>
        </p:spPr>
      </p:sp>
      <p:sp>
        <p:nvSpPr>
          <p:cNvPr id="8" name="Shape 5"/>
          <p:cNvSpPr/>
          <p:nvPr/>
        </p:nvSpPr>
        <p:spPr>
          <a:xfrm>
            <a:off x="566928" y="1481328"/>
            <a:ext cx="347472" cy="347472"/>
          </a:xfrm>
          <a:prstGeom prst="ellipse">
            <a:avLst/>
          </a:prstGeom>
          <a:solidFill>
            <a:srgbClr val="0E8C8C"/>
          </a:solidFill>
          <a:ln w="12700">
            <a:solidFill>
              <a:srgbClr val="0E8C8C"/>
            </a:solidFill>
            <a:prstDash val="solid"/>
          </a:ln>
        </p:spPr>
      </p:sp>
      <p:sp>
        <p:nvSpPr>
          <p:cNvPr id="9" name="Text 6"/>
          <p:cNvSpPr txBox="1"/>
          <p:nvPr/>
        </p:nvSpPr>
        <p:spPr>
          <a:xfrm>
            <a:off x="566928" y="1481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530352" y="1920240"/>
            <a:ext cx="1316736"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Data acquisition</a:t>
            </a:r>
            <a:endParaRPr lang="en-US" sz="1300" dirty="0"/>
          </a:p>
        </p:txBody>
      </p:sp>
      <p:sp>
        <p:nvSpPr>
          <p:cNvPr id="11" name="Text 8"/>
          <p:cNvSpPr txBox="1"/>
          <p:nvPr/>
        </p:nvSpPr>
        <p:spPr>
          <a:xfrm>
            <a:off x="530352" y="2304288"/>
            <a:ext cx="1316736" cy="84124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Download BRFSS CSV and UCI dataset 296</a:t>
            </a:r>
            <a:endParaRPr lang="en-US" sz="1150" dirty="0"/>
          </a:p>
        </p:txBody>
      </p:sp>
      <p:sp>
        <p:nvSpPr>
          <p:cNvPr id="12" name="Shape 9"/>
          <p:cNvSpPr/>
          <p:nvPr/>
        </p:nvSpPr>
        <p:spPr>
          <a:xfrm>
            <a:off x="1938528" y="2148840"/>
            <a:ext cx="136093" cy="256032"/>
          </a:xfrm>
          <a:prstGeom prst="rightArrow">
            <a:avLst/>
          </a:prstGeom>
          <a:solidFill>
            <a:srgbClr val="0E8C8C"/>
          </a:solidFill>
          <a:ln w="12700">
            <a:solidFill>
              <a:srgbClr val="0E8C8C"/>
            </a:solidFill>
            <a:prstDash val="solid"/>
          </a:ln>
        </p:spPr>
      </p:sp>
      <p:sp>
        <p:nvSpPr>
          <p:cNvPr id="13" name="Shape 10"/>
          <p:cNvSpPr/>
          <p:nvPr/>
        </p:nvSpPr>
        <p:spPr>
          <a:xfrm>
            <a:off x="2092909" y="1371600"/>
            <a:ext cx="1463040" cy="1828800"/>
          </a:xfrm>
          <a:prstGeom prst="roundRect">
            <a:avLst>
              <a:gd name="adj" fmla="val 5000"/>
            </a:avLst>
          </a:prstGeom>
          <a:solidFill>
            <a:srgbClr val="FFFFFF"/>
          </a:solidFill>
          <a:ln w="9525">
            <a:solidFill>
              <a:srgbClr val="DCE4EA"/>
            </a:solidFill>
            <a:prstDash val="solid"/>
          </a:ln>
        </p:spPr>
      </p:sp>
      <p:sp>
        <p:nvSpPr>
          <p:cNvPr id="14" name="Shape 11"/>
          <p:cNvSpPr/>
          <p:nvPr/>
        </p:nvSpPr>
        <p:spPr>
          <a:xfrm>
            <a:off x="2202637" y="1481328"/>
            <a:ext cx="347472" cy="347472"/>
          </a:xfrm>
          <a:prstGeom prst="ellipse">
            <a:avLst/>
          </a:prstGeom>
          <a:solidFill>
            <a:srgbClr val="0E8C8C"/>
          </a:solidFill>
          <a:ln w="12700">
            <a:solidFill>
              <a:srgbClr val="0E8C8C"/>
            </a:solidFill>
            <a:prstDash val="solid"/>
          </a:ln>
        </p:spPr>
      </p:sp>
      <p:sp>
        <p:nvSpPr>
          <p:cNvPr id="15" name="Text 12"/>
          <p:cNvSpPr txBox="1"/>
          <p:nvPr/>
        </p:nvSpPr>
        <p:spPr>
          <a:xfrm>
            <a:off x="2202637" y="1481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txBox="1"/>
          <p:nvPr/>
        </p:nvSpPr>
        <p:spPr>
          <a:xfrm>
            <a:off x="2166061" y="1920240"/>
            <a:ext cx="1316736"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Data cleaning</a:t>
            </a:r>
            <a:endParaRPr lang="en-US" sz="1300" dirty="0"/>
          </a:p>
        </p:txBody>
      </p:sp>
      <p:sp>
        <p:nvSpPr>
          <p:cNvPr id="17" name="Text 14"/>
          <p:cNvSpPr txBox="1"/>
          <p:nvPr/>
        </p:nvSpPr>
        <p:spPr>
          <a:xfrm>
            <a:off x="2166061" y="2304288"/>
            <a:ext cx="1316736" cy="84124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Remove duplicates, convert "?" to missing</a:t>
            </a:r>
            <a:endParaRPr lang="en-US" sz="1150" dirty="0"/>
          </a:p>
        </p:txBody>
      </p:sp>
      <p:sp>
        <p:nvSpPr>
          <p:cNvPr id="18" name="Shape 15"/>
          <p:cNvSpPr/>
          <p:nvPr/>
        </p:nvSpPr>
        <p:spPr>
          <a:xfrm>
            <a:off x="3574237" y="2148840"/>
            <a:ext cx="136093" cy="256032"/>
          </a:xfrm>
          <a:prstGeom prst="rightArrow">
            <a:avLst/>
          </a:prstGeom>
          <a:solidFill>
            <a:srgbClr val="0E8C8C"/>
          </a:solidFill>
          <a:ln w="12700">
            <a:solidFill>
              <a:srgbClr val="0E8C8C"/>
            </a:solidFill>
            <a:prstDash val="solid"/>
          </a:ln>
        </p:spPr>
      </p:sp>
      <p:sp>
        <p:nvSpPr>
          <p:cNvPr id="19" name="Shape 16"/>
          <p:cNvSpPr/>
          <p:nvPr/>
        </p:nvSpPr>
        <p:spPr>
          <a:xfrm>
            <a:off x="3728618" y="1371600"/>
            <a:ext cx="1463040" cy="1828800"/>
          </a:xfrm>
          <a:prstGeom prst="roundRect">
            <a:avLst>
              <a:gd name="adj" fmla="val 5000"/>
            </a:avLst>
          </a:prstGeom>
          <a:solidFill>
            <a:srgbClr val="FFFFFF"/>
          </a:solidFill>
          <a:ln w="9525">
            <a:solidFill>
              <a:srgbClr val="DCE4EA"/>
            </a:solidFill>
            <a:prstDash val="solid"/>
          </a:ln>
        </p:spPr>
      </p:sp>
      <p:sp>
        <p:nvSpPr>
          <p:cNvPr id="20" name="Shape 17"/>
          <p:cNvSpPr/>
          <p:nvPr/>
        </p:nvSpPr>
        <p:spPr>
          <a:xfrm>
            <a:off x="3838346" y="1481328"/>
            <a:ext cx="347472" cy="347472"/>
          </a:xfrm>
          <a:prstGeom prst="ellipse">
            <a:avLst/>
          </a:prstGeom>
          <a:solidFill>
            <a:srgbClr val="0E8C8C"/>
          </a:solidFill>
          <a:ln w="12700">
            <a:solidFill>
              <a:srgbClr val="0E8C8C"/>
            </a:solidFill>
            <a:prstDash val="solid"/>
          </a:ln>
        </p:spPr>
      </p:sp>
      <p:sp>
        <p:nvSpPr>
          <p:cNvPr id="21" name="Text 18"/>
          <p:cNvSpPr txBox="1"/>
          <p:nvPr/>
        </p:nvSpPr>
        <p:spPr>
          <a:xfrm>
            <a:off x="3838346" y="1481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9"/>
          <p:cNvSpPr txBox="1"/>
          <p:nvPr/>
        </p:nvSpPr>
        <p:spPr>
          <a:xfrm>
            <a:off x="3801770" y="1920240"/>
            <a:ext cx="1316736"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Targets and split</a:t>
            </a:r>
            <a:endParaRPr lang="en-US" sz="1300" dirty="0"/>
          </a:p>
        </p:txBody>
      </p:sp>
      <p:sp>
        <p:nvSpPr>
          <p:cNvPr id="23" name="Text 20"/>
          <p:cNvSpPr txBox="1"/>
          <p:nvPr/>
        </p:nvSpPr>
        <p:spPr>
          <a:xfrm>
            <a:off x="3801770" y="2304288"/>
            <a:ext cx="1316736" cy="84124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Define targets, stratified 80/20 split</a:t>
            </a:r>
            <a:endParaRPr lang="en-US" sz="1150" dirty="0"/>
          </a:p>
        </p:txBody>
      </p:sp>
      <p:sp>
        <p:nvSpPr>
          <p:cNvPr id="24" name="Shape 21"/>
          <p:cNvSpPr/>
          <p:nvPr/>
        </p:nvSpPr>
        <p:spPr>
          <a:xfrm>
            <a:off x="5209946" y="2148840"/>
            <a:ext cx="136093" cy="256032"/>
          </a:xfrm>
          <a:prstGeom prst="rightArrow">
            <a:avLst/>
          </a:prstGeom>
          <a:solidFill>
            <a:srgbClr val="0E8C8C"/>
          </a:solidFill>
          <a:ln w="12700">
            <a:solidFill>
              <a:srgbClr val="0E8C8C"/>
            </a:solidFill>
            <a:prstDash val="solid"/>
          </a:ln>
        </p:spPr>
      </p:sp>
      <p:sp>
        <p:nvSpPr>
          <p:cNvPr id="25" name="Shape 22"/>
          <p:cNvSpPr/>
          <p:nvPr/>
        </p:nvSpPr>
        <p:spPr>
          <a:xfrm>
            <a:off x="5364328" y="1371600"/>
            <a:ext cx="1463040" cy="1828800"/>
          </a:xfrm>
          <a:prstGeom prst="roundRect">
            <a:avLst>
              <a:gd name="adj" fmla="val 5000"/>
            </a:avLst>
          </a:prstGeom>
          <a:solidFill>
            <a:srgbClr val="FFFFFF"/>
          </a:solidFill>
          <a:ln w="9525">
            <a:solidFill>
              <a:srgbClr val="DCE4EA"/>
            </a:solidFill>
            <a:prstDash val="solid"/>
          </a:ln>
        </p:spPr>
      </p:sp>
      <p:sp>
        <p:nvSpPr>
          <p:cNvPr id="26" name="Shape 23"/>
          <p:cNvSpPr/>
          <p:nvPr/>
        </p:nvSpPr>
        <p:spPr>
          <a:xfrm>
            <a:off x="5474056" y="1481328"/>
            <a:ext cx="347472" cy="347472"/>
          </a:xfrm>
          <a:prstGeom prst="ellipse">
            <a:avLst/>
          </a:prstGeom>
          <a:solidFill>
            <a:srgbClr val="0E8C8C"/>
          </a:solidFill>
          <a:ln w="12700">
            <a:solidFill>
              <a:srgbClr val="0E8C8C"/>
            </a:solidFill>
            <a:prstDash val="solid"/>
          </a:ln>
        </p:spPr>
      </p:sp>
      <p:sp>
        <p:nvSpPr>
          <p:cNvPr id="27" name="Text 24"/>
          <p:cNvSpPr txBox="1"/>
          <p:nvPr/>
        </p:nvSpPr>
        <p:spPr>
          <a:xfrm>
            <a:off x="5474056" y="1481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5"/>
          <p:cNvSpPr txBox="1"/>
          <p:nvPr/>
        </p:nvSpPr>
        <p:spPr>
          <a:xfrm>
            <a:off x="5437480" y="1920240"/>
            <a:ext cx="1316736"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Preprocessing</a:t>
            </a:r>
            <a:endParaRPr lang="en-US" sz="1300" dirty="0"/>
          </a:p>
        </p:txBody>
      </p:sp>
      <p:sp>
        <p:nvSpPr>
          <p:cNvPr id="29" name="Text 26"/>
          <p:cNvSpPr txBox="1"/>
          <p:nvPr/>
        </p:nvSpPr>
        <p:spPr>
          <a:xfrm>
            <a:off x="5437480" y="2304288"/>
            <a:ext cx="1316736" cy="84124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Impute, scale, one-hot encode in a pipeline</a:t>
            </a:r>
            <a:endParaRPr lang="en-US" sz="1150" dirty="0"/>
          </a:p>
        </p:txBody>
      </p:sp>
      <p:sp>
        <p:nvSpPr>
          <p:cNvPr id="30" name="Shape 27"/>
          <p:cNvSpPr/>
          <p:nvPr/>
        </p:nvSpPr>
        <p:spPr>
          <a:xfrm>
            <a:off x="6845656" y="2148840"/>
            <a:ext cx="136093" cy="256032"/>
          </a:xfrm>
          <a:prstGeom prst="rightArrow">
            <a:avLst/>
          </a:prstGeom>
          <a:solidFill>
            <a:srgbClr val="0E8C8C"/>
          </a:solidFill>
          <a:ln w="12700">
            <a:solidFill>
              <a:srgbClr val="0E8C8C"/>
            </a:solidFill>
            <a:prstDash val="solid"/>
          </a:ln>
        </p:spPr>
      </p:sp>
      <p:sp>
        <p:nvSpPr>
          <p:cNvPr id="31" name="Shape 28"/>
          <p:cNvSpPr/>
          <p:nvPr/>
        </p:nvSpPr>
        <p:spPr>
          <a:xfrm>
            <a:off x="7000037" y="1371600"/>
            <a:ext cx="1463040" cy="1828800"/>
          </a:xfrm>
          <a:prstGeom prst="roundRect">
            <a:avLst>
              <a:gd name="adj" fmla="val 5000"/>
            </a:avLst>
          </a:prstGeom>
          <a:solidFill>
            <a:srgbClr val="FFFFFF"/>
          </a:solidFill>
          <a:ln w="9525">
            <a:solidFill>
              <a:srgbClr val="DCE4EA"/>
            </a:solidFill>
            <a:prstDash val="solid"/>
          </a:ln>
        </p:spPr>
      </p:sp>
      <p:sp>
        <p:nvSpPr>
          <p:cNvPr id="32" name="Shape 29"/>
          <p:cNvSpPr/>
          <p:nvPr/>
        </p:nvSpPr>
        <p:spPr>
          <a:xfrm>
            <a:off x="7109765" y="1481328"/>
            <a:ext cx="347472" cy="347472"/>
          </a:xfrm>
          <a:prstGeom prst="ellipse">
            <a:avLst/>
          </a:prstGeom>
          <a:solidFill>
            <a:srgbClr val="0E8C8C"/>
          </a:solidFill>
          <a:ln w="12700">
            <a:solidFill>
              <a:srgbClr val="0E8C8C"/>
            </a:solidFill>
            <a:prstDash val="solid"/>
          </a:ln>
        </p:spPr>
      </p:sp>
      <p:sp>
        <p:nvSpPr>
          <p:cNvPr id="33" name="Text 30"/>
          <p:cNvSpPr txBox="1"/>
          <p:nvPr/>
        </p:nvSpPr>
        <p:spPr>
          <a:xfrm>
            <a:off x="7109765" y="1481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4" name="Text 31"/>
          <p:cNvSpPr txBox="1"/>
          <p:nvPr/>
        </p:nvSpPr>
        <p:spPr>
          <a:xfrm>
            <a:off x="7073189" y="1920240"/>
            <a:ext cx="1316736"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Model training</a:t>
            </a:r>
            <a:endParaRPr lang="en-US" sz="1300" dirty="0"/>
          </a:p>
        </p:txBody>
      </p:sp>
      <p:sp>
        <p:nvSpPr>
          <p:cNvPr id="35" name="Text 32"/>
          <p:cNvSpPr txBox="1"/>
          <p:nvPr/>
        </p:nvSpPr>
        <p:spPr>
          <a:xfrm>
            <a:off x="7073189" y="2304288"/>
            <a:ext cx="1316736" cy="84124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LR, Random Forest, Extra Trees, soft-voting ensemble</a:t>
            </a:r>
            <a:endParaRPr lang="en-US" sz="1150" dirty="0"/>
          </a:p>
        </p:txBody>
      </p:sp>
      <p:sp>
        <p:nvSpPr>
          <p:cNvPr id="36" name="Shape 33"/>
          <p:cNvSpPr/>
          <p:nvPr/>
        </p:nvSpPr>
        <p:spPr>
          <a:xfrm>
            <a:off x="8481365" y="2148840"/>
            <a:ext cx="136093" cy="256032"/>
          </a:xfrm>
          <a:prstGeom prst="rightArrow">
            <a:avLst/>
          </a:prstGeom>
          <a:solidFill>
            <a:srgbClr val="0E8C8C"/>
          </a:solidFill>
          <a:ln w="12700">
            <a:solidFill>
              <a:srgbClr val="0E8C8C"/>
            </a:solidFill>
            <a:prstDash val="solid"/>
          </a:ln>
        </p:spPr>
      </p:sp>
      <p:sp>
        <p:nvSpPr>
          <p:cNvPr id="37" name="Shape 34"/>
          <p:cNvSpPr/>
          <p:nvPr/>
        </p:nvSpPr>
        <p:spPr>
          <a:xfrm>
            <a:off x="8635746" y="1371600"/>
            <a:ext cx="1463040" cy="1828800"/>
          </a:xfrm>
          <a:prstGeom prst="roundRect">
            <a:avLst>
              <a:gd name="adj" fmla="val 5000"/>
            </a:avLst>
          </a:prstGeom>
          <a:solidFill>
            <a:srgbClr val="FFFFFF"/>
          </a:solidFill>
          <a:ln w="9525">
            <a:solidFill>
              <a:srgbClr val="DCE4EA"/>
            </a:solidFill>
            <a:prstDash val="solid"/>
          </a:ln>
        </p:spPr>
      </p:sp>
      <p:sp>
        <p:nvSpPr>
          <p:cNvPr id="38" name="Shape 35"/>
          <p:cNvSpPr/>
          <p:nvPr/>
        </p:nvSpPr>
        <p:spPr>
          <a:xfrm>
            <a:off x="8745474" y="1481328"/>
            <a:ext cx="347472" cy="347472"/>
          </a:xfrm>
          <a:prstGeom prst="ellipse">
            <a:avLst/>
          </a:prstGeom>
          <a:solidFill>
            <a:srgbClr val="0E8C8C"/>
          </a:solidFill>
          <a:ln w="12700">
            <a:solidFill>
              <a:srgbClr val="0E8C8C"/>
            </a:solidFill>
            <a:prstDash val="solid"/>
          </a:ln>
        </p:spPr>
      </p:sp>
      <p:sp>
        <p:nvSpPr>
          <p:cNvPr id="39" name="Text 36"/>
          <p:cNvSpPr txBox="1"/>
          <p:nvPr/>
        </p:nvSpPr>
        <p:spPr>
          <a:xfrm>
            <a:off x="8745474" y="1481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0" name="Text 37"/>
          <p:cNvSpPr txBox="1"/>
          <p:nvPr/>
        </p:nvSpPr>
        <p:spPr>
          <a:xfrm>
            <a:off x="8708898" y="1920240"/>
            <a:ext cx="1316736"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Evaluation</a:t>
            </a:r>
            <a:endParaRPr lang="en-US" sz="1300" dirty="0"/>
          </a:p>
        </p:txBody>
      </p:sp>
      <p:sp>
        <p:nvSpPr>
          <p:cNvPr id="41" name="Text 38"/>
          <p:cNvSpPr txBox="1"/>
          <p:nvPr/>
        </p:nvSpPr>
        <p:spPr>
          <a:xfrm>
            <a:off x="8708898" y="2304288"/>
            <a:ext cx="1316736" cy="84124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Accuracy, macro P/R/F1, ROC-AUC, confusion matrix</a:t>
            </a:r>
            <a:endParaRPr lang="en-US" sz="1150" dirty="0"/>
          </a:p>
        </p:txBody>
      </p:sp>
      <p:sp>
        <p:nvSpPr>
          <p:cNvPr id="42" name="Shape 39"/>
          <p:cNvSpPr/>
          <p:nvPr/>
        </p:nvSpPr>
        <p:spPr>
          <a:xfrm>
            <a:off x="10117074" y="2148840"/>
            <a:ext cx="136093" cy="256032"/>
          </a:xfrm>
          <a:prstGeom prst="rightArrow">
            <a:avLst/>
          </a:prstGeom>
          <a:solidFill>
            <a:srgbClr val="0E8C8C"/>
          </a:solidFill>
          <a:ln w="12700">
            <a:solidFill>
              <a:srgbClr val="0E8C8C"/>
            </a:solidFill>
            <a:prstDash val="solid"/>
          </a:ln>
        </p:spPr>
      </p:sp>
      <p:sp>
        <p:nvSpPr>
          <p:cNvPr id="43" name="Shape 40"/>
          <p:cNvSpPr/>
          <p:nvPr/>
        </p:nvSpPr>
        <p:spPr>
          <a:xfrm>
            <a:off x="10271455" y="1371600"/>
            <a:ext cx="1463040" cy="1828800"/>
          </a:xfrm>
          <a:prstGeom prst="roundRect">
            <a:avLst>
              <a:gd name="adj" fmla="val 5000"/>
            </a:avLst>
          </a:prstGeom>
          <a:solidFill>
            <a:srgbClr val="FFFFFF"/>
          </a:solidFill>
          <a:ln w="9525">
            <a:solidFill>
              <a:srgbClr val="DCE4EA"/>
            </a:solidFill>
            <a:prstDash val="solid"/>
          </a:ln>
        </p:spPr>
      </p:sp>
      <p:sp>
        <p:nvSpPr>
          <p:cNvPr id="44" name="Shape 41"/>
          <p:cNvSpPr/>
          <p:nvPr/>
        </p:nvSpPr>
        <p:spPr>
          <a:xfrm>
            <a:off x="10381183" y="1481328"/>
            <a:ext cx="347472" cy="347472"/>
          </a:xfrm>
          <a:prstGeom prst="ellipse">
            <a:avLst/>
          </a:prstGeom>
          <a:solidFill>
            <a:srgbClr val="D98E04"/>
          </a:solidFill>
          <a:ln w="12700">
            <a:solidFill>
              <a:srgbClr val="D98E04"/>
            </a:solidFill>
            <a:prstDash val="solid"/>
          </a:ln>
        </p:spPr>
      </p:sp>
      <p:sp>
        <p:nvSpPr>
          <p:cNvPr id="45" name="Text 42"/>
          <p:cNvSpPr txBox="1"/>
          <p:nvPr/>
        </p:nvSpPr>
        <p:spPr>
          <a:xfrm>
            <a:off x="10381183" y="148132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46" name="Text 43"/>
          <p:cNvSpPr txBox="1"/>
          <p:nvPr/>
        </p:nvSpPr>
        <p:spPr>
          <a:xfrm>
            <a:off x="10344607" y="1920240"/>
            <a:ext cx="1316736" cy="365760"/>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Interpretation</a:t>
            </a:r>
            <a:endParaRPr lang="en-US" sz="1300" dirty="0"/>
          </a:p>
        </p:txBody>
      </p:sp>
      <p:sp>
        <p:nvSpPr>
          <p:cNvPr id="47" name="Text 44"/>
          <p:cNvSpPr txBox="1"/>
          <p:nvPr/>
        </p:nvSpPr>
        <p:spPr>
          <a:xfrm>
            <a:off x="10344607" y="2304288"/>
            <a:ext cx="1316736" cy="84124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SHAP and feature importance</a:t>
            </a:r>
            <a:endParaRPr lang="en-US" sz="1150" dirty="0"/>
          </a:p>
        </p:txBody>
      </p:sp>
      <p:sp>
        <p:nvSpPr>
          <p:cNvPr id="48" name="Shape 45"/>
          <p:cNvSpPr/>
          <p:nvPr/>
        </p:nvSpPr>
        <p:spPr>
          <a:xfrm>
            <a:off x="457200" y="3474720"/>
            <a:ext cx="1737360" cy="1280160"/>
          </a:xfrm>
          <a:prstGeom prst="roundRect">
            <a:avLst>
              <a:gd name="adj" fmla="val 5714"/>
            </a:avLst>
          </a:prstGeom>
          <a:solidFill>
            <a:srgbClr val="0B2545"/>
          </a:solidFill>
          <a:ln w="12700">
            <a:solidFill>
              <a:srgbClr val="0B2545"/>
            </a:solidFill>
            <a:prstDash val="solid"/>
          </a:ln>
        </p:spPr>
      </p:sp>
      <p:sp>
        <p:nvSpPr>
          <p:cNvPr id="49" name="Text 46"/>
          <p:cNvSpPr txBox="1"/>
          <p:nvPr/>
        </p:nvSpPr>
        <p:spPr>
          <a:xfrm>
            <a:off x="548640" y="3474720"/>
            <a:ext cx="1554480" cy="1280160"/>
          </a:xfrm>
          <a:prstGeom prst="rect">
            <a:avLst/>
          </a:prstGeom>
          <a:noFill/>
          <a:ln/>
        </p:spPr>
        <p:txBody>
          <a:bodyPr wrap="square" lIns="0" tIns="0" rIns="0" bIns="0" rtlCol="0" anchor="ctr"/>
          <a:lstStyle/>
          <a:p>
            <a:pPr marL="0" indent="0" algn="ctr">
              <a:buNone/>
            </a:pPr>
            <a:r>
              <a:rPr lang="en-US" sz="1200" b="1" dirty="0">
                <a:solidFill>
                  <a:srgbClr val="CFE3F0"/>
                </a:solidFill>
                <a:latin typeface="Calibri" pitchFamily="34" charset="0"/>
                <a:ea typeface="Calibri" pitchFamily="34" charset="-122"/>
                <a:cs typeface="Calibri" pitchFamily="34" charset="-120"/>
              </a:rPr>
              <a:t>Task A</a:t>
            </a:r>
            <a:endParaRPr lang="en-US" sz="1200" dirty="0"/>
          </a:p>
          <a:p>
            <a:pPr marL="0" indent="0" algn="ctr">
              <a:buNone/>
            </a:pPr>
            <a:r>
              <a:rPr lang="en-US" sz="1500" b="1" dirty="0">
                <a:solidFill>
                  <a:srgbClr val="FFFFFF"/>
                </a:solidFill>
                <a:latin typeface="Calibri" pitchFamily="34" charset="0"/>
                <a:ea typeface="Calibri" pitchFamily="34" charset="-122"/>
                <a:cs typeface="Calibri" pitchFamily="34" charset="-120"/>
              </a:rPr>
              <a:t>Diabetes status</a:t>
            </a:r>
            <a:endParaRPr lang="en-US" sz="1200" dirty="0"/>
          </a:p>
        </p:txBody>
      </p:sp>
      <p:sp>
        <p:nvSpPr>
          <p:cNvPr id="50" name="Shape 47"/>
          <p:cNvSpPr/>
          <p:nvPr/>
        </p:nvSpPr>
        <p:spPr>
          <a:xfrm>
            <a:off x="2377440" y="3474720"/>
            <a:ext cx="2103120" cy="1280160"/>
          </a:xfrm>
          <a:prstGeom prst="roundRect">
            <a:avLst>
              <a:gd name="adj" fmla="val 5714"/>
            </a:avLst>
          </a:prstGeom>
          <a:solidFill>
            <a:srgbClr val="FFFFFF"/>
          </a:solidFill>
          <a:ln w="9525">
            <a:solidFill>
              <a:srgbClr val="DCE4EA"/>
            </a:solidFill>
            <a:prstDash val="solid"/>
          </a:ln>
        </p:spPr>
      </p:sp>
      <p:sp>
        <p:nvSpPr>
          <p:cNvPr id="51" name="Text 48"/>
          <p:cNvSpPr txBox="1"/>
          <p:nvPr/>
        </p:nvSpPr>
        <p:spPr>
          <a:xfrm>
            <a:off x="2487168" y="358444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Train four models</a:t>
            </a:r>
            <a:endParaRPr lang="en-US" sz="1300" dirty="0"/>
          </a:p>
        </p:txBody>
      </p:sp>
      <p:sp>
        <p:nvSpPr>
          <p:cNvPr id="52" name="Text 49"/>
          <p:cNvSpPr txBox="1"/>
          <p:nvPr/>
        </p:nvSpPr>
        <p:spPr>
          <a:xfrm>
            <a:off x="2487168" y="406908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80% of cleaned records (183,824)</a:t>
            </a:r>
            <a:endParaRPr lang="en-US" sz="1150" dirty="0"/>
          </a:p>
        </p:txBody>
      </p:sp>
      <p:sp>
        <p:nvSpPr>
          <p:cNvPr id="53" name="Shape 50"/>
          <p:cNvSpPr/>
          <p:nvPr/>
        </p:nvSpPr>
        <p:spPr>
          <a:xfrm>
            <a:off x="4507992" y="3977640"/>
            <a:ext cx="259994" cy="274320"/>
          </a:xfrm>
          <a:prstGeom prst="rightArrow">
            <a:avLst/>
          </a:prstGeom>
          <a:solidFill>
            <a:srgbClr val="0B2545"/>
          </a:solidFill>
          <a:ln w="12700">
            <a:solidFill>
              <a:srgbClr val="0B2545"/>
            </a:solidFill>
            <a:prstDash val="solid"/>
          </a:ln>
        </p:spPr>
      </p:sp>
      <p:sp>
        <p:nvSpPr>
          <p:cNvPr id="54" name="Shape 51"/>
          <p:cNvSpPr/>
          <p:nvPr/>
        </p:nvSpPr>
        <p:spPr>
          <a:xfrm>
            <a:off x="4795418" y="3474720"/>
            <a:ext cx="2103120" cy="1280160"/>
          </a:xfrm>
          <a:prstGeom prst="roundRect">
            <a:avLst>
              <a:gd name="adj" fmla="val 5714"/>
            </a:avLst>
          </a:prstGeom>
          <a:solidFill>
            <a:srgbClr val="FFFFFF"/>
          </a:solidFill>
          <a:ln w="9525">
            <a:solidFill>
              <a:srgbClr val="DCE4EA"/>
            </a:solidFill>
            <a:prstDash val="solid"/>
          </a:ln>
        </p:spPr>
      </p:sp>
      <p:sp>
        <p:nvSpPr>
          <p:cNvPr id="55" name="Text 52"/>
          <p:cNvSpPr txBox="1"/>
          <p:nvPr/>
        </p:nvSpPr>
        <p:spPr>
          <a:xfrm>
            <a:off x="4905146" y="358444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3-fold stratified CV</a:t>
            </a:r>
            <a:endParaRPr lang="en-US" sz="1300" dirty="0"/>
          </a:p>
        </p:txBody>
      </p:sp>
      <p:sp>
        <p:nvSpPr>
          <p:cNvPr id="56" name="Text 53"/>
          <p:cNvSpPr txBox="1"/>
          <p:nvPr/>
        </p:nvSpPr>
        <p:spPr>
          <a:xfrm>
            <a:off x="4905146" y="406908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Macro F1 on the training set</a:t>
            </a:r>
            <a:endParaRPr lang="en-US" sz="1150" dirty="0"/>
          </a:p>
        </p:txBody>
      </p:sp>
      <p:sp>
        <p:nvSpPr>
          <p:cNvPr id="57" name="Shape 54"/>
          <p:cNvSpPr/>
          <p:nvPr/>
        </p:nvSpPr>
        <p:spPr>
          <a:xfrm>
            <a:off x="6925970" y="3977640"/>
            <a:ext cx="259994" cy="274320"/>
          </a:xfrm>
          <a:prstGeom prst="rightArrow">
            <a:avLst/>
          </a:prstGeom>
          <a:solidFill>
            <a:srgbClr val="0B2545"/>
          </a:solidFill>
          <a:ln w="12700">
            <a:solidFill>
              <a:srgbClr val="0B2545"/>
            </a:solidFill>
            <a:prstDash val="solid"/>
          </a:ln>
        </p:spPr>
      </p:sp>
      <p:sp>
        <p:nvSpPr>
          <p:cNvPr id="58" name="Shape 55"/>
          <p:cNvSpPr/>
          <p:nvPr/>
        </p:nvSpPr>
        <p:spPr>
          <a:xfrm>
            <a:off x="7213397" y="3474720"/>
            <a:ext cx="2103120" cy="1280160"/>
          </a:xfrm>
          <a:prstGeom prst="roundRect">
            <a:avLst>
              <a:gd name="adj" fmla="val 5714"/>
            </a:avLst>
          </a:prstGeom>
          <a:solidFill>
            <a:srgbClr val="FFFFFF"/>
          </a:solidFill>
          <a:ln w="9525">
            <a:solidFill>
              <a:srgbClr val="DCE4EA"/>
            </a:solidFill>
            <a:prstDash val="solid"/>
          </a:ln>
        </p:spPr>
      </p:sp>
      <p:sp>
        <p:nvSpPr>
          <p:cNvPr id="59" name="Text 56"/>
          <p:cNvSpPr txBox="1"/>
          <p:nvPr/>
        </p:nvSpPr>
        <p:spPr>
          <a:xfrm>
            <a:off x="7323125" y="358444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Test evaluation</a:t>
            </a:r>
            <a:endParaRPr lang="en-US" sz="1300" dirty="0"/>
          </a:p>
        </p:txBody>
      </p:sp>
      <p:sp>
        <p:nvSpPr>
          <p:cNvPr id="60" name="Text 57"/>
          <p:cNvSpPr txBox="1"/>
          <p:nvPr/>
        </p:nvSpPr>
        <p:spPr>
          <a:xfrm>
            <a:off x="7323125" y="406908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45,957 held-out records</a:t>
            </a:r>
            <a:endParaRPr lang="en-US" sz="1150" dirty="0"/>
          </a:p>
        </p:txBody>
      </p:sp>
      <p:sp>
        <p:nvSpPr>
          <p:cNvPr id="61" name="Shape 58"/>
          <p:cNvSpPr/>
          <p:nvPr/>
        </p:nvSpPr>
        <p:spPr>
          <a:xfrm>
            <a:off x="9343949" y="3977640"/>
            <a:ext cx="259994" cy="274320"/>
          </a:xfrm>
          <a:prstGeom prst="rightArrow">
            <a:avLst/>
          </a:prstGeom>
          <a:solidFill>
            <a:srgbClr val="0B2545"/>
          </a:solidFill>
          <a:ln w="12700">
            <a:solidFill>
              <a:srgbClr val="0B2545"/>
            </a:solidFill>
            <a:prstDash val="solid"/>
          </a:ln>
        </p:spPr>
      </p:sp>
      <p:sp>
        <p:nvSpPr>
          <p:cNvPr id="62" name="Shape 59"/>
          <p:cNvSpPr/>
          <p:nvPr/>
        </p:nvSpPr>
        <p:spPr>
          <a:xfrm>
            <a:off x="9631375" y="3474720"/>
            <a:ext cx="2103120" cy="1280160"/>
          </a:xfrm>
          <a:prstGeom prst="roundRect">
            <a:avLst>
              <a:gd name="adj" fmla="val 5714"/>
            </a:avLst>
          </a:prstGeom>
          <a:solidFill>
            <a:srgbClr val="FFFFFF"/>
          </a:solidFill>
          <a:ln w="9525">
            <a:solidFill>
              <a:srgbClr val="DCE4EA"/>
            </a:solidFill>
            <a:prstDash val="solid"/>
          </a:ln>
        </p:spPr>
      </p:sp>
      <p:sp>
        <p:nvSpPr>
          <p:cNvPr id="63" name="Text 60"/>
          <p:cNvSpPr txBox="1"/>
          <p:nvPr/>
        </p:nvSpPr>
        <p:spPr>
          <a:xfrm>
            <a:off x="9741103" y="358444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SHAP</a:t>
            </a:r>
            <a:endParaRPr lang="en-US" sz="1300" dirty="0"/>
          </a:p>
        </p:txBody>
      </p:sp>
      <p:sp>
        <p:nvSpPr>
          <p:cNvPr id="64" name="Text 61"/>
          <p:cNvSpPr txBox="1"/>
          <p:nvPr/>
        </p:nvSpPr>
        <p:spPr>
          <a:xfrm>
            <a:off x="9741103" y="406908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Random Forest, sampled records</a:t>
            </a:r>
            <a:endParaRPr lang="en-US" sz="1150" dirty="0"/>
          </a:p>
        </p:txBody>
      </p:sp>
      <p:sp>
        <p:nvSpPr>
          <p:cNvPr id="65" name="Shape 62"/>
          <p:cNvSpPr/>
          <p:nvPr/>
        </p:nvSpPr>
        <p:spPr>
          <a:xfrm>
            <a:off x="457200" y="4937760"/>
            <a:ext cx="1737360" cy="1280160"/>
          </a:xfrm>
          <a:prstGeom prst="roundRect">
            <a:avLst>
              <a:gd name="adj" fmla="val 5714"/>
            </a:avLst>
          </a:prstGeom>
          <a:solidFill>
            <a:srgbClr val="0E8C8C"/>
          </a:solidFill>
          <a:ln w="12700">
            <a:solidFill>
              <a:srgbClr val="0E8C8C"/>
            </a:solidFill>
            <a:prstDash val="solid"/>
          </a:ln>
        </p:spPr>
      </p:sp>
      <p:sp>
        <p:nvSpPr>
          <p:cNvPr id="66" name="Text 63"/>
          <p:cNvSpPr txBox="1"/>
          <p:nvPr/>
        </p:nvSpPr>
        <p:spPr>
          <a:xfrm>
            <a:off x="548640" y="4937760"/>
            <a:ext cx="1554480" cy="1280160"/>
          </a:xfrm>
          <a:prstGeom prst="rect">
            <a:avLst/>
          </a:prstGeom>
          <a:noFill/>
          <a:ln/>
        </p:spPr>
        <p:txBody>
          <a:bodyPr wrap="square" lIns="0" tIns="0" rIns="0" bIns="0" rtlCol="0" anchor="ctr"/>
          <a:lstStyle/>
          <a:p>
            <a:pPr marL="0" indent="0" algn="ctr">
              <a:buNone/>
            </a:pPr>
            <a:r>
              <a:rPr lang="en-US" sz="1200" b="1" dirty="0">
                <a:solidFill>
                  <a:srgbClr val="CFE3F0"/>
                </a:solidFill>
                <a:latin typeface="Calibri" pitchFamily="34" charset="0"/>
                <a:ea typeface="Calibri" pitchFamily="34" charset="-122"/>
                <a:cs typeface="Calibri" pitchFamily="34" charset="-120"/>
              </a:rPr>
              <a:t>Task B</a:t>
            </a:r>
            <a:endParaRPr lang="en-US" sz="1200" dirty="0"/>
          </a:p>
          <a:p>
            <a:pPr marL="0" indent="0" algn="ctr">
              <a:buNone/>
            </a:pPr>
            <a:r>
              <a:rPr lang="en-US" sz="1500" b="1" dirty="0">
                <a:solidFill>
                  <a:srgbClr val="FFFFFF"/>
                </a:solidFill>
                <a:latin typeface="Calibri" pitchFamily="34" charset="0"/>
                <a:ea typeface="Calibri" pitchFamily="34" charset="-122"/>
                <a:cs typeface="Calibri" pitchFamily="34" charset="-120"/>
              </a:rPr>
              <a:t>30-day readmission</a:t>
            </a:r>
            <a:endParaRPr lang="en-US" sz="1200" dirty="0"/>
          </a:p>
        </p:txBody>
      </p:sp>
      <p:sp>
        <p:nvSpPr>
          <p:cNvPr id="67" name="Shape 64"/>
          <p:cNvSpPr/>
          <p:nvPr/>
        </p:nvSpPr>
        <p:spPr>
          <a:xfrm>
            <a:off x="2377440" y="4937760"/>
            <a:ext cx="2103120" cy="1280160"/>
          </a:xfrm>
          <a:prstGeom prst="roundRect">
            <a:avLst>
              <a:gd name="adj" fmla="val 5714"/>
            </a:avLst>
          </a:prstGeom>
          <a:solidFill>
            <a:srgbClr val="FFFFFF"/>
          </a:solidFill>
          <a:ln w="9525">
            <a:solidFill>
              <a:srgbClr val="DCE4EA"/>
            </a:solidFill>
            <a:prstDash val="solid"/>
          </a:ln>
        </p:spPr>
      </p:sp>
      <p:sp>
        <p:nvSpPr>
          <p:cNvPr id="68" name="Text 65"/>
          <p:cNvSpPr txBox="1"/>
          <p:nvPr/>
        </p:nvSpPr>
        <p:spPr>
          <a:xfrm>
            <a:off x="2487168" y="504748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Train four models</a:t>
            </a:r>
            <a:endParaRPr lang="en-US" sz="1300" dirty="0"/>
          </a:p>
        </p:txBody>
      </p:sp>
      <p:sp>
        <p:nvSpPr>
          <p:cNvPr id="69" name="Text 66"/>
          <p:cNvSpPr txBox="1"/>
          <p:nvPr/>
        </p:nvSpPr>
        <p:spPr>
          <a:xfrm>
            <a:off x="2487168" y="553212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81,412 training encounters</a:t>
            </a:r>
            <a:endParaRPr lang="en-US" sz="1150" dirty="0"/>
          </a:p>
        </p:txBody>
      </p:sp>
      <p:sp>
        <p:nvSpPr>
          <p:cNvPr id="70" name="Shape 67"/>
          <p:cNvSpPr/>
          <p:nvPr/>
        </p:nvSpPr>
        <p:spPr>
          <a:xfrm>
            <a:off x="4507992" y="5440680"/>
            <a:ext cx="259994" cy="274320"/>
          </a:xfrm>
          <a:prstGeom prst="rightArrow">
            <a:avLst/>
          </a:prstGeom>
          <a:solidFill>
            <a:srgbClr val="0E8C8C"/>
          </a:solidFill>
          <a:ln w="12700">
            <a:solidFill>
              <a:srgbClr val="0E8C8C"/>
            </a:solidFill>
            <a:prstDash val="solid"/>
          </a:ln>
        </p:spPr>
      </p:sp>
      <p:sp>
        <p:nvSpPr>
          <p:cNvPr id="71" name="Shape 68"/>
          <p:cNvSpPr/>
          <p:nvPr/>
        </p:nvSpPr>
        <p:spPr>
          <a:xfrm>
            <a:off x="4795418" y="4937760"/>
            <a:ext cx="2103120" cy="1280160"/>
          </a:xfrm>
          <a:prstGeom prst="roundRect">
            <a:avLst>
              <a:gd name="adj" fmla="val 5714"/>
            </a:avLst>
          </a:prstGeom>
          <a:solidFill>
            <a:srgbClr val="FFFFFF"/>
          </a:solidFill>
          <a:ln w="9525">
            <a:solidFill>
              <a:srgbClr val="DCE4EA"/>
            </a:solidFill>
            <a:prstDash val="solid"/>
          </a:ln>
        </p:spPr>
      </p:sp>
      <p:sp>
        <p:nvSpPr>
          <p:cNvPr id="72" name="Text 69"/>
          <p:cNvSpPr txBox="1"/>
          <p:nvPr/>
        </p:nvSpPr>
        <p:spPr>
          <a:xfrm>
            <a:off x="4905146" y="504748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Class-weighted Random Forest</a:t>
            </a:r>
            <a:endParaRPr lang="en-US" sz="1300" dirty="0"/>
          </a:p>
        </p:txBody>
      </p:sp>
      <p:sp>
        <p:nvSpPr>
          <p:cNvPr id="73" name="Text 70"/>
          <p:cNvSpPr txBox="1"/>
          <p:nvPr/>
        </p:nvSpPr>
        <p:spPr>
          <a:xfrm>
            <a:off x="4905146" y="553212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balanced_subsample, min leaf size 2</a:t>
            </a:r>
            <a:endParaRPr lang="en-US" sz="1150" dirty="0"/>
          </a:p>
        </p:txBody>
      </p:sp>
      <p:sp>
        <p:nvSpPr>
          <p:cNvPr id="74" name="Shape 71"/>
          <p:cNvSpPr/>
          <p:nvPr/>
        </p:nvSpPr>
        <p:spPr>
          <a:xfrm>
            <a:off x="6925970" y="5440680"/>
            <a:ext cx="259994" cy="274320"/>
          </a:xfrm>
          <a:prstGeom prst="rightArrow">
            <a:avLst/>
          </a:prstGeom>
          <a:solidFill>
            <a:srgbClr val="0E8C8C"/>
          </a:solidFill>
          <a:ln w="12700">
            <a:solidFill>
              <a:srgbClr val="0E8C8C"/>
            </a:solidFill>
            <a:prstDash val="solid"/>
          </a:ln>
        </p:spPr>
      </p:sp>
      <p:sp>
        <p:nvSpPr>
          <p:cNvPr id="75" name="Shape 72"/>
          <p:cNvSpPr/>
          <p:nvPr/>
        </p:nvSpPr>
        <p:spPr>
          <a:xfrm>
            <a:off x="7213397" y="4937760"/>
            <a:ext cx="2103120" cy="1280160"/>
          </a:xfrm>
          <a:prstGeom prst="roundRect">
            <a:avLst>
              <a:gd name="adj" fmla="val 5714"/>
            </a:avLst>
          </a:prstGeom>
          <a:solidFill>
            <a:srgbClr val="FFFFFF"/>
          </a:solidFill>
          <a:ln w="9525">
            <a:solidFill>
              <a:srgbClr val="DCE4EA"/>
            </a:solidFill>
            <a:prstDash val="solid"/>
          </a:ln>
        </p:spPr>
      </p:sp>
      <p:sp>
        <p:nvSpPr>
          <p:cNvPr id="76" name="Text 73"/>
          <p:cNvSpPr txBox="1"/>
          <p:nvPr/>
        </p:nvSpPr>
        <p:spPr>
          <a:xfrm>
            <a:off x="7323125" y="504748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Threshold from validation</a:t>
            </a:r>
            <a:endParaRPr lang="en-US" sz="1300" dirty="0"/>
          </a:p>
        </p:txBody>
      </p:sp>
      <p:sp>
        <p:nvSpPr>
          <p:cNvPr id="77" name="Text 74"/>
          <p:cNvSpPr txBox="1"/>
          <p:nvPr/>
        </p:nvSpPr>
        <p:spPr>
          <a:xfrm>
            <a:off x="7323125" y="553212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Grid 0.10 to 0.60, best F1 at 0.40</a:t>
            </a:r>
            <a:endParaRPr lang="en-US" sz="1150" dirty="0"/>
          </a:p>
        </p:txBody>
      </p:sp>
      <p:sp>
        <p:nvSpPr>
          <p:cNvPr id="78" name="Shape 75"/>
          <p:cNvSpPr/>
          <p:nvPr/>
        </p:nvSpPr>
        <p:spPr>
          <a:xfrm>
            <a:off x="9343949" y="5440680"/>
            <a:ext cx="259994" cy="274320"/>
          </a:xfrm>
          <a:prstGeom prst="rightArrow">
            <a:avLst/>
          </a:prstGeom>
          <a:solidFill>
            <a:srgbClr val="0E8C8C"/>
          </a:solidFill>
          <a:ln w="12700">
            <a:solidFill>
              <a:srgbClr val="0E8C8C"/>
            </a:solidFill>
            <a:prstDash val="solid"/>
          </a:ln>
        </p:spPr>
      </p:sp>
      <p:sp>
        <p:nvSpPr>
          <p:cNvPr id="79" name="Shape 76"/>
          <p:cNvSpPr/>
          <p:nvPr/>
        </p:nvSpPr>
        <p:spPr>
          <a:xfrm>
            <a:off x="9631375" y="4937760"/>
            <a:ext cx="2103120" cy="1280160"/>
          </a:xfrm>
          <a:prstGeom prst="roundRect">
            <a:avLst>
              <a:gd name="adj" fmla="val 5714"/>
            </a:avLst>
          </a:prstGeom>
          <a:solidFill>
            <a:srgbClr val="FFFFFF"/>
          </a:solidFill>
          <a:ln w="9525">
            <a:solidFill>
              <a:srgbClr val="DCE4EA"/>
            </a:solidFill>
            <a:prstDash val="solid"/>
          </a:ln>
        </p:spPr>
      </p:sp>
      <p:sp>
        <p:nvSpPr>
          <p:cNvPr id="80" name="Text 77"/>
          <p:cNvSpPr txBox="1"/>
          <p:nvPr/>
        </p:nvSpPr>
        <p:spPr>
          <a:xfrm>
            <a:off x="9741103" y="5047488"/>
            <a:ext cx="1883664" cy="411480"/>
          </a:xfrm>
          <a:prstGeom prst="rect">
            <a:avLst/>
          </a:prstGeom>
          <a:noFill/>
          <a:ln/>
        </p:spPr>
        <p:txBody>
          <a:bodyPr wrap="square" lIns="0" tIns="0" rIns="0" bIns="0" rtlCol="0" anchor="t"/>
          <a:lstStyle/>
          <a:p>
            <a:pPr marL="0" indent="0">
              <a:buNone/>
            </a:pPr>
            <a:r>
              <a:rPr lang="en-US" sz="1300" b="1" dirty="0">
                <a:solidFill>
                  <a:srgbClr val="0B2545"/>
                </a:solidFill>
                <a:latin typeface="Calibri" pitchFamily="34" charset="0"/>
                <a:ea typeface="Calibri" pitchFamily="34" charset="-122"/>
                <a:cs typeface="Calibri" pitchFamily="34" charset="-120"/>
              </a:rPr>
              <a:t>Final test evaluation</a:t>
            </a:r>
            <a:endParaRPr lang="en-US" sz="1300" dirty="0"/>
          </a:p>
        </p:txBody>
      </p:sp>
      <p:sp>
        <p:nvSpPr>
          <p:cNvPr id="81" name="Text 78"/>
          <p:cNvSpPr txBox="1"/>
          <p:nvPr/>
        </p:nvSpPr>
        <p:spPr>
          <a:xfrm>
            <a:off x="9741103" y="5532120"/>
            <a:ext cx="1883664" cy="594360"/>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20,354 untouched encounters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Machine Learning Models and Ensemble Design</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Four models per task, plus a class-weighted Random Forest with a tuned threshold for readmission</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457200" y="1371600"/>
            <a:ext cx="2103120" cy="3611880"/>
          </a:xfrm>
          <a:prstGeom prst="roundRect">
            <a:avLst>
              <a:gd name="adj" fmla="val 3478"/>
            </a:avLst>
          </a:prstGeom>
          <a:solidFill>
            <a:srgbClr val="FFFFFF"/>
          </a:solidFill>
          <a:ln w="9525">
            <a:solidFill>
              <a:srgbClr val="DCE4EA"/>
            </a:solidFill>
            <a:prstDash val="solid"/>
          </a:ln>
        </p:spPr>
      </p:sp>
      <p:sp>
        <p:nvSpPr>
          <p:cNvPr id="8" name="Shape 5"/>
          <p:cNvSpPr/>
          <p:nvPr/>
        </p:nvSpPr>
        <p:spPr>
          <a:xfrm>
            <a:off x="594360" y="1508760"/>
            <a:ext cx="365760" cy="365760"/>
          </a:xfrm>
          <a:prstGeom prst="ellipse">
            <a:avLst/>
          </a:prstGeom>
          <a:solidFill>
            <a:srgbClr val="0E8C8C"/>
          </a:solidFill>
          <a:ln w="12700">
            <a:solidFill>
              <a:srgbClr val="0E8C8C"/>
            </a:solidFill>
            <a:prstDash val="solid"/>
          </a:ln>
        </p:spPr>
      </p:sp>
      <p:sp>
        <p:nvSpPr>
          <p:cNvPr id="9" name="Text 6"/>
          <p:cNvSpPr txBox="1"/>
          <p:nvPr/>
        </p:nvSpPr>
        <p:spPr>
          <a:xfrm>
            <a:off x="594360" y="15087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594360" y="1965960"/>
            <a:ext cx="1828800"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Logistic Regression</a:t>
            </a:r>
            <a:endParaRPr lang="en-US" sz="1500" dirty="0"/>
          </a:p>
        </p:txBody>
      </p:sp>
      <p:sp>
        <p:nvSpPr>
          <p:cNvPr id="11" name="Text 8"/>
          <p:cNvSpPr txBox="1"/>
          <p:nvPr/>
        </p:nvSpPr>
        <p:spPr>
          <a:xfrm>
            <a:off x="594360" y="2542032"/>
            <a:ext cx="1828800" cy="274320"/>
          </a:xfrm>
          <a:prstGeom prst="rect">
            <a:avLst/>
          </a:prstGeom>
          <a:noFill/>
          <a:ln/>
        </p:spPr>
        <p:txBody>
          <a:bodyPr wrap="square" lIns="0" tIns="0" rIns="0" bIns="0" rtlCol="0" anchor="ctr"/>
          <a:lstStyle/>
          <a:p>
            <a:pPr marL="0" indent="0">
              <a:buNone/>
            </a:pPr>
            <a:r>
              <a:rPr lang="en-US" sz="1200" i="1" dirty="0">
                <a:solidFill>
                  <a:srgbClr val="0E8C8C"/>
                </a:solidFill>
                <a:latin typeface="Calibri" pitchFamily="34" charset="0"/>
                <a:ea typeface="Calibri" pitchFamily="34" charset="-122"/>
                <a:cs typeface="Calibri" pitchFamily="34" charset="-120"/>
              </a:rPr>
              <a:t>Linear baseline</a:t>
            </a:r>
            <a:endParaRPr lang="en-US" sz="1200" dirty="0"/>
          </a:p>
        </p:txBody>
      </p:sp>
      <p:sp>
        <p:nvSpPr>
          <p:cNvPr id="12" name="Text 9"/>
          <p:cNvSpPr txBox="1"/>
          <p:nvPr/>
        </p:nvSpPr>
        <p:spPr>
          <a:xfrm>
            <a:off x="594360" y="2880360"/>
            <a:ext cx="1828800" cy="12344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Estimates class probability from a weighted sum of features. Simple, fast and easy to interpret.</a:t>
            </a:r>
            <a:endParaRPr lang="en-US" sz="1300" dirty="0"/>
          </a:p>
        </p:txBody>
      </p:sp>
      <p:sp>
        <p:nvSpPr>
          <p:cNvPr id="13" name="Text 10"/>
          <p:cNvSpPr txBox="1"/>
          <p:nvPr/>
        </p:nvSpPr>
        <p:spPr>
          <a:xfrm>
            <a:off x="594360" y="4160520"/>
            <a:ext cx="1828800" cy="731520"/>
          </a:xfrm>
          <a:prstGeom prst="rect">
            <a:avLst/>
          </a:prstGeom>
          <a:noFill/>
          <a:ln/>
        </p:spPr>
        <p:txBody>
          <a:bodyPr wrap="square" lIns="0" tIns="0" rIns="0" bIns="0" rtlCol="0" anchor="t"/>
          <a:lstStyle/>
          <a:p>
            <a:pPr marL="0" indent="0">
              <a:buNone/>
            </a:pPr>
            <a:r>
              <a:rPr lang="en-US" sz="1150" b="1" dirty="0">
                <a:solidFill>
                  <a:srgbClr val="5B6B7A"/>
                </a:solidFill>
                <a:latin typeface="Calibri" pitchFamily="34" charset="0"/>
                <a:ea typeface="Calibri" pitchFamily="34" charset="-122"/>
                <a:cs typeface="Calibri" pitchFamily="34" charset="-120"/>
              </a:rPr>
              <a:t>Balanced class weights, max 1000 iterations</a:t>
            </a:r>
            <a:endParaRPr lang="en-US" sz="1150" dirty="0"/>
          </a:p>
        </p:txBody>
      </p:sp>
      <p:sp>
        <p:nvSpPr>
          <p:cNvPr id="14" name="Shape 11"/>
          <p:cNvSpPr/>
          <p:nvPr/>
        </p:nvSpPr>
        <p:spPr>
          <a:xfrm>
            <a:off x="2750744" y="1371600"/>
            <a:ext cx="2103120" cy="3611880"/>
          </a:xfrm>
          <a:prstGeom prst="roundRect">
            <a:avLst>
              <a:gd name="adj" fmla="val 3478"/>
            </a:avLst>
          </a:prstGeom>
          <a:solidFill>
            <a:srgbClr val="FFFFFF"/>
          </a:solidFill>
          <a:ln w="9525">
            <a:solidFill>
              <a:srgbClr val="DCE4EA"/>
            </a:solidFill>
            <a:prstDash val="solid"/>
          </a:ln>
        </p:spPr>
      </p:sp>
      <p:sp>
        <p:nvSpPr>
          <p:cNvPr id="15" name="Shape 12"/>
          <p:cNvSpPr/>
          <p:nvPr/>
        </p:nvSpPr>
        <p:spPr>
          <a:xfrm>
            <a:off x="2887904" y="1508760"/>
            <a:ext cx="365760" cy="365760"/>
          </a:xfrm>
          <a:prstGeom prst="ellipse">
            <a:avLst/>
          </a:prstGeom>
          <a:solidFill>
            <a:srgbClr val="0E8C8C"/>
          </a:solidFill>
          <a:ln w="12700">
            <a:solidFill>
              <a:srgbClr val="0E8C8C"/>
            </a:solidFill>
            <a:prstDash val="solid"/>
          </a:ln>
        </p:spPr>
      </p:sp>
      <p:sp>
        <p:nvSpPr>
          <p:cNvPr id="16" name="Text 13"/>
          <p:cNvSpPr txBox="1"/>
          <p:nvPr/>
        </p:nvSpPr>
        <p:spPr>
          <a:xfrm>
            <a:off x="2887904" y="15087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2887904" y="1965960"/>
            <a:ext cx="1828800"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Random Forest</a:t>
            </a:r>
            <a:endParaRPr lang="en-US" sz="1500" dirty="0"/>
          </a:p>
        </p:txBody>
      </p:sp>
      <p:sp>
        <p:nvSpPr>
          <p:cNvPr id="18" name="Text 15"/>
          <p:cNvSpPr txBox="1"/>
          <p:nvPr/>
        </p:nvSpPr>
        <p:spPr>
          <a:xfrm>
            <a:off x="2887904" y="2542032"/>
            <a:ext cx="1828800" cy="274320"/>
          </a:xfrm>
          <a:prstGeom prst="rect">
            <a:avLst/>
          </a:prstGeom>
          <a:noFill/>
          <a:ln/>
        </p:spPr>
        <p:txBody>
          <a:bodyPr wrap="square" lIns="0" tIns="0" rIns="0" bIns="0" rtlCol="0" anchor="ctr"/>
          <a:lstStyle/>
          <a:p>
            <a:pPr marL="0" indent="0">
              <a:buNone/>
            </a:pPr>
            <a:r>
              <a:rPr lang="en-US" sz="1200" i="1" dirty="0">
                <a:solidFill>
                  <a:srgbClr val="0E8C8C"/>
                </a:solidFill>
                <a:latin typeface="Calibri" pitchFamily="34" charset="0"/>
                <a:ea typeface="Calibri" pitchFamily="34" charset="-122"/>
                <a:cs typeface="Calibri" pitchFamily="34" charset="-120"/>
              </a:rPr>
              <a:t>Bagged decision trees</a:t>
            </a:r>
            <a:endParaRPr lang="en-US" sz="1200" dirty="0"/>
          </a:p>
        </p:txBody>
      </p:sp>
      <p:sp>
        <p:nvSpPr>
          <p:cNvPr id="19" name="Text 16"/>
          <p:cNvSpPr txBox="1"/>
          <p:nvPr/>
        </p:nvSpPr>
        <p:spPr>
          <a:xfrm>
            <a:off x="2887904" y="2880360"/>
            <a:ext cx="1828800" cy="12344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Averages many trees trained on bootstrap samples. Captures non-linear effects and interactions.</a:t>
            </a:r>
            <a:endParaRPr lang="en-US" sz="1300" dirty="0"/>
          </a:p>
        </p:txBody>
      </p:sp>
      <p:sp>
        <p:nvSpPr>
          <p:cNvPr id="20" name="Text 17"/>
          <p:cNvSpPr txBox="1"/>
          <p:nvPr/>
        </p:nvSpPr>
        <p:spPr>
          <a:xfrm>
            <a:off x="2887904" y="4160520"/>
            <a:ext cx="1828800" cy="731520"/>
          </a:xfrm>
          <a:prstGeom prst="rect">
            <a:avLst/>
          </a:prstGeom>
          <a:noFill/>
          <a:ln/>
        </p:spPr>
        <p:txBody>
          <a:bodyPr wrap="square" lIns="0" tIns="0" rIns="0" bIns="0" rtlCol="0" anchor="t"/>
          <a:lstStyle/>
          <a:p>
            <a:pPr marL="0" indent="0">
              <a:buNone/>
            </a:pPr>
            <a:r>
              <a:rPr lang="en-US" sz="1150" b="1" dirty="0">
                <a:solidFill>
                  <a:srgbClr val="5B6B7A"/>
                </a:solidFill>
                <a:latin typeface="Calibri" pitchFamily="34" charset="0"/>
                <a:ea typeface="Calibri" pitchFamily="34" charset="-122"/>
                <a:cs typeface="Calibri" pitchFamily="34" charset="-120"/>
              </a:rPr>
              <a:t>100 trees, balanced class weights</a:t>
            </a:r>
            <a:endParaRPr lang="en-US" sz="1150" dirty="0"/>
          </a:p>
        </p:txBody>
      </p:sp>
      <p:sp>
        <p:nvSpPr>
          <p:cNvPr id="21" name="Shape 18"/>
          <p:cNvSpPr/>
          <p:nvPr/>
        </p:nvSpPr>
        <p:spPr>
          <a:xfrm>
            <a:off x="5044288" y="1371600"/>
            <a:ext cx="2103120" cy="3611880"/>
          </a:xfrm>
          <a:prstGeom prst="roundRect">
            <a:avLst>
              <a:gd name="adj" fmla="val 3478"/>
            </a:avLst>
          </a:prstGeom>
          <a:solidFill>
            <a:srgbClr val="FFFFFF"/>
          </a:solidFill>
          <a:ln w="9525">
            <a:solidFill>
              <a:srgbClr val="DCE4EA"/>
            </a:solidFill>
            <a:prstDash val="solid"/>
          </a:ln>
        </p:spPr>
      </p:sp>
      <p:sp>
        <p:nvSpPr>
          <p:cNvPr id="22" name="Shape 19"/>
          <p:cNvSpPr/>
          <p:nvPr/>
        </p:nvSpPr>
        <p:spPr>
          <a:xfrm>
            <a:off x="5181448" y="1508760"/>
            <a:ext cx="365760" cy="365760"/>
          </a:xfrm>
          <a:prstGeom prst="ellipse">
            <a:avLst/>
          </a:prstGeom>
          <a:solidFill>
            <a:srgbClr val="0E8C8C"/>
          </a:solidFill>
          <a:ln w="12700">
            <a:solidFill>
              <a:srgbClr val="0E8C8C"/>
            </a:solidFill>
            <a:prstDash val="solid"/>
          </a:ln>
        </p:spPr>
      </p:sp>
      <p:sp>
        <p:nvSpPr>
          <p:cNvPr id="23" name="Text 20"/>
          <p:cNvSpPr txBox="1"/>
          <p:nvPr/>
        </p:nvSpPr>
        <p:spPr>
          <a:xfrm>
            <a:off x="5181448" y="15087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1"/>
          <p:cNvSpPr txBox="1"/>
          <p:nvPr/>
        </p:nvSpPr>
        <p:spPr>
          <a:xfrm>
            <a:off x="5181448" y="1965960"/>
            <a:ext cx="1828800"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Extra Trees</a:t>
            </a:r>
            <a:endParaRPr lang="en-US" sz="1500" dirty="0"/>
          </a:p>
        </p:txBody>
      </p:sp>
      <p:sp>
        <p:nvSpPr>
          <p:cNvPr id="25" name="Text 22"/>
          <p:cNvSpPr txBox="1"/>
          <p:nvPr/>
        </p:nvSpPr>
        <p:spPr>
          <a:xfrm>
            <a:off x="5181448" y="2542032"/>
            <a:ext cx="1828800" cy="274320"/>
          </a:xfrm>
          <a:prstGeom prst="rect">
            <a:avLst/>
          </a:prstGeom>
          <a:noFill/>
          <a:ln/>
        </p:spPr>
        <p:txBody>
          <a:bodyPr wrap="square" lIns="0" tIns="0" rIns="0" bIns="0" rtlCol="0" anchor="ctr"/>
          <a:lstStyle/>
          <a:p>
            <a:pPr marL="0" indent="0">
              <a:buNone/>
            </a:pPr>
            <a:r>
              <a:rPr lang="en-US" sz="1200" i="1" dirty="0">
                <a:solidFill>
                  <a:srgbClr val="0E8C8C"/>
                </a:solidFill>
                <a:latin typeface="Calibri" pitchFamily="34" charset="0"/>
                <a:ea typeface="Calibri" pitchFamily="34" charset="-122"/>
                <a:cs typeface="Calibri" pitchFamily="34" charset="-120"/>
              </a:rPr>
              <a:t>Randomised trees</a:t>
            </a:r>
            <a:endParaRPr lang="en-US" sz="1200" dirty="0"/>
          </a:p>
        </p:txBody>
      </p:sp>
      <p:sp>
        <p:nvSpPr>
          <p:cNvPr id="26" name="Text 23"/>
          <p:cNvSpPr txBox="1"/>
          <p:nvPr/>
        </p:nvSpPr>
        <p:spPr>
          <a:xfrm>
            <a:off x="5181448" y="2880360"/>
            <a:ext cx="1828800" cy="12344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Like Random Forest but with random split points, which adds diversity and reduces variance.</a:t>
            </a:r>
            <a:endParaRPr lang="en-US" sz="1300" dirty="0"/>
          </a:p>
        </p:txBody>
      </p:sp>
      <p:sp>
        <p:nvSpPr>
          <p:cNvPr id="27" name="Text 24"/>
          <p:cNvSpPr txBox="1"/>
          <p:nvPr/>
        </p:nvSpPr>
        <p:spPr>
          <a:xfrm>
            <a:off x="5181448" y="4160520"/>
            <a:ext cx="1828800" cy="731520"/>
          </a:xfrm>
          <a:prstGeom prst="rect">
            <a:avLst/>
          </a:prstGeom>
          <a:noFill/>
          <a:ln/>
        </p:spPr>
        <p:txBody>
          <a:bodyPr wrap="square" lIns="0" tIns="0" rIns="0" bIns="0" rtlCol="0" anchor="t"/>
          <a:lstStyle/>
          <a:p>
            <a:pPr marL="0" indent="0">
              <a:buNone/>
            </a:pPr>
            <a:r>
              <a:rPr lang="en-US" sz="1150" b="1" dirty="0">
                <a:solidFill>
                  <a:srgbClr val="5B6B7A"/>
                </a:solidFill>
                <a:latin typeface="Calibri" pitchFamily="34" charset="0"/>
                <a:ea typeface="Calibri" pitchFamily="34" charset="-122"/>
                <a:cs typeface="Calibri" pitchFamily="34" charset="-120"/>
              </a:rPr>
              <a:t>100 trees, balanced class weights</a:t>
            </a:r>
            <a:endParaRPr lang="en-US" sz="1150" dirty="0"/>
          </a:p>
        </p:txBody>
      </p:sp>
      <p:sp>
        <p:nvSpPr>
          <p:cNvPr id="28" name="Shape 25"/>
          <p:cNvSpPr/>
          <p:nvPr/>
        </p:nvSpPr>
        <p:spPr>
          <a:xfrm>
            <a:off x="7337831" y="1371600"/>
            <a:ext cx="2103120" cy="3611880"/>
          </a:xfrm>
          <a:prstGeom prst="roundRect">
            <a:avLst>
              <a:gd name="adj" fmla="val 3478"/>
            </a:avLst>
          </a:prstGeom>
          <a:solidFill>
            <a:srgbClr val="FFFFFF"/>
          </a:solidFill>
          <a:ln w="9525">
            <a:solidFill>
              <a:srgbClr val="DCE4EA"/>
            </a:solidFill>
            <a:prstDash val="solid"/>
          </a:ln>
        </p:spPr>
      </p:sp>
      <p:sp>
        <p:nvSpPr>
          <p:cNvPr id="29" name="Shape 26"/>
          <p:cNvSpPr/>
          <p:nvPr/>
        </p:nvSpPr>
        <p:spPr>
          <a:xfrm>
            <a:off x="7474991" y="1508760"/>
            <a:ext cx="365760" cy="365760"/>
          </a:xfrm>
          <a:prstGeom prst="ellipse">
            <a:avLst/>
          </a:prstGeom>
          <a:solidFill>
            <a:srgbClr val="0E8C8C"/>
          </a:solidFill>
          <a:ln w="12700">
            <a:solidFill>
              <a:srgbClr val="0E8C8C"/>
            </a:solidFill>
            <a:prstDash val="solid"/>
          </a:ln>
        </p:spPr>
      </p:sp>
      <p:sp>
        <p:nvSpPr>
          <p:cNvPr id="30" name="Text 27"/>
          <p:cNvSpPr txBox="1"/>
          <p:nvPr/>
        </p:nvSpPr>
        <p:spPr>
          <a:xfrm>
            <a:off x="7474991" y="15087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8"/>
          <p:cNvSpPr txBox="1"/>
          <p:nvPr/>
        </p:nvSpPr>
        <p:spPr>
          <a:xfrm>
            <a:off x="7474991" y="1965960"/>
            <a:ext cx="1828800" cy="548640"/>
          </a:xfrm>
          <a:prstGeom prst="rect">
            <a:avLst/>
          </a:prstGeom>
          <a:noFill/>
          <a:ln/>
        </p:spPr>
        <p:txBody>
          <a:bodyPr wrap="square" lIns="0" tIns="0" rIns="0" bIns="0" rtlCol="0" anchor="t"/>
          <a:lstStyle/>
          <a:p>
            <a:pPr marL="0" indent="0">
              <a:buNone/>
            </a:pPr>
            <a:r>
              <a:rPr lang="en-US" sz="1500" b="1" dirty="0">
                <a:solidFill>
                  <a:srgbClr val="0B2545"/>
                </a:solidFill>
                <a:latin typeface="Calibri" pitchFamily="34" charset="0"/>
                <a:ea typeface="Calibri" pitchFamily="34" charset="-122"/>
                <a:cs typeface="Calibri" pitchFamily="34" charset="-120"/>
              </a:rPr>
              <a:t>Soft-voting ensemble</a:t>
            </a:r>
            <a:endParaRPr lang="en-US" sz="1500" dirty="0"/>
          </a:p>
        </p:txBody>
      </p:sp>
      <p:sp>
        <p:nvSpPr>
          <p:cNvPr id="32" name="Text 29"/>
          <p:cNvSpPr txBox="1"/>
          <p:nvPr/>
        </p:nvSpPr>
        <p:spPr>
          <a:xfrm>
            <a:off x="7474991" y="2542032"/>
            <a:ext cx="1828800" cy="274320"/>
          </a:xfrm>
          <a:prstGeom prst="rect">
            <a:avLst/>
          </a:prstGeom>
          <a:noFill/>
          <a:ln/>
        </p:spPr>
        <p:txBody>
          <a:bodyPr wrap="square" lIns="0" tIns="0" rIns="0" bIns="0" rtlCol="0" anchor="ctr"/>
          <a:lstStyle/>
          <a:p>
            <a:pPr marL="0" indent="0">
              <a:buNone/>
            </a:pPr>
            <a:r>
              <a:rPr lang="en-US" sz="1200" i="1" dirty="0">
                <a:solidFill>
                  <a:srgbClr val="0E8C8C"/>
                </a:solidFill>
                <a:latin typeface="Calibri" pitchFamily="34" charset="0"/>
                <a:ea typeface="Calibri" pitchFamily="34" charset="-122"/>
                <a:cs typeface="Calibri" pitchFamily="34" charset="-120"/>
              </a:rPr>
              <a:t>Proposed ensemble</a:t>
            </a:r>
            <a:endParaRPr lang="en-US" sz="1200" dirty="0"/>
          </a:p>
        </p:txBody>
      </p:sp>
      <p:sp>
        <p:nvSpPr>
          <p:cNvPr id="33" name="Text 30"/>
          <p:cNvSpPr txBox="1"/>
          <p:nvPr/>
        </p:nvSpPr>
        <p:spPr>
          <a:xfrm>
            <a:off x="7474991" y="2880360"/>
            <a:ext cx="1828800" cy="1234440"/>
          </a:xfrm>
          <a:prstGeom prst="rect">
            <a:avLst/>
          </a:prstGeom>
          <a:noFill/>
          <a:ln/>
        </p:spPr>
        <p:txBody>
          <a:bodyPr wrap="square" lIns="0" tIns="0" rIns="0" bIns="0" rtlCol="0" anchor="t"/>
          <a:lstStyle/>
          <a:p>
            <a:pPr marL="0" indent="0">
              <a:buNone/>
            </a:pPr>
            <a:r>
              <a:rPr lang="en-US" sz="1300" dirty="0">
                <a:solidFill>
                  <a:srgbClr val="1F2D3A"/>
                </a:solidFill>
                <a:latin typeface="Calibri" pitchFamily="34" charset="0"/>
                <a:ea typeface="Calibri" pitchFamily="34" charset="-122"/>
                <a:cs typeface="Calibri" pitchFamily="34" charset="-120"/>
              </a:rPr>
              <a:t>Averages the predicted probabilities of LR, RF and ET so their errors can offset each other.</a:t>
            </a:r>
            <a:endParaRPr lang="en-US" sz="1300" dirty="0"/>
          </a:p>
        </p:txBody>
      </p:sp>
      <p:sp>
        <p:nvSpPr>
          <p:cNvPr id="34" name="Text 31"/>
          <p:cNvSpPr txBox="1"/>
          <p:nvPr/>
        </p:nvSpPr>
        <p:spPr>
          <a:xfrm>
            <a:off x="7474991" y="4160520"/>
            <a:ext cx="1828800" cy="731520"/>
          </a:xfrm>
          <a:prstGeom prst="rect">
            <a:avLst/>
          </a:prstGeom>
          <a:noFill/>
          <a:ln/>
        </p:spPr>
        <p:txBody>
          <a:bodyPr wrap="square" lIns="0" tIns="0" rIns="0" bIns="0" rtlCol="0" anchor="t"/>
          <a:lstStyle/>
          <a:p>
            <a:pPr marL="0" indent="0">
              <a:buNone/>
            </a:pPr>
            <a:r>
              <a:rPr lang="en-US" sz="1150" b="1" dirty="0">
                <a:solidFill>
                  <a:srgbClr val="5B6B7A"/>
                </a:solidFill>
                <a:latin typeface="Calibri" pitchFamily="34" charset="0"/>
                <a:ea typeface="Calibri" pitchFamily="34" charset="-122"/>
                <a:cs typeface="Calibri" pitchFamily="34" charset="-120"/>
              </a:rPr>
              <a:t>Voting weights 1 : 2 : 2</a:t>
            </a:r>
            <a:endParaRPr lang="en-US" sz="1150" dirty="0"/>
          </a:p>
        </p:txBody>
      </p:sp>
      <p:sp>
        <p:nvSpPr>
          <p:cNvPr id="35" name="Shape 32"/>
          <p:cNvSpPr/>
          <p:nvPr/>
        </p:nvSpPr>
        <p:spPr>
          <a:xfrm>
            <a:off x="9631375" y="1371600"/>
            <a:ext cx="2103120" cy="3611880"/>
          </a:xfrm>
          <a:prstGeom prst="roundRect">
            <a:avLst>
              <a:gd name="adj" fmla="val 3478"/>
            </a:avLst>
          </a:prstGeom>
          <a:solidFill>
            <a:srgbClr val="0B2545"/>
          </a:solidFill>
          <a:ln w="9525">
            <a:solidFill>
              <a:srgbClr val="0B2545"/>
            </a:solidFill>
            <a:prstDash val="solid"/>
          </a:ln>
        </p:spPr>
      </p:sp>
      <p:sp>
        <p:nvSpPr>
          <p:cNvPr id="36" name="Shape 33"/>
          <p:cNvSpPr/>
          <p:nvPr/>
        </p:nvSpPr>
        <p:spPr>
          <a:xfrm>
            <a:off x="9768535" y="1508760"/>
            <a:ext cx="365760" cy="365760"/>
          </a:xfrm>
          <a:prstGeom prst="ellipse">
            <a:avLst/>
          </a:prstGeom>
          <a:solidFill>
            <a:srgbClr val="D98E04"/>
          </a:solidFill>
          <a:ln w="12700">
            <a:solidFill>
              <a:srgbClr val="D98E04"/>
            </a:solidFill>
            <a:prstDash val="solid"/>
          </a:ln>
        </p:spPr>
      </p:sp>
      <p:sp>
        <p:nvSpPr>
          <p:cNvPr id="37" name="Text 34"/>
          <p:cNvSpPr txBox="1"/>
          <p:nvPr/>
        </p:nvSpPr>
        <p:spPr>
          <a:xfrm>
            <a:off x="9768535" y="15087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8" name="Text 35"/>
          <p:cNvSpPr txBox="1"/>
          <p:nvPr/>
        </p:nvSpPr>
        <p:spPr>
          <a:xfrm>
            <a:off x="9768535" y="1965960"/>
            <a:ext cx="1828800" cy="54864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Tuned Random Forest</a:t>
            </a:r>
            <a:endParaRPr lang="en-US" sz="1500" dirty="0"/>
          </a:p>
        </p:txBody>
      </p:sp>
      <p:sp>
        <p:nvSpPr>
          <p:cNvPr id="39" name="Text 36"/>
          <p:cNvSpPr txBox="1"/>
          <p:nvPr/>
        </p:nvSpPr>
        <p:spPr>
          <a:xfrm>
            <a:off x="9768535" y="2542032"/>
            <a:ext cx="1828800" cy="274320"/>
          </a:xfrm>
          <a:prstGeom prst="rect">
            <a:avLst/>
          </a:prstGeom>
          <a:noFill/>
          <a:ln/>
        </p:spPr>
        <p:txBody>
          <a:bodyPr wrap="square" lIns="0" tIns="0" rIns="0" bIns="0" rtlCol="0" anchor="ctr"/>
          <a:lstStyle/>
          <a:p>
            <a:pPr marL="0" indent="0">
              <a:buNone/>
            </a:pPr>
            <a:r>
              <a:rPr lang="en-US" sz="1200" i="1" dirty="0">
                <a:solidFill>
                  <a:srgbClr val="7FD1D1"/>
                </a:solidFill>
                <a:latin typeface="Calibri" pitchFamily="34" charset="0"/>
                <a:ea typeface="Calibri" pitchFamily="34" charset="-122"/>
                <a:cs typeface="Calibri" pitchFamily="34" charset="-120"/>
              </a:rPr>
              <a:t>Readmission only</a:t>
            </a:r>
            <a:endParaRPr lang="en-US" sz="1200" dirty="0"/>
          </a:p>
        </p:txBody>
      </p:sp>
      <p:sp>
        <p:nvSpPr>
          <p:cNvPr id="40" name="Text 37"/>
          <p:cNvSpPr txBox="1"/>
          <p:nvPr/>
        </p:nvSpPr>
        <p:spPr>
          <a:xfrm>
            <a:off x="9768535" y="2880360"/>
            <a:ext cx="1828800" cy="1234440"/>
          </a:xfrm>
          <a:prstGeom prst="rect">
            <a:avLst/>
          </a:prstGeom>
          <a:noFill/>
          <a:ln/>
        </p:spPr>
        <p:txBody>
          <a:bodyPr wrap="square" lIns="0" tIns="0" rIns="0" bIns="0" rtlCol="0" anchor="t"/>
          <a:lstStyle/>
          <a:p>
            <a:pPr marL="0" indent="0">
              <a:buNone/>
            </a:pPr>
            <a:r>
              <a:rPr lang="en-US" sz="1300" dirty="0">
                <a:solidFill>
                  <a:srgbClr val="E6EFF6"/>
                </a:solidFill>
                <a:latin typeface="Calibri" pitchFamily="34" charset="0"/>
                <a:ea typeface="Calibri" pitchFamily="34" charset="-122"/>
                <a:cs typeface="Calibri" pitchFamily="34" charset="-120"/>
              </a:rPr>
              <a:t>Class-weighted Random Forest with the decision threshold chosen on validation data.</a:t>
            </a:r>
            <a:endParaRPr lang="en-US" sz="1300" dirty="0"/>
          </a:p>
        </p:txBody>
      </p:sp>
      <p:sp>
        <p:nvSpPr>
          <p:cNvPr id="41" name="Text 38"/>
          <p:cNvSpPr txBox="1"/>
          <p:nvPr/>
        </p:nvSpPr>
        <p:spPr>
          <a:xfrm>
            <a:off x="9768535" y="4160520"/>
            <a:ext cx="1828800" cy="731520"/>
          </a:xfrm>
          <a:prstGeom prst="rect">
            <a:avLst/>
          </a:prstGeom>
          <a:noFill/>
          <a:ln/>
        </p:spPr>
        <p:txBody>
          <a:bodyPr wrap="square" lIns="0" tIns="0" rIns="0" bIns="0" rtlCol="0" anchor="t"/>
          <a:lstStyle/>
          <a:p>
            <a:pPr marL="0" indent="0">
              <a:buNone/>
            </a:pPr>
            <a:r>
              <a:rPr lang="en-US" sz="1150" b="1" dirty="0">
                <a:solidFill>
                  <a:srgbClr val="BFD3E4"/>
                </a:solidFill>
                <a:latin typeface="Calibri" pitchFamily="34" charset="0"/>
                <a:ea typeface="Calibri" pitchFamily="34" charset="-122"/>
                <a:cs typeface="Calibri" pitchFamily="34" charset="-120"/>
              </a:rPr>
              <a:t>balanced_subsample, min leaf 2, threshold 0.40</a:t>
            </a:r>
            <a:endParaRPr lang="en-US" sz="1150" dirty="0"/>
          </a:p>
        </p:txBody>
      </p:sp>
      <p:sp>
        <p:nvSpPr>
          <p:cNvPr id="42" name="Shape 39"/>
          <p:cNvSpPr/>
          <p:nvPr/>
        </p:nvSpPr>
        <p:spPr>
          <a:xfrm>
            <a:off x="457200" y="5166360"/>
            <a:ext cx="11277295" cy="1097280"/>
          </a:xfrm>
          <a:prstGeom prst="roundRect">
            <a:avLst>
              <a:gd name="adj" fmla="val 6667"/>
            </a:avLst>
          </a:prstGeom>
          <a:solidFill>
            <a:srgbClr val="D6EEF0"/>
          </a:solidFill>
          <a:ln w="9525">
            <a:solidFill>
              <a:srgbClr val="D6EEF0"/>
            </a:solidFill>
            <a:prstDash val="solid"/>
          </a:ln>
        </p:spPr>
      </p:sp>
      <p:sp>
        <p:nvSpPr>
          <p:cNvPr id="43" name="Text 40"/>
          <p:cNvSpPr txBox="1"/>
          <p:nvPr/>
        </p:nvSpPr>
        <p:spPr>
          <a:xfrm>
            <a:off x="685800" y="5212080"/>
            <a:ext cx="10820095" cy="100584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Role of ensemble learning: </a:t>
            </a:r>
            <a:r>
              <a:rPr lang="en-US" sz="1250" dirty="0">
                <a:solidFill>
                  <a:srgbClr val="1F2D3A"/>
                </a:solidFill>
                <a:latin typeface="Calibri" pitchFamily="34" charset="0"/>
                <a:ea typeface="Calibri" pitchFamily="34" charset="-122"/>
                <a:cs typeface="Calibri" pitchFamily="34" charset="-120"/>
              </a:rPr>
              <a:t>combining diverse learners can stabilise predictions. Whether it improves results is tested, not assumed: every member and the ensemble are evaluated on the same splits, with cross-validation for diabetes. Results appear on the following slides.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Approach and Explainability (SHAP)</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A combined, reproducible pipeline whose predictions can be inspected</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457200" y="1371600"/>
            <a:ext cx="6675120" cy="969264"/>
          </a:xfrm>
          <a:prstGeom prst="roundRect">
            <a:avLst>
              <a:gd name="adj" fmla="val 7547"/>
            </a:avLst>
          </a:prstGeom>
          <a:solidFill>
            <a:srgbClr val="FFFFFF"/>
          </a:solidFill>
          <a:ln w="9525">
            <a:solidFill>
              <a:srgbClr val="DCE4EA"/>
            </a:solidFill>
            <a:prstDash val="solid"/>
          </a:ln>
        </p:spPr>
      </p:sp>
      <p:sp>
        <p:nvSpPr>
          <p:cNvPr id="8" name="Shape 5"/>
          <p:cNvSpPr/>
          <p:nvPr/>
        </p:nvSpPr>
        <p:spPr>
          <a:xfrm>
            <a:off x="621792" y="1664208"/>
            <a:ext cx="384048" cy="384048"/>
          </a:xfrm>
          <a:prstGeom prst="ellipse">
            <a:avLst/>
          </a:prstGeom>
          <a:solidFill>
            <a:srgbClr val="0E8C8C"/>
          </a:solidFill>
          <a:ln w="12700">
            <a:solidFill>
              <a:srgbClr val="0E8C8C"/>
            </a:solidFill>
            <a:prstDash val="solid"/>
          </a:ln>
        </p:spPr>
      </p:sp>
      <p:sp>
        <p:nvSpPr>
          <p:cNvPr id="9" name="Text 6"/>
          <p:cNvSpPr txBox="1"/>
          <p:nvPr/>
        </p:nvSpPr>
        <p:spPr>
          <a:xfrm>
            <a:off x="621792" y="166420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170432" y="1444752"/>
            <a:ext cx="585216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Two tasks, one pipeline</a:t>
            </a:r>
            <a:endParaRPr lang="en-US" sz="1400" dirty="0"/>
          </a:p>
        </p:txBody>
      </p:sp>
      <p:sp>
        <p:nvSpPr>
          <p:cNvPr id="11" name="Text 8"/>
          <p:cNvSpPr txBox="1"/>
          <p:nvPr/>
        </p:nvSpPr>
        <p:spPr>
          <a:xfrm>
            <a:off x="1170432" y="1737360"/>
            <a:ext cx="5852160" cy="566928"/>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Identical preprocessing, models and evaluation are applied to a survey-based diabetes task and a hospital-based readmission task, kept strictly separate.</a:t>
            </a:r>
            <a:endParaRPr lang="en-US" sz="1200" dirty="0"/>
          </a:p>
        </p:txBody>
      </p:sp>
      <p:sp>
        <p:nvSpPr>
          <p:cNvPr id="12" name="Shape 9"/>
          <p:cNvSpPr/>
          <p:nvPr/>
        </p:nvSpPr>
        <p:spPr>
          <a:xfrm>
            <a:off x="457200" y="2450592"/>
            <a:ext cx="6675120" cy="969264"/>
          </a:xfrm>
          <a:prstGeom prst="roundRect">
            <a:avLst>
              <a:gd name="adj" fmla="val 7547"/>
            </a:avLst>
          </a:prstGeom>
          <a:solidFill>
            <a:srgbClr val="FFFFFF"/>
          </a:solidFill>
          <a:ln w="9525">
            <a:solidFill>
              <a:srgbClr val="DCE4EA"/>
            </a:solidFill>
            <a:prstDash val="solid"/>
          </a:ln>
        </p:spPr>
      </p:sp>
      <p:sp>
        <p:nvSpPr>
          <p:cNvPr id="13" name="Shape 10"/>
          <p:cNvSpPr/>
          <p:nvPr/>
        </p:nvSpPr>
        <p:spPr>
          <a:xfrm>
            <a:off x="621792" y="2743200"/>
            <a:ext cx="384048" cy="384048"/>
          </a:xfrm>
          <a:prstGeom prst="ellipse">
            <a:avLst/>
          </a:prstGeom>
          <a:solidFill>
            <a:srgbClr val="0E8C8C"/>
          </a:solidFill>
          <a:ln w="12700">
            <a:solidFill>
              <a:srgbClr val="0E8C8C"/>
            </a:solidFill>
            <a:prstDash val="solid"/>
          </a:ln>
        </p:spPr>
      </p:sp>
      <p:sp>
        <p:nvSpPr>
          <p:cNvPr id="14" name="Text 11"/>
          <p:cNvSpPr txBox="1"/>
          <p:nvPr/>
        </p:nvSpPr>
        <p:spPr>
          <a:xfrm>
            <a:off x="621792" y="27432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txBox="1"/>
          <p:nvPr/>
        </p:nvSpPr>
        <p:spPr>
          <a:xfrm>
            <a:off x="1170432" y="2523744"/>
            <a:ext cx="585216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Ensemble versus individual models</a:t>
            </a:r>
            <a:endParaRPr lang="en-US" sz="1400" dirty="0"/>
          </a:p>
        </p:txBody>
      </p:sp>
      <p:sp>
        <p:nvSpPr>
          <p:cNvPr id="16" name="Text 13"/>
          <p:cNvSpPr txBox="1"/>
          <p:nvPr/>
        </p:nvSpPr>
        <p:spPr>
          <a:xfrm>
            <a:off x="1170432" y="2816352"/>
            <a:ext cx="5852160" cy="566928"/>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A soft-voting ensemble (LR, RF, ET with weights 1:2:2) is benchmarked against each member under identical splits.</a:t>
            </a:r>
            <a:endParaRPr lang="en-US" sz="1200" dirty="0"/>
          </a:p>
        </p:txBody>
      </p:sp>
      <p:sp>
        <p:nvSpPr>
          <p:cNvPr id="17" name="Shape 14"/>
          <p:cNvSpPr/>
          <p:nvPr/>
        </p:nvSpPr>
        <p:spPr>
          <a:xfrm>
            <a:off x="457200" y="3529584"/>
            <a:ext cx="6675120" cy="969264"/>
          </a:xfrm>
          <a:prstGeom prst="roundRect">
            <a:avLst>
              <a:gd name="adj" fmla="val 7547"/>
            </a:avLst>
          </a:prstGeom>
          <a:solidFill>
            <a:srgbClr val="FFFFFF"/>
          </a:solidFill>
          <a:ln w="9525">
            <a:solidFill>
              <a:srgbClr val="DCE4EA"/>
            </a:solidFill>
            <a:prstDash val="solid"/>
          </a:ln>
        </p:spPr>
      </p:sp>
      <p:sp>
        <p:nvSpPr>
          <p:cNvPr id="18" name="Shape 15"/>
          <p:cNvSpPr/>
          <p:nvPr/>
        </p:nvSpPr>
        <p:spPr>
          <a:xfrm>
            <a:off x="621792" y="3822192"/>
            <a:ext cx="384048" cy="384048"/>
          </a:xfrm>
          <a:prstGeom prst="ellipse">
            <a:avLst/>
          </a:prstGeom>
          <a:solidFill>
            <a:srgbClr val="0E8C8C"/>
          </a:solidFill>
          <a:ln w="12700">
            <a:solidFill>
              <a:srgbClr val="0E8C8C"/>
            </a:solidFill>
            <a:prstDash val="solid"/>
          </a:ln>
        </p:spPr>
      </p:sp>
      <p:sp>
        <p:nvSpPr>
          <p:cNvPr id="19" name="Text 16"/>
          <p:cNvSpPr txBox="1"/>
          <p:nvPr/>
        </p:nvSpPr>
        <p:spPr>
          <a:xfrm>
            <a:off x="621792" y="382219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txBox="1"/>
          <p:nvPr/>
        </p:nvSpPr>
        <p:spPr>
          <a:xfrm>
            <a:off x="1170432" y="3602736"/>
            <a:ext cx="585216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Imbalance-aware evaluation</a:t>
            </a:r>
            <a:endParaRPr lang="en-US" sz="1400" dirty="0"/>
          </a:p>
        </p:txBody>
      </p:sp>
      <p:sp>
        <p:nvSpPr>
          <p:cNvPr id="21" name="Text 18"/>
          <p:cNvSpPr txBox="1"/>
          <p:nvPr/>
        </p:nvSpPr>
        <p:spPr>
          <a:xfrm>
            <a:off x="1170432" y="3895344"/>
            <a:ext cx="5852160" cy="566928"/>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Macro F1 and per-class recall are reported alongside accuracy. Class weights and a validation-selected threshold address the rare class.</a:t>
            </a:r>
            <a:endParaRPr lang="en-US" sz="1200" dirty="0"/>
          </a:p>
        </p:txBody>
      </p:sp>
      <p:sp>
        <p:nvSpPr>
          <p:cNvPr id="22" name="Shape 19"/>
          <p:cNvSpPr/>
          <p:nvPr/>
        </p:nvSpPr>
        <p:spPr>
          <a:xfrm>
            <a:off x="457200" y="4608576"/>
            <a:ext cx="6675120" cy="969264"/>
          </a:xfrm>
          <a:prstGeom prst="roundRect">
            <a:avLst>
              <a:gd name="adj" fmla="val 7547"/>
            </a:avLst>
          </a:prstGeom>
          <a:solidFill>
            <a:srgbClr val="FFFFFF"/>
          </a:solidFill>
          <a:ln w="9525">
            <a:solidFill>
              <a:srgbClr val="DCE4EA"/>
            </a:solidFill>
            <a:prstDash val="solid"/>
          </a:ln>
        </p:spPr>
      </p:sp>
      <p:sp>
        <p:nvSpPr>
          <p:cNvPr id="23" name="Shape 20"/>
          <p:cNvSpPr/>
          <p:nvPr/>
        </p:nvSpPr>
        <p:spPr>
          <a:xfrm>
            <a:off x="621792" y="4901184"/>
            <a:ext cx="384048" cy="384048"/>
          </a:xfrm>
          <a:prstGeom prst="ellipse">
            <a:avLst/>
          </a:prstGeom>
          <a:solidFill>
            <a:srgbClr val="0E8C8C"/>
          </a:solidFill>
          <a:ln w="12700">
            <a:solidFill>
              <a:srgbClr val="0E8C8C"/>
            </a:solidFill>
            <a:prstDash val="solid"/>
          </a:ln>
        </p:spPr>
      </p:sp>
      <p:sp>
        <p:nvSpPr>
          <p:cNvPr id="24" name="Text 21"/>
          <p:cNvSpPr txBox="1"/>
          <p:nvPr/>
        </p:nvSpPr>
        <p:spPr>
          <a:xfrm>
            <a:off x="621792" y="49011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2"/>
          <p:cNvSpPr txBox="1"/>
          <p:nvPr/>
        </p:nvSpPr>
        <p:spPr>
          <a:xfrm>
            <a:off x="1170432" y="4681728"/>
            <a:ext cx="5852160" cy="27432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Interpretability</a:t>
            </a:r>
            <a:endParaRPr lang="en-US" sz="1400" dirty="0"/>
          </a:p>
        </p:txBody>
      </p:sp>
      <p:sp>
        <p:nvSpPr>
          <p:cNvPr id="26" name="Text 23"/>
          <p:cNvSpPr txBox="1"/>
          <p:nvPr/>
        </p:nvSpPr>
        <p:spPr>
          <a:xfrm>
            <a:off x="1170432" y="4974336"/>
            <a:ext cx="5852160" cy="566928"/>
          </a:xfrm>
          <a:prstGeom prst="rect">
            <a:avLst/>
          </a:prstGeom>
          <a:noFill/>
          <a:ln/>
        </p:spPr>
        <p:txBody>
          <a:bodyPr wrap="square" lIns="0" tIns="0" rIns="0" bIns="0" rtlCol="0" anchor="t"/>
          <a:lstStyle/>
          <a:p>
            <a:pPr marL="0" indent="0">
              <a:buNone/>
            </a:pPr>
            <a:r>
              <a:rPr lang="en-US" sz="1200" dirty="0">
                <a:solidFill>
                  <a:srgbClr val="1F2D3A"/>
                </a:solidFill>
                <a:latin typeface="Calibri" pitchFamily="34" charset="0"/>
                <a:ea typeface="Calibri" pitchFamily="34" charset="-122"/>
                <a:cs typeface="Calibri" pitchFamily="34" charset="-120"/>
              </a:rPr>
              <a:t>SHAP (permutation explainer) on the Random Forest for both tasks, and Random Forest feature importance for readmission.</a:t>
            </a:r>
            <a:endParaRPr lang="en-US" sz="1200" dirty="0"/>
          </a:p>
        </p:txBody>
      </p:sp>
      <p:sp>
        <p:nvSpPr>
          <p:cNvPr id="27" name="Shape 24"/>
          <p:cNvSpPr/>
          <p:nvPr/>
        </p:nvSpPr>
        <p:spPr>
          <a:xfrm>
            <a:off x="457200" y="5715000"/>
            <a:ext cx="6675120" cy="566928"/>
          </a:xfrm>
          <a:prstGeom prst="roundRect">
            <a:avLst>
              <a:gd name="adj" fmla="val 12903"/>
            </a:avLst>
          </a:prstGeom>
          <a:solidFill>
            <a:srgbClr val="D6EEF0"/>
          </a:solidFill>
          <a:ln w="9525">
            <a:solidFill>
              <a:srgbClr val="D6EEF0"/>
            </a:solidFill>
            <a:prstDash val="solid"/>
          </a:ln>
        </p:spPr>
      </p:sp>
      <p:sp>
        <p:nvSpPr>
          <p:cNvPr id="28" name="Text 25"/>
          <p:cNvSpPr txBox="1"/>
          <p:nvPr/>
        </p:nvSpPr>
        <p:spPr>
          <a:xfrm>
            <a:off x="640080" y="5715000"/>
            <a:ext cx="6309360" cy="566928"/>
          </a:xfrm>
          <a:prstGeom prst="rect">
            <a:avLst/>
          </a:prstGeom>
          <a:noFill/>
          <a:ln/>
        </p:spPr>
        <p:txBody>
          <a:bodyPr wrap="square" lIns="0" tIns="0" rIns="0" bIns="0" rtlCol="0" anchor="ctr"/>
          <a:lstStyle/>
          <a:p>
            <a:endParaRPr lang="en-US" sz="1200" dirty="0"/>
          </a:p>
        </p:txBody>
      </p:sp>
      <p:sp>
        <p:nvSpPr>
          <p:cNvPr id="29" name="Shape 26"/>
          <p:cNvSpPr/>
          <p:nvPr/>
        </p:nvSpPr>
        <p:spPr>
          <a:xfrm>
            <a:off x="7315200" y="1371600"/>
            <a:ext cx="4419295" cy="4910328"/>
          </a:xfrm>
          <a:prstGeom prst="roundRect">
            <a:avLst>
              <a:gd name="adj" fmla="val 1655"/>
            </a:avLst>
          </a:prstGeom>
          <a:solidFill>
            <a:srgbClr val="FFFFFF"/>
          </a:solidFill>
          <a:ln w="9525">
            <a:solidFill>
              <a:srgbClr val="DCE4EA"/>
            </a:solidFill>
            <a:prstDash val="solid"/>
          </a:ln>
        </p:spPr>
      </p:sp>
      <p:pic>
        <p:nvPicPr>
          <p:cNvPr id="30" name="Image 0" descr="SHAP feature importance for hospital readmission (Random Forest)"/>
          <p:cNvPicPr>
            <a:picLocks noChangeAspect="1"/>
          </p:cNvPicPr>
          <p:nvPr/>
        </p:nvPicPr>
        <p:blipFill>
          <a:blip r:embed="rId3"/>
          <a:stretch>
            <a:fillRect/>
          </a:stretch>
        </p:blipFill>
        <p:spPr>
          <a:xfrm>
            <a:off x="7452360" y="1463040"/>
            <a:ext cx="4144975" cy="2810688"/>
          </a:xfrm>
          <a:prstGeom prst="rect">
            <a:avLst/>
          </a:prstGeom>
        </p:spPr>
      </p:pic>
      <p:sp>
        <p:nvSpPr>
          <p:cNvPr id="31" name="Text 27"/>
          <p:cNvSpPr txBox="1"/>
          <p:nvPr/>
        </p:nvSpPr>
        <p:spPr>
          <a:xfrm>
            <a:off x="7452360" y="4310304"/>
            <a:ext cx="4144975" cy="365760"/>
          </a:xfrm>
          <a:prstGeom prst="rect">
            <a:avLst/>
          </a:prstGeom>
          <a:noFill/>
          <a:ln/>
        </p:spPr>
        <p:txBody>
          <a:bodyPr wrap="square" lIns="0" tIns="0" rIns="0" bIns="0" rtlCol="0" anchor="t"/>
          <a:lstStyle/>
          <a:p>
            <a:pPr marL="0" indent="0">
              <a:buNone/>
            </a:pPr>
            <a:r>
              <a:rPr lang="en-US" sz="1050" dirty="0">
                <a:solidFill>
                  <a:srgbClr val="5B6B7A"/>
                </a:solidFill>
                <a:latin typeface="Calibri" pitchFamily="34" charset="0"/>
                <a:ea typeface="Calibri" pitchFamily="34" charset="-122"/>
                <a:cs typeface="Calibri" pitchFamily="34" charset="-120"/>
              </a:rPr>
              <a:t>Readmission: mean absolute SHAP value. Top drivers: prior inpatient visits, discharge disposition, emergency visits.</a:t>
            </a:r>
            <a:endParaRPr lang="en-US" sz="1050" dirty="0"/>
          </a:p>
        </p:txBody>
      </p:sp>
      <p:pic>
        <p:nvPicPr>
          <p:cNvPr id="32" name="Image 1" descr="SHAP feature importance for diabetes"/>
          <p:cNvPicPr>
            <a:picLocks noChangeAspect="1"/>
          </p:cNvPicPr>
          <p:nvPr/>
        </p:nvPicPr>
        <p:blipFill>
          <a:blip r:embed="rId4"/>
          <a:stretch>
            <a:fillRect/>
          </a:stretch>
        </p:blipFill>
        <p:spPr>
          <a:xfrm>
            <a:off x="7924648" y="4749216"/>
            <a:ext cx="3200400" cy="1181966"/>
          </a:xfrm>
          <a:prstGeom prst="rect">
            <a:avLst/>
          </a:prstGeom>
        </p:spPr>
      </p:pic>
      <p:sp>
        <p:nvSpPr>
          <p:cNvPr id="33" name="Text 28"/>
          <p:cNvSpPr txBox="1"/>
          <p:nvPr/>
        </p:nvSpPr>
        <p:spPr>
          <a:xfrm>
            <a:off x="7452360" y="5967758"/>
            <a:ext cx="4144975" cy="365760"/>
          </a:xfrm>
          <a:prstGeom prst="rect">
            <a:avLst/>
          </a:prstGeom>
          <a:noFill/>
          <a:ln/>
        </p:spPr>
        <p:txBody>
          <a:bodyPr wrap="square" lIns="0" tIns="0" rIns="0" bIns="0" rtlCol="0" anchor="t"/>
          <a:lstStyle/>
          <a:p>
            <a:pPr marL="0" indent="0">
              <a:buNone/>
            </a:pPr>
            <a:r>
              <a:rPr lang="en-US" sz="1050" dirty="0">
                <a:solidFill>
                  <a:srgbClr val="5B6B7A"/>
                </a:solidFill>
                <a:latin typeface="Calibri" pitchFamily="34" charset="0"/>
                <a:ea typeface="Calibri" pitchFamily="34" charset="-122"/>
                <a:cs typeface="Calibri" pitchFamily="34" charset="-120"/>
              </a:rPr>
              <a:t>Diabetes: sample-based SHAP run, top features shown (HighBP, CholCheck, HighChol).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Implementation and Technical Architecture</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A notebook-based research implementation built with standard Python libraries</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457200" y="1371600"/>
            <a:ext cx="2423160" cy="1097280"/>
          </a:xfrm>
          <a:prstGeom prst="roundRect">
            <a:avLst>
              <a:gd name="adj" fmla="val 6667"/>
            </a:avLst>
          </a:prstGeom>
          <a:solidFill>
            <a:srgbClr val="FFFFFF"/>
          </a:solidFill>
          <a:ln w="9525">
            <a:solidFill>
              <a:srgbClr val="DCE4EA"/>
            </a:solidFill>
            <a:prstDash val="solid"/>
          </a:ln>
        </p:spPr>
      </p:sp>
      <p:sp>
        <p:nvSpPr>
          <p:cNvPr id="8" name="Text 5"/>
          <p:cNvSpPr txBox="1"/>
          <p:nvPr/>
        </p:nvSpPr>
        <p:spPr>
          <a:xfrm>
            <a:off x="566928" y="1444752"/>
            <a:ext cx="22037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Python 3 on Google Colab</a:t>
            </a:r>
            <a:endParaRPr lang="en-US" sz="1300" dirty="0"/>
          </a:p>
        </p:txBody>
      </p:sp>
      <p:sp>
        <p:nvSpPr>
          <p:cNvPr id="9" name="Text 6"/>
          <p:cNvSpPr txBox="1"/>
          <p:nvPr/>
        </p:nvSpPr>
        <p:spPr>
          <a:xfrm>
            <a:off x="566928" y="1755648"/>
            <a:ext cx="2203704" cy="65836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Notebook environment for all experiments</a:t>
            </a:r>
            <a:endParaRPr lang="en-US" sz="1150" dirty="0"/>
          </a:p>
        </p:txBody>
      </p:sp>
      <p:sp>
        <p:nvSpPr>
          <p:cNvPr id="10" name="Shape 7"/>
          <p:cNvSpPr/>
          <p:nvPr/>
        </p:nvSpPr>
        <p:spPr>
          <a:xfrm>
            <a:off x="3017520" y="1371600"/>
            <a:ext cx="2423160" cy="1097280"/>
          </a:xfrm>
          <a:prstGeom prst="roundRect">
            <a:avLst>
              <a:gd name="adj" fmla="val 6667"/>
            </a:avLst>
          </a:prstGeom>
          <a:solidFill>
            <a:srgbClr val="FFFFFF"/>
          </a:solidFill>
          <a:ln w="9525">
            <a:solidFill>
              <a:srgbClr val="DCE4EA"/>
            </a:solidFill>
            <a:prstDash val="solid"/>
          </a:ln>
        </p:spPr>
      </p:sp>
      <p:sp>
        <p:nvSpPr>
          <p:cNvPr id="11" name="Text 8"/>
          <p:cNvSpPr txBox="1"/>
          <p:nvPr/>
        </p:nvSpPr>
        <p:spPr>
          <a:xfrm>
            <a:off x="3127248" y="1444752"/>
            <a:ext cx="22037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pandas and NumPy</a:t>
            </a:r>
            <a:endParaRPr lang="en-US" sz="1300" dirty="0"/>
          </a:p>
        </p:txBody>
      </p:sp>
      <p:sp>
        <p:nvSpPr>
          <p:cNvPr id="12" name="Text 9"/>
          <p:cNvSpPr txBox="1"/>
          <p:nvPr/>
        </p:nvSpPr>
        <p:spPr>
          <a:xfrm>
            <a:off x="3127248" y="1755648"/>
            <a:ext cx="2203704" cy="65836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Data loading, cleaning and tabulation</a:t>
            </a:r>
            <a:endParaRPr lang="en-US" sz="1150" dirty="0"/>
          </a:p>
        </p:txBody>
      </p:sp>
      <p:sp>
        <p:nvSpPr>
          <p:cNvPr id="13" name="Shape 10"/>
          <p:cNvSpPr/>
          <p:nvPr/>
        </p:nvSpPr>
        <p:spPr>
          <a:xfrm>
            <a:off x="457200" y="2606040"/>
            <a:ext cx="2423160" cy="1097280"/>
          </a:xfrm>
          <a:prstGeom prst="roundRect">
            <a:avLst>
              <a:gd name="adj" fmla="val 6667"/>
            </a:avLst>
          </a:prstGeom>
          <a:solidFill>
            <a:srgbClr val="FFFFFF"/>
          </a:solidFill>
          <a:ln w="9525">
            <a:solidFill>
              <a:srgbClr val="DCE4EA"/>
            </a:solidFill>
            <a:prstDash val="solid"/>
          </a:ln>
        </p:spPr>
      </p:sp>
      <p:sp>
        <p:nvSpPr>
          <p:cNvPr id="14" name="Text 11"/>
          <p:cNvSpPr txBox="1"/>
          <p:nvPr/>
        </p:nvSpPr>
        <p:spPr>
          <a:xfrm>
            <a:off x="566928" y="2679192"/>
            <a:ext cx="22037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scikit-learn</a:t>
            </a:r>
            <a:endParaRPr lang="en-US" sz="1300" dirty="0"/>
          </a:p>
        </p:txBody>
      </p:sp>
      <p:sp>
        <p:nvSpPr>
          <p:cNvPr id="15" name="Text 12"/>
          <p:cNvSpPr txBox="1"/>
          <p:nvPr/>
        </p:nvSpPr>
        <p:spPr>
          <a:xfrm>
            <a:off x="566928" y="2990088"/>
            <a:ext cx="2203704" cy="65836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Pipelines, ColumnTransformer, models, VotingClassifier, metrics, CV</a:t>
            </a:r>
            <a:endParaRPr lang="en-US" sz="1150" dirty="0"/>
          </a:p>
        </p:txBody>
      </p:sp>
      <p:sp>
        <p:nvSpPr>
          <p:cNvPr id="16" name="Shape 13"/>
          <p:cNvSpPr/>
          <p:nvPr/>
        </p:nvSpPr>
        <p:spPr>
          <a:xfrm>
            <a:off x="3017520" y="2606040"/>
            <a:ext cx="2423160" cy="1097280"/>
          </a:xfrm>
          <a:prstGeom prst="roundRect">
            <a:avLst>
              <a:gd name="adj" fmla="val 6667"/>
            </a:avLst>
          </a:prstGeom>
          <a:solidFill>
            <a:srgbClr val="FFFFFF"/>
          </a:solidFill>
          <a:ln w="9525">
            <a:solidFill>
              <a:srgbClr val="DCE4EA"/>
            </a:solidFill>
            <a:prstDash val="solid"/>
          </a:ln>
        </p:spPr>
      </p:sp>
      <p:sp>
        <p:nvSpPr>
          <p:cNvPr id="17" name="Text 14"/>
          <p:cNvSpPr txBox="1"/>
          <p:nvPr/>
        </p:nvSpPr>
        <p:spPr>
          <a:xfrm>
            <a:off x="3127248" y="2679192"/>
            <a:ext cx="22037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SHAP</a:t>
            </a:r>
            <a:endParaRPr lang="en-US" sz="1300" dirty="0"/>
          </a:p>
        </p:txBody>
      </p:sp>
      <p:sp>
        <p:nvSpPr>
          <p:cNvPr id="18" name="Text 15"/>
          <p:cNvSpPr txBox="1"/>
          <p:nvPr/>
        </p:nvSpPr>
        <p:spPr>
          <a:xfrm>
            <a:off x="3127248" y="2990088"/>
            <a:ext cx="2203704" cy="65836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Permutation explainer for the Random Forest models</a:t>
            </a:r>
            <a:endParaRPr lang="en-US" sz="1150" dirty="0"/>
          </a:p>
        </p:txBody>
      </p:sp>
      <p:sp>
        <p:nvSpPr>
          <p:cNvPr id="19" name="Shape 16"/>
          <p:cNvSpPr/>
          <p:nvPr/>
        </p:nvSpPr>
        <p:spPr>
          <a:xfrm>
            <a:off x="457200" y="3840480"/>
            <a:ext cx="2423160" cy="1097280"/>
          </a:xfrm>
          <a:prstGeom prst="roundRect">
            <a:avLst>
              <a:gd name="adj" fmla="val 6667"/>
            </a:avLst>
          </a:prstGeom>
          <a:solidFill>
            <a:srgbClr val="FFFFFF"/>
          </a:solidFill>
          <a:ln w="9525">
            <a:solidFill>
              <a:srgbClr val="DCE4EA"/>
            </a:solidFill>
            <a:prstDash val="solid"/>
          </a:ln>
        </p:spPr>
      </p:sp>
      <p:sp>
        <p:nvSpPr>
          <p:cNvPr id="20" name="Text 17"/>
          <p:cNvSpPr txBox="1"/>
          <p:nvPr/>
        </p:nvSpPr>
        <p:spPr>
          <a:xfrm>
            <a:off x="566928" y="3913632"/>
            <a:ext cx="22037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matplotlib and seaborn</a:t>
            </a:r>
            <a:endParaRPr lang="en-US" sz="1300" dirty="0"/>
          </a:p>
        </p:txBody>
      </p:sp>
      <p:sp>
        <p:nvSpPr>
          <p:cNvPr id="21" name="Text 18"/>
          <p:cNvSpPr txBox="1"/>
          <p:nvPr/>
        </p:nvSpPr>
        <p:spPr>
          <a:xfrm>
            <a:off x="566928" y="4224528"/>
            <a:ext cx="2203704" cy="65836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Class distributions, confusion matrices, threshold and comparison charts</a:t>
            </a:r>
            <a:endParaRPr lang="en-US" sz="1150" dirty="0"/>
          </a:p>
        </p:txBody>
      </p:sp>
      <p:sp>
        <p:nvSpPr>
          <p:cNvPr id="22" name="Shape 19"/>
          <p:cNvSpPr/>
          <p:nvPr/>
        </p:nvSpPr>
        <p:spPr>
          <a:xfrm>
            <a:off x="3017520" y="3840480"/>
            <a:ext cx="2423160" cy="1097280"/>
          </a:xfrm>
          <a:prstGeom prst="roundRect">
            <a:avLst>
              <a:gd name="adj" fmla="val 6667"/>
            </a:avLst>
          </a:prstGeom>
          <a:solidFill>
            <a:srgbClr val="FFFFFF"/>
          </a:solidFill>
          <a:ln w="9525">
            <a:solidFill>
              <a:srgbClr val="DCE4EA"/>
            </a:solidFill>
            <a:prstDash val="solid"/>
          </a:ln>
        </p:spPr>
      </p:sp>
      <p:sp>
        <p:nvSpPr>
          <p:cNvPr id="23" name="Text 20"/>
          <p:cNvSpPr txBox="1"/>
          <p:nvPr/>
        </p:nvSpPr>
        <p:spPr>
          <a:xfrm>
            <a:off x="3127248" y="3913632"/>
            <a:ext cx="2203704"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ucimlrepo and joblib</a:t>
            </a:r>
            <a:endParaRPr lang="en-US" sz="1300" dirty="0"/>
          </a:p>
        </p:txBody>
      </p:sp>
      <p:sp>
        <p:nvSpPr>
          <p:cNvPr id="24" name="Text 21"/>
          <p:cNvSpPr txBox="1"/>
          <p:nvPr/>
        </p:nvSpPr>
        <p:spPr>
          <a:xfrm>
            <a:off x="3127248" y="4224528"/>
            <a:ext cx="2203704" cy="658368"/>
          </a:xfrm>
          <a:prstGeom prst="rect">
            <a:avLst/>
          </a:prstGeom>
          <a:noFill/>
          <a:ln/>
        </p:spPr>
        <p:txBody>
          <a:bodyPr wrap="square" lIns="0" tIns="0" rIns="0" bIns="0" rtlCol="0" anchor="t"/>
          <a:lstStyle/>
          <a:p>
            <a:pPr marL="0" indent="0">
              <a:buNone/>
            </a:pPr>
            <a:r>
              <a:rPr lang="en-US" sz="1150" dirty="0">
                <a:solidFill>
                  <a:srgbClr val="1F2D3A"/>
                </a:solidFill>
                <a:latin typeface="Calibri" pitchFamily="34" charset="0"/>
                <a:ea typeface="Calibri" pitchFamily="34" charset="-122"/>
                <a:cs typeface="Calibri" pitchFamily="34" charset="-120"/>
              </a:rPr>
              <a:t>Fetch UCI dataset 296; save trained models</a:t>
            </a:r>
            <a:endParaRPr lang="en-US" sz="1150" dirty="0"/>
          </a:p>
        </p:txBody>
      </p:sp>
      <p:sp>
        <p:nvSpPr>
          <p:cNvPr id="25" name="Shape 22"/>
          <p:cNvSpPr/>
          <p:nvPr/>
        </p:nvSpPr>
        <p:spPr>
          <a:xfrm>
            <a:off x="5669280" y="1371600"/>
            <a:ext cx="6065215" cy="3703320"/>
          </a:xfrm>
          <a:prstGeom prst="roundRect">
            <a:avLst>
              <a:gd name="adj" fmla="val 1975"/>
            </a:avLst>
          </a:prstGeom>
          <a:solidFill>
            <a:srgbClr val="FFFFFF"/>
          </a:solidFill>
          <a:ln w="9525">
            <a:solidFill>
              <a:srgbClr val="DCE4EA"/>
            </a:solidFill>
            <a:prstDash val="solid"/>
          </a:ln>
        </p:spPr>
      </p:sp>
      <p:sp>
        <p:nvSpPr>
          <p:cNvPr id="26" name="Text 23"/>
          <p:cNvSpPr txBox="1"/>
          <p:nvPr/>
        </p:nvSpPr>
        <p:spPr>
          <a:xfrm>
            <a:off x="5852160" y="1444752"/>
            <a:ext cx="5699455" cy="292608"/>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Data flow through the implemented system</a:t>
            </a:r>
            <a:endParaRPr lang="en-US" sz="1400" dirty="0"/>
          </a:p>
        </p:txBody>
      </p:sp>
      <p:sp>
        <p:nvSpPr>
          <p:cNvPr id="27" name="Shape 24"/>
          <p:cNvSpPr/>
          <p:nvPr/>
        </p:nvSpPr>
        <p:spPr>
          <a:xfrm>
            <a:off x="5852160" y="1874520"/>
            <a:ext cx="1783080" cy="1234440"/>
          </a:xfrm>
          <a:prstGeom prst="roundRect">
            <a:avLst>
              <a:gd name="adj" fmla="val 5926"/>
            </a:avLst>
          </a:prstGeom>
          <a:solidFill>
            <a:srgbClr val="0B2545"/>
          </a:solidFill>
          <a:ln w="12700">
            <a:solidFill>
              <a:srgbClr val="0B2545"/>
            </a:solidFill>
            <a:prstDash val="solid"/>
          </a:ln>
        </p:spPr>
      </p:sp>
      <p:sp>
        <p:nvSpPr>
          <p:cNvPr id="28" name="Text 25"/>
          <p:cNvSpPr txBox="1"/>
          <p:nvPr/>
        </p:nvSpPr>
        <p:spPr>
          <a:xfrm>
            <a:off x="5925312" y="1874520"/>
            <a:ext cx="1636776" cy="1234440"/>
          </a:xfrm>
          <a:prstGeom prst="rect">
            <a:avLst/>
          </a:prstGeom>
          <a:noFill/>
          <a:ln/>
        </p:spPr>
        <p:txBody>
          <a:bodyPr wrap="square" lIns="0" tIns="0" rIns="0" bIns="0" rtlCol="0" anchor="ctr"/>
          <a:lstStyle/>
          <a:p>
            <a:pPr marL="0" indent="0" algn="ctr">
              <a:spcAft>
                <a:spcPts val="400"/>
              </a:spcAft>
              <a:buNone/>
            </a:pPr>
            <a:r>
              <a:rPr lang="en-US" sz="1300" b="1" dirty="0">
                <a:solidFill>
                  <a:srgbClr val="FFFFFF"/>
                </a:solidFill>
                <a:latin typeface="Calibri" pitchFamily="34" charset="0"/>
                <a:ea typeface="Calibri" pitchFamily="34" charset="-122"/>
                <a:cs typeface="Calibri" pitchFamily="34" charset="-120"/>
              </a:rPr>
              <a:t>1. Data sources</a:t>
            </a:r>
            <a:endParaRPr lang="en-US" sz="1300" dirty="0"/>
          </a:p>
          <a:p>
            <a:pPr marL="0" indent="0" algn="ctr">
              <a:spcAft>
                <a:spcPts val="400"/>
              </a:spcAft>
              <a:buNone/>
            </a:pPr>
            <a:r>
              <a:rPr lang="en-US" sz="1100" dirty="0">
                <a:solidFill>
                  <a:srgbClr val="E6EFF6"/>
                </a:solidFill>
                <a:latin typeface="Calibri" pitchFamily="34" charset="0"/>
                <a:ea typeface="Calibri" pitchFamily="34" charset="-122"/>
                <a:cs typeface="Calibri" pitchFamily="34" charset="-120"/>
              </a:rPr>
              <a:t>BRFSS CSV and UCI dataset 296</a:t>
            </a:r>
            <a:endParaRPr lang="en-US" sz="1300" dirty="0"/>
          </a:p>
        </p:txBody>
      </p:sp>
      <p:sp>
        <p:nvSpPr>
          <p:cNvPr id="29" name="Shape 26"/>
          <p:cNvSpPr/>
          <p:nvPr/>
        </p:nvSpPr>
        <p:spPr>
          <a:xfrm>
            <a:off x="7662672" y="2363724"/>
            <a:ext cx="120244" cy="256032"/>
          </a:xfrm>
          <a:prstGeom prst="rightArrow">
            <a:avLst/>
          </a:prstGeom>
          <a:solidFill>
            <a:srgbClr val="5B6B7A"/>
          </a:solidFill>
          <a:ln w="12700">
            <a:solidFill>
              <a:srgbClr val="5B6B7A"/>
            </a:solidFill>
            <a:prstDash val="solid"/>
          </a:ln>
        </p:spPr>
      </p:sp>
      <p:sp>
        <p:nvSpPr>
          <p:cNvPr id="30" name="Shape 27"/>
          <p:cNvSpPr/>
          <p:nvPr/>
        </p:nvSpPr>
        <p:spPr>
          <a:xfrm>
            <a:off x="7810348" y="1874520"/>
            <a:ext cx="1783080" cy="1234440"/>
          </a:xfrm>
          <a:prstGeom prst="roundRect">
            <a:avLst>
              <a:gd name="adj" fmla="val 5926"/>
            </a:avLst>
          </a:prstGeom>
          <a:solidFill>
            <a:srgbClr val="0B2545"/>
          </a:solidFill>
          <a:ln w="12700">
            <a:solidFill>
              <a:srgbClr val="0B2545"/>
            </a:solidFill>
            <a:prstDash val="solid"/>
          </a:ln>
        </p:spPr>
      </p:sp>
      <p:sp>
        <p:nvSpPr>
          <p:cNvPr id="31" name="Text 28"/>
          <p:cNvSpPr txBox="1"/>
          <p:nvPr/>
        </p:nvSpPr>
        <p:spPr>
          <a:xfrm>
            <a:off x="7883500" y="1874520"/>
            <a:ext cx="1636776" cy="1234440"/>
          </a:xfrm>
          <a:prstGeom prst="rect">
            <a:avLst/>
          </a:prstGeom>
          <a:noFill/>
          <a:ln/>
        </p:spPr>
        <p:txBody>
          <a:bodyPr wrap="square" lIns="0" tIns="0" rIns="0" bIns="0" rtlCol="0" anchor="ctr"/>
          <a:lstStyle/>
          <a:p>
            <a:pPr marL="0" indent="0" algn="ctr">
              <a:spcAft>
                <a:spcPts val="400"/>
              </a:spcAft>
              <a:buNone/>
            </a:pPr>
            <a:r>
              <a:rPr lang="en-US" sz="1300" b="1" dirty="0">
                <a:solidFill>
                  <a:srgbClr val="FFFFFF"/>
                </a:solidFill>
                <a:latin typeface="Calibri" pitchFamily="34" charset="0"/>
                <a:ea typeface="Calibri" pitchFamily="34" charset="-122"/>
                <a:cs typeface="Calibri" pitchFamily="34" charset="-120"/>
              </a:rPr>
              <a:t>2. Preprocessing pipeline</a:t>
            </a:r>
            <a:endParaRPr lang="en-US" sz="1300" dirty="0"/>
          </a:p>
          <a:p>
            <a:pPr marL="0" indent="0" algn="ctr">
              <a:spcAft>
                <a:spcPts val="400"/>
              </a:spcAft>
              <a:buNone/>
            </a:pPr>
            <a:r>
              <a:rPr lang="en-US" sz="1100" dirty="0">
                <a:solidFill>
                  <a:srgbClr val="E6EFF6"/>
                </a:solidFill>
                <a:latin typeface="Calibri" pitchFamily="34" charset="0"/>
                <a:ea typeface="Calibri" pitchFamily="34" charset="-122"/>
                <a:cs typeface="Calibri" pitchFamily="34" charset="-120"/>
              </a:rPr>
              <a:t>Impute, scale, one-hot encode</a:t>
            </a:r>
            <a:endParaRPr lang="en-US" sz="1300" dirty="0"/>
          </a:p>
        </p:txBody>
      </p:sp>
      <p:sp>
        <p:nvSpPr>
          <p:cNvPr id="32" name="Shape 29"/>
          <p:cNvSpPr/>
          <p:nvPr/>
        </p:nvSpPr>
        <p:spPr>
          <a:xfrm>
            <a:off x="9620860" y="2363724"/>
            <a:ext cx="120244" cy="256032"/>
          </a:xfrm>
          <a:prstGeom prst="rightArrow">
            <a:avLst/>
          </a:prstGeom>
          <a:solidFill>
            <a:srgbClr val="5B6B7A"/>
          </a:solidFill>
          <a:ln w="12700">
            <a:solidFill>
              <a:srgbClr val="5B6B7A"/>
            </a:solidFill>
            <a:prstDash val="solid"/>
          </a:ln>
        </p:spPr>
      </p:sp>
      <p:sp>
        <p:nvSpPr>
          <p:cNvPr id="33" name="Shape 30"/>
          <p:cNvSpPr/>
          <p:nvPr/>
        </p:nvSpPr>
        <p:spPr>
          <a:xfrm>
            <a:off x="9768535" y="1874520"/>
            <a:ext cx="1783080" cy="1234440"/>
          </a:xfrm>
          <a:prstGeom prst="roundRect">
            <a:avLst>
              <a:gd name="adj" fmla="val 5926"/>
            </a:avLst>
          </a:prstGeom>
          <a:solidFill>
            <a:srgbClr val="0B2545"/>
          </a:solidFill>
          <a:ln w="12700">
            <a:solidFill>
              <a:srgbClr val="0B2545"/>
            </a:solidFill>
            <a:prstDash val="solid"/>
          </a:ln>
        </p:spPr>
      </p:sp>
      <p:sp>
        <p:nvSpPr>
          <p:cNvPr id="34" name="Text 31"/>
          <p:cNvSpPr txBox="1"/>
          <p:nvPr/>
        </p:nvSpPr>
        <p:spPr>
          <a:xfrm>
            <a:off x="9841687" y="1874520"/>
            <a:ext cx="1636776" cy="1234440"/>
          </a:xfrm>
          <a:prstGeom prst="rect">
            <a:avLst/>
          </a:prstGeom>
          <a:noFill/>
          <a:ln/>
        </p:spPr>
        <p:txBody>
          <a:bodyPr wrap="square" lIns="0" tIns="0" rIns="0" bIns="0" rtlCol="0" anchor="ctr"/>
          <a:lstStyle/>
          <a:p>
            <a:pPr marL="0" indent="0" algn="ctr">
              <a:spcAft>
                <a:spcPts val="400"/>
              </a:spcAft>
              <a:buNone/>
            </a:pPr>
            <a:r>
              <a:rPr lang="en-US" sz="1300" b="1" dirty="0">
                <a:solidFill>
                  <a:srgbClr val="FFFFFF"/>
                </a:solidFill>
                <a:latin typeface="Calibri" pitchFamily="34" charset="0"/>
                <a:ea typeface="Calibri" pitchFamily="34" charset="-122"/>
                <a:cs typeface="Calibri" pitchFamily="34" charset="-120"/>
              </a:rPr>
              <a:t>3. Model training</a:t>
            </a:r>
            <a:endParaRPr lang="en-US" sz="1300" dirty="0"/>
          </a:p>
          <a:p>
            <a:pPr marL="0" indent="0" algn="ctr">
              <a:spcAft>
                <a:spcPts val="400"/>
              </a:spcAft>
              <a:buNone/>
            </a:pPr>
            <a:r>
              <a:rPr lang="en-US" sz="1100" dirty="0">
                <a:solidFill>
                  <a:srgbClr val="E6EFF6"/>
                </a:solidFill>
                <a:latin typeface="Calibri" pitchFamily="34" charset="0"/>
                <a:ea typeface="Calibri" pitchFamily="34" charset="-122"/>
                <a:cs typeface="Calibri" pitchFamily="34" charset="-120"/>
              </a:rPr>
              <a:t>LR, RF, ET, soft-voting ensemble</a:t>
            </a:r>
            <a:endParaRPr lang="en-US" sz="1300" dirty="0"/>
          </a:p>
        </p:txBody>
      </p:sp>
      <p:sp>
        <p:nvSpPr>
          <p:cNvPr id="35" name="Shape 32"/>
          <p:cNvSpPr/>
          <p:nvPr/>
        </p:nvSpPr>
        <p:spPr>
          <a:xfrm>
            <a:off x="5852160" y="3429000"/>
            <a:ext cx="1783080" cy="1234440"/>
          </a:xfrm>
          <a:prstGeom prst="roundRect">
            <a:avLst>
              <a:gd name="adj" fmla="val 5926"/>
            </a:avLst>
          </a:prstGeom>
          <a:solidFill>
            <a:srgbClr val="0E8C8C"/>
          </a:solidFill>
          <a:ln w="12700">
            <a:solidFill>
              <a:srgbClr val="0E8C8C"/>
            </a:solidFill>
            <a:prstDash val="solid"/>
          </a:ln>
        </p:spPr>
      </p:sp>
      <p:sp>
        <p:nvSpPr>
          <p:cNvPr id="36" name="Text 33"/>
          <p:cNvSpPr txBox="1"/>
          <p:nvPr/>
        </p:nvSpPr>
        <p:spPr>
          <a:xfrm>
            <a:off x="5925312" y="3429000"/>
            <a:ext cx="1636776" cy="1234440"/>
          </a:xfrm>
          <a:prstGeom prst="rect">
            <a:avLst/>
          </a:prstGeom>
          <a:noFill/>
          <a:ln/>
        </p:spPr>
        <p:txBody>
          <a:bodyPr wrap="square" lIns="0" tIns="0" rIns="0" bIns="0" rtlCol="0" anchor="ctr"/>
          <a:lstStyle/>
          <a:p>
            <a:pPr marL="0" indent="0" algn="ctr">
              <a:spcAft>
                <a:spcPts val="400"/>
              </a:spcAft>
              <a:buNone/>
            </a:pPr>
            <a:r>
              <a:rPr lang="en-US" sz="1300" b="1" dirty="0">
                <a:solidFill>
                  <a:srgbClr val="FFFFFF"/>
                </a:solidFill>
                <a:latin typeface="Calibri" pitchFamily="34" charset="0"/>
                <a:ea typeface="Calibri" pitchFamily="34" charset="-122"/>
                <a:cs typeface="Calibri" pitchFamily="34" charset="-120"/>
              </a:rPr>
              <a:t>4. Evaluation</a:t>
            </a:r>
            <a:endParaRPr lang="en-US" sz="1300" dirty="0"/>
          </a:p>
          <a:p>
            <a:pPr marL="0" indent="0" algn="ctr">
              <a:spcAft>
                <a:spcPts val="400"/>
              </a:spcAft>
              <a:buNone/>
            </a:pPr>
            <a:r>
              <a:rPr lang="en-US" sz="1100" dirty="0">
                <a:solidFill>
                  <a:srgbClr val="E6EFF6"/>
                </a:solidFill>
                <a:latin typeface="Calibri" pitchFamily="34" charset="0"/>
                <a:ea typeface="Calibri" pitchFamily="34" charset="-122"/>
                <a:cs typeface="Calibri" pitchFamily="34" charset="-120"/>
              </a:rPr>
              <a:t>Metrics, CV, confusion matrix, threshold tuning</a:t>
            </a:r>
            <a:endParaRPr lang="en-US" sz="1300" dirty="0"/>
          </a:p>
        </p:txBody>
      </p:sp>
      <p:sp>
        <p:nvSpPr>
          <p:cNvPr id="37" name="Shape 34"/>
          <p:cNvSpPr/>
          <p:nvPr/>
        </p:nvSpPr>
        <p:spPr>
          <a:xfrm>
            <a:off x="7662672" y="3918204"/>
            <a:ext cx="120244" cy="256032"/>
          </a:xfrm>
          <a:prstGeom prst="rightArrow">
            <a:avLst/>
          </a:prstGeom>
          <a:solidFill>
            <a:srgbClr val="5B6B7A"/>
          </a:solidFill>
          <a:ln w="12700">
            <a:solidFill>
              <a:srgbClr val="5B6B7A"/>
            </a:solidFill>
            <a:prstDash val="solid"/>
          </a:ln>
        </p:spPr>
      </p:sp>
      <p:sp>
        <p:nvSpPr>
          <p:cNvPr id="38" name="Shape 35"/>
          <p:cNvSpPr/>
          <p:nvPr/>
        </p:nvSpPr>
        <p:spPr>
          <a:xfrm>
            <a:off x="7810348" y="3429000"/>
            <a:ext cx="1783080" cy="1234440"/>
          </a:xfrm>
          <a:prstGeom prst="roundRect">
            <a:avLst>
              <a:gd name="adj" fmla="val 5926"/>
            </a:avLst>
          </a:prstGeom>
          <a:solidFill>
            <a:srgbClr val="0E8C8C"/>
          </a:solidFill>
          <a:ln w="12700">
            <a:solidFill>
              <a:srgbClr val="0E8C8C"/>
            </a:solidFill>
            <a:prstDash val="solid"/>
          </a:ln>
        </p:spPr>
      </p:sp>
      <p:sp>
        <p:nvSpPr>
          <p:cNvPr id="39" name="Text 36"/>
          <p:cNvSpPr txBox="1"/>
          <p:nvPr/>
        </p:nvSpPr>
        <p:spPr>
          <a:xfrm>
            <a:off x="7883500" y="3429000"/>
            <a:ext cx="1636776" cy="1234440"/>
          </a:xfrm>
          <a:prstGeom prst="rect">
            <a:avLst/>
          </a:prstGeom>
          <a:noFill/>
          <a:ln/>
        </p:spPr>
        <p:txBody>
          <a:bodyPr wrap="square" lIns="0" tIns="0" rIns="0" bIns="0" rtlCol="0" anchor="ctr"/>
          <a:lstStyle/>
          <a:p>
            <a:pPr marL="0" indent="0" algn="ctr">
              <a:spcAft>
                <a:spcPts val="400"/>
              </a:spcAft>
              <a:buNone/>
            </a:pPr>
            <a:r>
              <a:rPr lang="en-US" sz="1300" b="1" dirty="0">
                <a:solidFill>
                  <a:srgbClr val="FFFFFF"/>
                </a:solidFill>
                <a:latin typeface="Calibri" pitchFamily="34" charset="0"/>
                <a:ea typeface="Calibri" pitchFamily="34" charset="-122"/>
                <a:cs typeface="Calibri" pitchFamily="34" charset="-120"/>
              </a:rPr>
              <a:t>5. Explainability</a:t>
            </a:r>
            <a:endParaRPr lang="en-US" sz="1300" dirty="0"/>
          </a:p>
          <a:p>
            <a:pPr marL="0" indent="0" algn="ctr">
              <a:spcAft>
                <a:spcPts val="400"/>
              </a:spcAft>
              <a:buNone/>
            </a:pPr>
            <a:r>
              <a:rPr lang="en-US" sz="1100" dirty="0">
                <a:solidFill>
                  <a:srgbClr val="E6EFF6"/>
                </a:solidFill>
                <a:latin typeface="Calibri" pitchFamily="34" charset="0"/>
                <a:ea typeface="Calibri" pitchFamily="34" charset="-122"/>
                <a:cs typeface="Calibri" pitchFamily="34" charset="-120"/>
              </a:rPr>
              <a:t>SHAP and feature importance</a:t>
            </a:r>
            <a:endParaRPr lang="en-US" sz="1300" dirty="0"/>
          </a:p>
        </p:txBody>
      </p:sp>
      <p:sp>
        <p:nvSpPr>
          <p:cNvPr id="40" name="Shape 37"/>
          <p:cNvSpPr/>
          <p:nvPr/>
        </p:nvSpPr>
        <p:spPr>
          <a:xfrm>
            <a:off x="9620860" y="3918204"/>
            <a:ext cx="120244" cy="256032"/>
          </a:xfrm>
          <a:prstGeom prst="rightArrow">
            <a:avLst/>
          </a:prstGeom>
          <a:solidFill>
            <a:srgbClr val="5B6B7A"/>
          </a:solidFill>
          <a:ln w="12700">
            <a:solidFill>
              <a:srgbClr val="5B6B7A"/>
            </a:solidFill>
            <a:prstDash val="solid"/>
          </a:ln>
        </p:spPr>
      </p:sp>
      <p:sp>
        <p:nvSpPr>
          <p:cNvPr id="41" name="Shape 38"/>
          <p:cNvSpPr/>
          <p:nvPr/>
        </p:nvSpPr>
        <p:spPr>
          <a:xfrm>
            <a:off x="9768535" y="3429000"/>
            <a:ext cx="1783080" cy="1234440"/>
          </a:xfrm>
          <a:prstGeom prst="roundRect">
            <a:avLst>
              <a:gd name="adj" fmla="val 5926"/>
            </a:avLst>
          </a:prstGeom>
          <a:solidFill>
            <a:srgbClr val="0E8C8C"/>
          </a:solidFill>
          <a:ln w="12700">
            <a:solidFill>
              <a:srgbClr val="0E8C8C"/>
            </a:solidFill>
            <a:prstDash val="solid"/>
          </a:ln>
        </p:spPr>
      </p:sp>
      <p:sp>
        <p:nvSpPr>
          <p:cNvPr id="42" name="Text 39"/>
          <p:cNvSpPr txBox="1"/>
          <p:nvPr/>
        </p:nvSpPr>
        <p:spPr>
          <a:xfrm>
            <a:off x="9841687" y="3429000"/>
            <a:ext cx="1636776" cy="1234440"/>
          </a:xfrm>
          <a:prstGeom prst="rect">
            <a:avLst/>
          </a:prstGeom>
          <a:noFill/>
          <a:ln/>
        </p:spPr>
        <p:txBody>
          <a:bodyPr wrap="square" lIns="0" tIns="0" rIns="0" bIns="0" rtlCol="0" anchor="ctr"/>
          <a:lstStyle/>
          <a:p>
            <a:pPr marL="0" indent="0" algn="ctr">
              <a:spcAft>
                <a:spcPts val="400"/>
              </a:spcAft>
              <a:buNone/>
            </a:pPr>
            <a:r>
              <a:rPr lang="en-US" sz="1300" b="1" dirty="0">
                <a:solidFill>
                  <a:srgbClr val="FFFFFF"/>
                </a:solidFill>
                <a:latin typeface="Calibri" pitchFamily="34" charset="0"/>
                <a:ea typeface="Calibri" pitchFamily="34" charset="-122"/>
                <a:cs typeface="Calibri" pitchFamily="34" charset="-120"/>
              </a:rPr>
              <a:t>6. Saved outputs</a:t>
            </a:r>
            <a:endParaRPr lang="en-US" sz="1300" dirty="0"/>
          </a:p>
          <a:p>
            <a:pPr marL="0" indent="0" algn="ctr">
              <a:spcAft>
                <a:spcPts val="400"/>
              </a:spcAft>
              <a:buNone/>
            </a:pPr>
            <a:r>
              <a:rPr lang="en-US" sz="1100" dirty="0">
                <a:solidFill>
                  <a:srgbClr val="E6EFF6"/>
                </a:solidFill>
                <a:latin typeface="Calibri" pitchFamily="34" charset="0"/>
                <a:ea typeface="Calibri" pitchFamily="34" charset="-122"/>
                <a:cs typeface="Calibri" pitchFamily="34" charset="-120"/>
              </a:rPr>
              <a:t>joblib models and result CSVs</a:t>
            </a:r>
            <a:endParaRPr lang="en-US" sz="1300" dirty="0"/>
          </a:p>
        </p:txBody>
      </p:sp>
      <p:sp>
        <p:nvSpPr>
          <p:cNvPr id="43" name="Shape 40"/>
          <p:cNvSpPr/>
          <p:nvPr/>
        </p:nvSpPr>
        <p:spPr>
          <a:xfrm>
            <a:off x="457200" y="5257800"/>
            <a:ext cx="11277295" cy="1005840"/>
          </a:xfrm>
          <a:prstGeom prst="roundRect">
            <a:avLst>
              <a:gd name="adj" fmla="val 7273"/>
            </a:avLst>
          </a:prstGeom>
          <a:solidFill>
            <a:srgbClr val="FBE9C9"/>
          </a:solidFill>
          <a:ln w="9525">
            <a:solidFill>
              <a:srgbClr val="FBE9C9"/>
            </a:solidFill>
            <a:prstDash val="solid"/>
          </a:ln>
        </p:spPr>
      </p:sp>
      <p:sp>
        <p:nvSpPr>
          <p:cNvPr id="44" name="Text 41"/>
          <p:cNvSpPr txBox="1"/>
          <p:nvPr/>
        </p:nvSpPr>
        <p:spPr>
          <a:xfrm>
            <a:off x="685800" y="5303520"/>
            <a:ext cx="10820095" cy="91440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Scope of implementation: </a:t>
            </a:r>
            <a:r>
              <a:rPr lang="en-US" sz="1250" dirty="0">
                <a:solidFill>
                  <a:srgbClr val="1F2D3A"/>
                </a:solidFill>
                <a:latin typeface="Calibri" pitchFamily="34" charset="0"/>
                <a:ea typeface="Calibri" pitchFamily="34" charset="-122"/>
                <a:cs typeface="Calibri" pitchFamily="34" charset="-120"/>
              </a:rPr>
              <a:t>all work was run and evaluated inside the notebook. No web application, API, dashboard or real-time prediction system was built. Trained models and result tables were saved for reuse.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Results: Diabetes Status Prediction (3 Classes)</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Test set of 45,957 records; the soft-voting ensemble is shown in detail</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457200" y="1371600"/>
            <a:ext cx="2697480" cy="1097280"/>
          </a:xfrm>
          <a:prstGeom prst="roundRect">
            <a:avLst>
              <a:gd name="adj" fmla="val 6667"/>
            </a:avLst>
          </a:prstGeom>
          <a:solidFill>
            <a:srgbClr val="FFFFFF"/>
          </a:solidFill>
          <a:ln w="9525">
            <a:solidFill>
              <a:srgbClr val="DCE4EA"/>
            </a:solidFill>
            <a:prstDash val="solid"/>
          </a:ln>
        </p:spPr>
      </p:sp>
      <p:sp>
        <p:nvSpPr>
          <p:cNvPr id="8" name="Text 5"/>
          <p:cNvSpPr txBox="1"/>
          <p:nvPr/>
        </p:nvSpPr>
        <p:spPr>
          <a:xfrm>
            <a:off x="457200" y="1463040"/>
            <a:ext cx="2697480" cy="570586"/>
          </a:xfrm>
          <a:prstGeom prst="rect">
            <a:avLst/>
          </a:prstGeom>
          <a:noFill/>
          <a:ln/>
        </p:spPr>
        <p:txBody>
          <a:bodyPr wrap="square" lIns="0" tIns="0" rIns="0" bIns="0" rtlCol="0" anchor="ctr"/>
          <a:lstStyle/>
          <a:p>
            <a:pPr marL="0" indent="0" algn="ctr">
              <a:buNone/>
            </a:pPr>
            <a:r>
              <a:rPr lang="en-US" sz="2800" b="1" dirty="0">
                <a:solidFill>
                  <a:srgbClr val="0B2545"/>
                </a:solidFill>
                <a:latin typeface="Cambria" pitchFamily="34" charset="0"/>
                <a:ea typeface="Cambria" pitchFamily="34" charset="-122"/>
                <a:cs typeface="Cambria" pitchFamily="34" charset="-120"/>
              </a:rPr>
              <a:t>0.8197</a:t>
            </a:r>
            <a:endParaRPr lang="en-US" sz="2800" dirty="0"/>
          </a:p>
        </p:txBody>
      </p:sp>
      <p:sp>
        <p:nvSpPr>
          <p:cNvPr id="9" name="Text 6"/>
          <p:cNvSpPr txBox="1"/>
          <p:nvPr/>
        </p:nvSpPr>
        <p:spPr>
          <a:xfrm>
            <a:off x="548640" y="2008022"/>
            <a:ext cx="2514600" cy="416966"/>
          </a:xfrm>
          <a:prstGeom prst="rect">
            <a:avLst/>
          </a:prstGeom>
          <a:noFill/>
          <a:ln/>
        </p:spPr>
        <p:txBody>
          <a:bodyPr wrap="square" lIns="0" tIns="0" rIns="0" bIns="0" rtlCol="0" anchor="t"/>
          <a:lstStyle/>
          <a:p>
            <a:pPr marL="0" indent="0" algn="ctr">
              <a:buNone/>
            </a:pPr>
            <a:r>
              <a:rPr lang="en-US" sz="1150" dirty="0">
                <a:solidFill>
                  <a:srgbClr val="5B6B7A"/>
                </a:solidFill>
                <a:latin typeface="Calibri" pitchFamily="34" charset="0"/>
                <a:ea typeface="Calibri" pitchFamily="34" charset="-122"/>
                <a:cs typeface="Calibri" pitchFamily="34" charset="-120"/>
              </a:rPr>
              <a:t>Ensemble accuracy</a:t>
            </a:r>
            <a:endParaRPr lang="en-US" sz="1150" dirty="0"/>
          </a:p>
        </p:txBody>
      </p:sp>
      <p:sp>
        <p:nvSpPr>
          <p:cNvPr id="10" name="Shape 7"/>
          <p:cNvSpPr/>
          <p:nvPr/>
        </p:nvSpPr>
        <p:spPr>
          <a:xfrm>
            <a:off x="3317138" y="1371600"/>
            <a:ext cx="2697480" cy="1097280"/>
          </a:xfrm>
          <a:prstGeom prst="roundRect">
            <a:avLst>
              <a:gd name="adj" fmla="val 6667"/>
            </a:avLst>
          </a:prstGeom>
          <a:solidFill>
            <a:srgbClr val="FFFFFF"/>
          </a:solidFill>
          <a:ln w="9525">
            <a:solidFill>
              <a:srgbClr val="DCE4EA"/>
            </a:solidFill>
            <a:prstDash val="solid"/>
          </a:ln>
        </p:spPr>
      </p:sp>
      <p:sp>
        <p:nvSpPr>
          <p:cNvPr id="11" name="Text 8"/>
          <p:cNvSpPr txBox="1"/>
          <p:nvPr/>
        </p:nvSpPr>
        <p:spPr>
          <a:xfrm>
            <a:off x="3317138" y="1463040"/>
            <a:ext cx="2697480" cy="570586"/>
          </a:xfrm>
          <a:prstGeom prst="rect">
            <a:avLst/>
          </a:prstGeom>
          <a:noFill/>
          <a:ln/>
        </p:spPr>
        <p:txBody>
          <a:bodyPr wrap="square" lIns="0" tIns="0" rIns="0" bIns="0" rtlCol="0" anchor="ctr"/>
          <a:lstStyle/>
          <a:p>
            <a:pPr marL="0" indent="0" algn="ctr">
              <a:buNone/>
            </a:pPr>
            <a:r>
              <a:rPr lang="en-US" sz="2800" b="1" dirty="0">
                <a:solidFill>
                  <a:srgbClr val="0B2545"/>
                </a:solidFill>
                <a:latin typeface="Cambria" pitchFamily="34" charset="0"/>
                <a:ea typeface="Cambria" pitchFamily="34" charset="-122"/>
                <a:cs typeface="Cambria" pitchFamily="34" charset="-120"/>
              </a:rPr>
              <a:t>0.4030</a:t>
            </a:r>
            <a:endParaRPr lang="en-US" sz="2800" dirty="0"/>
          </a:p>
        </p:txBody>
      </p:sp>
      <p:sp>
        <p:nvSpPr>
          <p:cNvPr id="12" name="Text 9"/>
          <p:cNvSpPr txBox="1"/>
          <p:nvPr/>
        </p:nvSpPr>
        <p:spPr>
          <a:xfrm>
            <a:off x="3408578" y="2008022"/>
            <a:ext cx="2514600" cy="416966"/>
          </a:xfrm>
          <a:prstGeom prst="rect">
            <a:avLst/>
          </a:prstGeom>
          <a:noFill/>
          <a:ln/>
        </p:spPr>
        <p:txBody>
          <a:bodyPr wrap="square" lIns="0" tIns="0" rIns="0" bIns="0" rtlCol="0" anchor="t"/>
          <a:lstStyle/>
          <a:p>
            <a:pPr marL="0" indent="0" algn="ctr">
              <a:buNone/>
            </a:pPr>
            <a:r>
              <a:rPr lang="en-US" sz="1150" dirty="0">
                <a:solidFill>
                  <a:srgbClr val="5B6B7A"/>
                </a:solidFill>
                <a:latin typeface="Calibri" pitchFamily="34" charset="0"/>
                <a:ea typeface="Calibri" pitchFamily="34" charset="-122"/>
                <a:cs typeface="Calibri" pitchFamily="34" charset="-120"/>
              </a:rPr>
              <a:t>Ensemble macro F1</a:t>
            </a:r>
            <a:endParaRPr lang="en-US" sz="1150" dirty="0"/>
          </a:p>
        </p:txBody>
      </p:sp>
      <p:sp>
        <p:nvSpPr>
          <p:cNvPr id="13" name="Shape 10"/>
          <p:cNvSpPr/>
          <p:nvPr/>
        </p:nvSpPr>
        <p:spPr>
          <a:xfrm>
            <a:off x="6177077" y="1371600"/>
            <a:ext cx="2697480" cy="1097280"/>
          </a:xfrm>
          <a:prstGeom prst="roundRect">
            <a:avLst>
              <a:gd name="adj" fmla="val 6667"/>
            </a:avLst>
          </a:prstGeom>
          <a:solidFill>
            <a:srgbClr val="FFFFFF"/>
          </a:solidFill>
          <a:ln w="9525">
            <a:solidFill>
              <a:srgbClr val="DCE4EA"/>
            </a:solidFill>
            <a:prstDash val="solid"/>
          </a:ln>
        </p:spPr>
      </p:sp>
      <p:sp>
        <p:nvSpPr>
          <p:cNvPr id="14" name="Text 11"/>
          <p:cNvSpPr txBox="1"/>
          <p:nvPr/>
        </p:nvSpPr>
        <p:spPr>
          <a:xfrm>
            <a:off x="6177077" y="1463040"/>
            <a:ext cx="2697480" cy="570586"/>
          </a:xfrm>
          <a:prstGeom prst="rect">
            <a:avLst/>
          </a:prstGeom>
          <a:noFill/>
          <a:ln/>
        </p:spPr>
        <p:txBody>
          <a:bodyPr wrap="square" lIns="0" tIns="0" rIns="0" bIns="0" rtlCol="0" anchor="ctr"/>
          <a:lstStyle/>
          <a:p>
            <a:pPr marL="0" indent="0" algn="ctr">
              <a:buNone/>
            </a:pPr>
            <a:r>
              <a:rPr lang="en-US" sz="2800" b="1" dirty="0">
                <a:solidFill>
                  <a:srgbClr val="0B2545"/>
                </a:solidFill>
                <a:latin typeface="Cambria" pitchFamily="34" charset="0"/>
                <a:ea typeface="Cambria" pitchFamily="34" charset="-122"/>
                <a:cs typeface="Cambria" pitchFamily="34" charset="-120"/>
              </a:rPr>
              <a:t>0.7398</a:t>
            </a:r>
            <a:endParaRPr lang="en-US" sz="2800" dirty="0"/>
          </a:p>
        </p:txBody>
      </p:sp>
      <p:sp>
        <p:nvSpPr>
          <p:cNvPr id="15" name="Text 12"/>
          <p:cNvSpPr txBox="1"/>
          <p:nvPr/>
        </p:nvSpPr>
        <p:spPr>
          <a:xfrm>
            <a:off x="6268517" y="2008022"/>
            <a:ext cx="2514600" cy="416966"/>
          </a:xfrm>
          <a:prstGeom prst="rect">
            <a:avLst/>
          </a:prstGeom>
          <a:noFill/>
          <a:ln/>
        </p:spPr>
        <p:txBody>
          <a:bodyPr wrap="square" lIns="0" tIns="0" rIns="0" bIns="0" rtlCol="0" anchor="t"/>
          <a:lstStyle/>
          <a:p>
            <a:pPr marL="0" indent="0" algn="ctr">
              <a:buNone/>
            </a:pPr>
            <a:r>
              <a:rPr lang="en-US" sz="1150" dirty="0">
                <a:solidFill>
                  <a:srgbClr val="5B6B7A"/>
                </a:solidFill>
                <a:latin typeface="Calibri" pitchFamily="34" charset="0"/>
                <a:ea typeface="Calibri" pitchFamily="34" charset="-122"/>
                <a:cs typeface="Calibri" pitchFamily="34" charset="-120"/>
              </a:rPr>
              <a:t>Ensemble macro ROC-AUC (one-vs-rest)</a:t>
            </a:r>
            <a:endParaRPr lang="en-US" sz="1150" dirty="0"/>
          </a:p>
        </p:txBody>
      </p:sp>
      <p:sp>
        <p:nvSpPr>
          <p:cNvPr id="16" name="Shape 13"/>
          <p:cNvSpPr/>
          <p:nvPr/>
        </p:nvSpPr>
        <p:spPr>
          <a:xfrm>
            <a:off x="9037015" y="1371600"/>
            <a:ext cx="2697480" cy="1097280"/>
          </a:xfrm>
          <a:prstGeom prst="roundRect">
            <a:avLst>
              <a:gd name="adj" fmla="val 6667"/>
            </a:avLst>
          </a:prstGeom>
          <a:solidFill>
            <a:srgbClr val="0B2545"/>
          </a:solidFill>
          <a:ln w="9525">
            <a:solidFill>
              <a:srgbClr val="0B2545"/>
            </a:solidFill>
            <a:prstDash val="solid"/>
          </a:ln>
        </p:spPr>
      </p:sp>
      <p:sp>
        <p:nvSpPr>
          <p:cNvPr id="17" name="Text 14"/>
          <p:cNvSpPr txBox="1"/>
          <p:nvPr/>
        </p:nvSpPr>
        <p:spPr>
          <a:xfrm>
            <a:off x="9037015" y="1463040"/>
            <a:ext cx="2697480" cy="570586"/>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0.4257</a:t>
            </a:r>
            <a:endParaRPr lang="en-US" sz="2800" dirty="0"/>
          </a:p>
        </p:txBody>
      </p:sp>
      <p:sp>
        <p:nvSpPr>
          <p:cNvPr id="18" name="Text 15"/>
          <p:cNvSpPr txBox="1"/>
          <p:nvPr/>
        </p:nvSpPr>
        <p:spPr>
          <a:xfrm>
            <a:off x="9128455" y="2008022"/>
            <a:ext cx="2514600" cy="416966"/>
          </a:xfrm>
          <a:prstGeom prst="rect">
            <a:avLst/>
          </a:prstGeom>
          <a:noFill/>
          <a:ln/>
        </p:spPr>
        <p:txBody>
          <a:bodyPr wrap="square" lIns="0" tIns="0" rIns="0" bIns="0" rtlCol="0" anchor="t"/>
          <a:lstStyle/>
          <a:p>
            <a:pPr marL="0" indent="0" algn="ctr">
              <a:buNone/>
            </a:pPr>
            <a:r>
              <a:rPr lang="en-US" sz="1150" dirty="0">
                <a:solidFill>
                  <a:srgbClr val="CFE3F0"/>
                </a:solidFill>
                <a:latin typeface="Calibri" pitchFamily="34" charset="0"/>
                <a:ea typeface="Calibri" pitchFamily="34" charset="-122"/>
                <a:cs typeface="Calibri" pitchFamily="34" charset="-120"/>
              </a:rPr>
              <a:t>Best macro F1: Logistic Regression</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2697480"/>
          <a:ext cx="5486400" cy="1920240"/>
        </p:xfrm>
        <a:graphic>
          <a:graphicData uri="http://schemas.openxmlformats.org/drawingml/2006/table">
            <a:tbl>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188720">
                  <a:extLst>
                    <a:ext uri="{9D8B030D-6E8A-4147-A177-3AD203B41FA5}">
                      <a16:colId xmlns:a16="http://schemas.microsoft.com/office/drawing/2014/main" val="20004"/>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Class (ensemble)</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Support</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1F2D3A"/>
                          </a:solidFill>
                          <a:latin typeface="Calibri" pitchFamily="34" charset="0"/>
                          <a:ea typeface="Calibri" pitchFamily="34" charset="-122"/>
                          <a:cs typeface="Calibri" pitchFamily="34" charset="-120"/>
                        </a:rPr>
                        <a:t>No diabetes (0)</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0.85</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38,012</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1F2D3A"/>
                          </a:solidFill>
                          <a:latin typeface="Calibri" pitchFamily="34" charset="0"/>
                          <a:ea typeface="Calibri" pitchFamily="34" charset="-122"/>
                          <a:cs typeface="Calibri" pitchFamily="34" charset="-120"/>
                        </a:rPr>
                        <a:t>Prediabetes (1)</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0.02</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0.00</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0.00</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926</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1F2D3A"/>
                          </a:solidFill>
                          <a:latin typeface="Calibri" pitchFamily="34" charset="0"/>
                          <a:ea typeface="Calibri" pitchFamily="34" charset="-122"/>
                          <a:cs typeface="Calibri" pitchFamily="34" charset="-120"/>
                        </a:rPr>
                        <a:t>Diabetes (2)</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0.45</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0.23</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0.31</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dirty="0">
                          <a:solidFill>
                            <a:srgbClr val="1F2D3A"/>
                          </a:solidFill>
                          <a:latin typeface="Calibri" pitchFamily="34" charset="0"/>
                          <a:ea typeface="Calibri" pitchFamily="34" charset="-122"/>
                          <a:cs typeface="Calibri" pitchFamily="34" charset="-120"/>
                        </a:rPr>
                        <a:t>7,019</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lgn="l">
                        <a:buNone/>
                      </a:pPr>
                      <a:r>
                        <a:rPr lang="en-US" sz="1200" b="1" dirty="0">
                          <a:solidFill>
                            <a:srgbClr val="1F2D3A"/>
                          </a:solidFill>
                          <a:latin typeface="Calibri" pitchFamily="34" charset="0"/>
                          <a:ea typeface="Calibri" pitchFamily="34" charset="-122"/>
                          <a:cs typeface="Calibri" pitchFamily="34" charset="-120"/>
                        </a:rPr>
                        <a:t>Macro average</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b="1" dirty="0">
                          <a:solidFill>
                            <a:srgbClr val="1F2D3A"/>
                          </a:solidFill>
                          <a:latin typeface="Calibri" pitchFamily="34" charset="0"/>
                          <a:ea typeface="Calibri" pitchFamily="34" charset="-122"/>
                          <a:cs typeface="Calibri" pitchFamily="34" charset="-120"/>
                        </a:rPr>
                        <a:t>0.44</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b="1" dirty="0">
                          <a:solidFill>
                            <a:srgbClr val="1F2D3A"/>
                          </a:solidFill>
                          <a:latin typeface="Calibri" pitchFamily="34" charset="0"/>
                          <a:ea typeface="Calibri" pitchFamily="34" charset="-122"/>
                          <a:cs typeface="Calibri" pitchFamily="34" charset="-120"/>
                        </a:rPr>
                        <a:t>0.39</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b="1" dirty="0">
                          <a:solidFill>
                            <a:srgbClr val="1F2D3A"/>
                          </a:solidFill>
                          <a:latin typeface="Calibri" pitchFamily="34" charset="0"/>
                          <a:ea typeface="Calibri" pitchFamily="34" charset="-122"/>
                          <a:cs typeface="Calibri" pitchFamily="34" charset="-120"/>
                        </a:rPr>
                        <a:t>0.40</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200" b="1" dirty="0">
                          <a:solidFill>
                            <a:srgbClr val="1F2D3A"/>
                          </a:solidFill>
                          <a:latin typeface="Calibri" pitchFamily="34" charset="0"/>
                          <a:ea typeface="Calibri" pitchFamily="34" charset="-122"/>
                          <a:cs typeface="Calibri" pitchFamily="34" charset="-120"/>
                        </a:rPr>
                        <a:t>45,957</a:t>
                      </a:r>
                      <a:endParaRPr lang="en-US" sz="12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0" name="Text 16"/>
          <p:cNvSpPr txBox="1"/>
          <p:nvPr/>
        </p:nvSpPr>
        <p:spPr>
          <a:xfrm>
            <a:off x="457200" y="4663440"/>
            <a:ext cx="5486400" cy="274320"/>
          </a:xfrm>
          <a:prstGeom prst="rect">
            <a:avLst/>
          </a:prstGeom>
          <a:noFill/>
          <a:ln/>
        </p:spPr>
        <p:txBody>
          <a:bodyPr wrap="square" lIns="0" tIns="0" rIns="0" bIns="0" rtlCol="0" anchor="ctr"/>
          <a:lstStyle/>
          <a:p>
            <a:pPr marL="0" indent="0">
              <a:buNone/>
            </a:pPr>
            <a:r>
              <a:rPr lang="en-US" sz="1050" i="1" dirty="0">
                <a:solidFill>
                  <a:srgbClr val="5B6B7A"/>
                </a:solidFill>
                <a:latin typeface="Calibri" pitchFamily="34" charset="0"/>
                <a:ea typeface="Calibri" pitchFamily="34" charset="-122"/>
                <a:cs typeface="Calibri" pitchFamily="34" charset="-120"/>
              </a:rPr>
              <a:t>Overall ensemble accuracy 0.82. Values from the classification report (2 d.p.).</a:t>
            </a:r>
            <a:endParaRPr lang="en-US" sz="1050" dirty="0"/>
          </a:p>
        </p:txBody>
      </p:sp>
      <p:graphicFrame>
        <p:nvGraphicFramePr>
          <p:cNvPr id="21" name="Chart 0"/>
          <p:cNvGraphicFramePr/>
          <p:nvPr/>
        </p:nvGraphicFramePr>
        <p:xfrm>
          <a:off x="6263640" y="2651760"/>
          <a:ext cx="5470855"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7"/>
          <p:cNvSpPr/>
          <p:nvPr/>
        </p:nvSpPr>
        <p:spPr>
          <a:xfrm>
            <a:off x="457200" y="5166360"/>
            <a:ext cx="11277295" cy="1097280"/>
          </a:xfrm>
          <a:prstGeom prst="roundRect">
            <a:avLst>
              <a:gd name="adj" fmla="val 6667"/>
            </a:avLst>
          </a:prstGeom>
          <a:solidFill>
            <a:srgbClr val="D6EEF0"/>
          </a:solidFill>
          <a:ln w="9525">
            <a:solidFill>
              <a:srgbClr val="D6EEF0"/>
            </a:solidFill>
            <a:prstDash val="solid"/>
          </a:ln>
        </p:spPr>
      </p:sp>
      <p:sp>
        <p:nvSpPr>
          <p:cNvPr id="23" name="Text 18"/>
          <p:cNvSpPr txBox="1"/>
          <p:nvPr/>
        </p:nvSpPr>
        <p:spPr>
          <a:xfrm>
            <a:off x="685800" y="5212080"/>
            <a:ext cx="10820095" cy="1005840"/>
          </a:xfrm>
          <a:prstGeom prst="rect">
            <a:avLst/>
          </a:prstGeom>
          <a:noFill/>
          <a:ln/>
        </p:spPr>
        <p:txBody>
          <a:bodyPr wrap="square" lIns="0" tIns="0" rIns="0" bIns="0" rtlCol="0" anchor="ctr"/>
          <a:lstStyle/>
          <a:p>
            <a:pPr marL="0" indent="0">
              <a:buNone/>
            </a:pPr>
            <a:r>
              <a:rPr lang="en-US" sz="1250" b="1" dirty="0">
                <a:solidFill>
                  <a:srgbClr val="0B2545"/>
                </a:solidFill>
                <a:latin typeface="Calibri" pitchFamily="34" charset="0"/>
                <a:ea typeface="Calibri" pitchFamily="34" charset="-122"/>
                <a:cs typeface="Calibri" pitchFamily="34" charset="-120"/>
              </a:rPr>
              <a:t>Interpretation: </a:t>
            </a:r>
            <a:r>
              <a:rPr lang="en-US" sz="1250" dirty="0">
                <a:solidFill>
                  <a:srgbClr val="1F2D3A"/>
                </a:solidFill>
                <a:latin typeface="Calibri" pitchFamily="34" charset="0"/>
                <a:ea typeface="Calibri" pitchFamily="34" charset="-122"/>
                <a:cs typeface="Calibri" pitchFamily="34" charset="-120"/>
              </a:rPr>
              <a:t>the ensemble's high accuracy mainly reflects the 82.7% majority class. It detects almost no prediabetes cases (recall 0.00 of 926). Logistic Regression has lower accuracy (0.6292) but recovers more minority-class cases, which is why it leads on macro F1.</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Results: 30-Day Readmission Prediction</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Class-weighted Random Forest with a validation-selected threshold of 0.40, evaluated on 20,354 untouched test encounters</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457200" y="1371600"/>
            <a:ext cx="2103120" cy="1051560"/>
          </a:xfrm>
          <a:prstGeom prst="roundRect">
            <a:avLst>
              <a:gd name="adj" fmla="val 6957"/>
            </a:avLst>
          </a:prstGeom>
          <a:solidFill>
            <a:srgbClr val="FFFFFF"/>
          </a:solidFill>
          <a:ln w="9525">
            <a:solidFill>
              <a:srgbClr val="DCE4EA"/>
            </a:solidFill>
            <a:prstDash val="solid"/>
          </a:ln>
        </p:spPr>
      </p:sp>
      <p:sp>
        <p:nvSpPr>
          <p:cNvPr id="8" name="Text 5"/>
          <p:cNvSpPr txBox="1"/>
          <p:nvPr/>
        </p:nvSpPr>
        <p:spPr>
          <a:xfrm>
            <a:off x="457200" y="1463040"/>
            <a:ext cx="2103120" cy="546811"/>
          </a:xfrm>
          <a:prstGeom prst="rect">
            <a:avLst/>
          </a:prstGeom>
          <a:noFill/>
          <a:ln/>
        </p:spPr>
        <p:txBody>
          <a:bodyPr wrap="square" lIns="0" tIns="0" rIns="0" bIns="0" rtlCol="0" anchor="ctr"/>
          <a:lstStyle/>
          <a:p>
            <a:pPr marL="0" indent="0" algn="ctr">
              <a:buNone/>
            </a:pPr>
            <a:r>
              <a:rPr lang="en-US" sz="2800" b="1" dirty="0">
                <a:solidFill>
                  <a:srgbClr val="0B2545"/>
                </a:solidFill>
                <a:latin typeface="Cambria" pitchFamily="34" charset="0"/>
                <a:ea typeface="Cambria" pitchFamily="34" charset="-122"/>
                <a:cs typeface="Cambria" pitchFamily="34" charset="-120"/>
              </a:rPr>
              <a:t>0.6876</a:t>
            </a:r>
            <a:endParaRPr lang="en-US" sz="2800" dirty="0"/>
          </a:p>
        </p:txBody>
      </p:sp>
      <p:sp>
        <p:nvSpPr>
          <p:cNvPr id="9" name="Text 6"/>
          <p:cNvSpPr txBox="1"/>
          <p:nvPr/>
        </p:nvSpPr>
        <p:spPr>
          <a:xfrm>
            <a:off x="548640" y="1981505"/>
            <a:ext cx="1920240" cy="399593"/>
          </a:xfrm>
          <a:prstGeom prst="rect">
            <a:avLst/>
          </a:prstGeom>
          <a:noFill/>
          <a:ln/>
        </p:spPr>
        <p:txBody>
          <a:bodyPr wrap="square" lIns="0" tIns="0" rIns="0" bIns="0" rtlCol="0" anchor="t"/>
          <a:lstStyle/>
          <a:p>
            <a:pPr marL="0" indent="0" algn="ctr">
              <a:buNone/>
            </a:pPr>
            <a:r>
              <a:rPr lang="en-US" sz="1150" dirty="0">
                <a:solidFill>
                  <a:srgbClr val="5B6B7A"/>
                </a:solidFill>
                <a:latin typeface="Calibri" pitchFamily="34" charset="0"/>
                <a:ea typeface="Calibri" pitchFamily="34" charset="-122"/>
                <a:cs typeface="Calibri" pitchFamily="34" charset="-120"/>
              </a:rPr>
              <a:t>Accuracy</a:t>
            </a:r>
            <a:endParaRPr lang="en-US" sz="1150" dirty="0"/>
          </a:p>
        </p:txBody>
      </p:sp>
      <p:sp>
        <p:nvSpPr>
          <p:cNvPr id="10" name="Shape 7"/>
          <p:cNvSpPr/>
          <p:nvPr/>
        </p:nvSpPr>
        <p:spPr>
          <a:xfrm>
            <a:off x="2750744" y="1371600"/>
            <a:ext cx="2103120" cy="1051560"/>
          </a:xfrm>
          <a:prstGeom prst="roundRect">
            <a:avLst>
              <a:gd name="adj" fmla="val 6957"/>
            </a:avLst>
          </a:prstGeom>
          <a:solidFill>
            <a:srgbClr val="FFFFFF"/>
          </a:solidFill>
          <a:ln w="9525">
            <a:solidFill>
              <a:srgbClr val="DCE4EA"/>
            </a:solidFill>
            <a:prstDash val="solid"/>
          </a:ln>
        </p:spPr>
      </p:sp>
      <p:sp>
        <p:nvSpPr>
          <p:cNvPr id="11" name="Text 8"/>
          <p:cNvSpPr txBox="1"/>
          <p:nvPr/>
        </p:nvSpPr>
        <p:spPr>
          <a:xfrm>
            <a:off x="2750744" y="1463040"/>
            <a:ext cx="2103120" cy="546811"/>
          </a:xfrm>
          <a:prstGeom prst="rect">
            <a:avLst/>
          </a:prstGeom>
          <a:noFill/>
          <a:ln/>
        </p:spPr>
        <p:txBody>
          <a:bodyPr wrap="square" lIns="0" tIns="0" rIns="0" bIns="0" rtlCol="0" anchor="ctr"/>
          <a:lstStyle/>
          <a:p>
            <a:pPr marL="0" indent="0" algn="ctr">
              <a:buNone/>
            </a:pPr>
            <a:r>
              <a:rPr lang="en-US" sz="2800" b="1" dirty="0">
                <a:solidFill>
                  <a:srgbClr val="0B2545"/>
                </a:solidFill>
                <a:latin typeface="Cambria" pitchFamily="34" charset="0"/>
                <a:ea typeface="Cambria" pitchFamily="34" charset="-122"/>
                <a:cs typeface="Cambria" pitchFamily="34" charset="-120"/>
              </a:rPr>
              <a:t>0.1856</a:t>
            </a:r>
            <a:endParaRPr lang="en-US" sz="2800" dirty="0"/>
          </a:p>
        </p:txBody>
      </p:sp>
      <p:sp>
        <p:nvSpPr>
          <p:cNvPr id="12" name="Text 9"/>
          <p:cNvSpPr txBox="1"/>
          <p:nvPr/>
        </p:nvSpPr>
        <p:spPr>
          <a:xfrm>
            <a:off x="2842184" y="1981505"/>
            <a:ext cx="1920240" cy="399593"/>
          </a:xfrm>
          <a:prstGeom prst="rect">
            <a:avLst/>
          </a:prstGeom>
          <a:noFill/>
          <a:ln/>
        </p:spPr>
        <p:txBody>
          <a:bodyPr wrap="square" lIns="0" tIns="0" rIns="0" bIns="0" rtlCol="0" anchor="t"/>
          <a:lstStyle/>
          <a:p>
            <a:pPr marL="0" indent="0" algn="ctr">
              <a:buNone/>
            </a:pPr>
            <a:r>
              <a:rPr lang="en-US" sz="1150" dirty="0">
                <a:solidFill>
                  <a:srgbClr val="5B6B7A"/>
                </a:solidFill>
                <a:latin typeface="Calibri" pitchFamily="34" charset="0"/>
                <a:ea typeface="Calibri" pitchFamily="34" charset="-122"/>
                <a:cs typeface="Calibri" pitchFamily="34" charset="-120"/>
              </a:rPr>
              <a:t>Precision (early readmission)</a:t>
            </a:r>
            <a:endParaRPr lang="en-US" sz="1150" dirty="0"/>
          </a:p>
        </p:txBody>
      </p:sp>
      <p:sp>
        <p:nvSpPr>
          <p:cNvPr id="13" name="Shape 10"/>
          <p:cNvSpPr/>
          <p:nvPr/>
        </p:nvSpPr>
        <p:spPr>
          <a:xfrm>
            <a:off x="5044288" y="1371600"/>
            <a:ext cx="2103120" cy="1051560"/>
          </a:xfrm>
          <a:prstGeom prst="roundRect">
            <a:avLst>
              <a:gd name="adj" fmla="val 6957"/>
            </a:avLst>
          </a:prstGeom>
          <a:solidFill>
            <a:srgbClr val="0B2545"/>
          </a:solidFill>
          <a:ln w="9525">
            <a:solidFill>
              <a:srgbClr val="0B2545"/>
            </a:solidFill>
            <a:prstDash val="solid"/>
          </a:ln>
        </p:spPr>
      </p:sp>
      <p:sp>
        <p:nvSpPr>
          <p:cNvPr id="14" name="Text 11"/>
          <p:cNvSpPr txBox="1"/>
          <p:nvPr/>
        </p:nvSpPr>
        <p:spPr>
          <a:xfrm>
            <a:off x="5044288" y="1463040"/>
            <a:ext cx="2103120" cy="546811"/>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0.531</a:t>
            </a:r>
            <a:endParaRPr lang="en-US" sz="2800" dirty="0"/>
          </a:p>
        </p:txBody>
      </p:sp>
      <p:sp>
        <p:nvSpPr>
          <p:cNvPr id="15" name="Text 12"/>
          <p:cNvSpPr txBox="1"/>
          <p:nvPr/>
        </p:nvSpPr>
        <p:spPr>
          <a:xfrm>
            <a:off x="5135728" y="1981505"/>
            <a:ext cx="1920240" cy="399593"/>
          </a:xfrm>
          <a:prstGeom prst="rect">
            <a:avLst/>
          </a:prstGeom>
          <a:noFill/>
          <a:ln/>
        </p:spPr>
        <p:txBody>
          <a:bodyPr wrap="square" lIns="0" tIns="0" rIns="0" bIns="0" rtlCol="0" anchor="t"/>
          <a:lstStyle/>
          <a:p>
            <a:pPr marL="0" indent="0" algn="ctr">
              <a:buNone/>
            </a:pPr>
            <a:r>
              <a:rPr lang="en-US" sz="1150" dirty="0">
                <a:solidFill>
                  <a:srgbClr val="CFE3F0"/>
                </a:solidFill>
                <a:latin typeface="Calibri" pitchFamily="34" charset="0"/>
                <a:ea typeface="Calibri" pitchFamily="34" charset="-122"/>
                <a:cs typeface="Calibri" pitchFamily="34" charset="-120"/>
              </a:rPr>
              <a:t>Recall (early readmission)</a:t>
            </a:r>
            <a:endParaRPr lang="en-US" sz="1150" dirty="0"/>
          </a:p>
        </p:txBody>
      </p:sp>
      <p:sp>
        <p:nvSpPr>
          <p:cNvPr id="16" name="Shape 13"/>
          <p:cNvSpPr/>
          <p:nvPr/>
        </p:nvSpPr>
        <p:spPr>
          <a:xfrm>
            <a:off x="7337831" y="1371600"/>
            <a:ext cx="2103120" cy="1051560"/>
          </a:xfrm>
          <a:prstGeom prst="roundRect">
            <a:avLst>
              <a:gd name="adj" fmla="val 6957"/>
            </a:avLst>
          </a:prstGeom>
          <a:solidFill>
            <a:srgbClr val="FFFFFF"/>
          </a:solidFill>
          <a:ln w="9525">
            <a:solidFill>
              <a:srgbClr val="DCE4EA"/>
            </a:solidFill>
            <a:prstDash val="solid"/>
          </a:ln>
        </p:spPr>
      </p:sp>
      <p:sp>
        <p:nvSpPr>
          <p:cNvPr id="17" name="Text 14"/>
          <p:cNvSpPr txBox="1"/>
          <p:nvPr/>
        </p:nvSpPr>
        <p:spPr>
          <a:xfrm>
            <a:off x="7337831" y="1463040"/>
            <a:ext cx="2103120" cy="546811"/>
          </a:xfrm>
          <a:prstGeom prst="rect">
            <a:avLst/>
          </a:prstGeom>
          <a:noFill/>
          <a:ln/>
        </p:spPr>
        <p:txBody>
          <a:bodyPr wrap="square" lIns="0" tIns="0" rIns="0" bIns="0" rtlCol="0" anchor="ctr"/>
          <a:lstStyle/>
          <a:p>
            <a:pPr marL="0" indent="0" algn="ctr">
              <a:buNone/>
            </a:pPr>
            <a:r>
              <a:rPr lang="en-US" sz="2800" b="1" dirty="0">
                <a:solidFill>
                  <a:srgbClr val="0B2545"/>
                </a:solidFill>
                <a:latin typeface="Cambria" pitchFamily="34" charset="0"/>
                <a:ea typeface="Cambria" pitchFamily="34" charset="-122"/>
                <a:cs typeface="Cambria" pitchFamily="34" charset="-120"/>
              </a:rPr>
              <a:t>0.275</a:t>
            </a:r>
            <a:endParaRPr lang="en-US" sz="2800" dirty="0"/>
          </a:p>
        </p:txBody>
      </p:sp>
      <p:sp>
        <p:nvSpPr>
          <p:cNvPr id="18" name="Text 15"/>
          <p:cNvSpPr txBox="1"/>
          <p:nvPr/>
        </p:nvSpPr>
        <p:spPr>
          <a:xfrm>
            <a:off x="7429271" y="1981505"/>
            <a:ext cx="1920240" cy="399593"/>
          </a:xfrm>
          <a:prstGeom prst="rect">
            <a:avLst/>
          </a:prstGeom>
          <a:noFill/>
          <a:ln/>
        </p:spPr>
        <p:txBody>
          <a:bodyPr wrap="square" lIns="0" tIns="0" rIns="0" bIns="0" rtlCol="0" anchor="t"/>
          <a:lstStyle/>
          <a:p>
            <a:pPr marL="0" indent="0" algn="ctr">
              <a:buNone/>
            </a:pPr>
            <a:r>
              <a:rPr lang="en-US" sz="1150" dirty="0">
                <a:solidFill>
                  <a:srgbClr val="5B6B7A"/>
                </a:solidFill>
                <a:latin typeface="Calibri" pitchFamily="34" charset="0"/>
                <a:ea typeface="Calibri" pitchFamily="34" charset="-122"/>
                <a:cs typeface="Calibri" pitchFamily="34" charset="-120"/>
              </a:rPr>
              <a:t>F1-score (early readmission)</a:t>
            </a:r>
            <a:endParaRPr lang="en-US" sz="1150" dirty="0"/>
          </a:p>
        </p:txBody>
      </p:sp>
      <p:sp>
        <p:nvSpPr>
          <p:cNvPr id="19" name="Shape 16"/>
          <p:cNvSpPr/>
          <p:nvPr/>
        </p:nvSpPr>
        <p:spPr>
          <a:xfrm>
            <a:off x="9631375" y="1371600"/>
            <a:ext cx="2103120" cy="1051560"/>
          </a:xfrm>
          <a:prstGeom prst="roundRect">
            <a:avLst>
              <a:gd name="adj" fmla="val 6957"/>
            </a:avLst>
          </a:prstGeom>
          <a:solidFill>
            <a:srgbClr val="FFFFFF"/>
          </a:solidFill>
          <a:ln w="9525">
            <a:solidFill>
              <a:srgbClr val="DCE4EA"/>
            </a:solidFill>
            <a:prstDash val="solid"/>
          </a:ln>
        </p:spPr>
      </p:sp>
      <p:sp>
        <p:nvSpPr>
          <p:cNvPr id="20" name="Text 17"/>
          <p:cNvSpPr txBox="1"/>
          <p:nvPr/>
        </p:nvSpPr>
        <p:spPr>
          <a:xfrm>
            <a:off x="9631375" y="1463040"/>
            <a:ext cx="2103120" cy="546811"/>
          </a:xfrm>
          <a:prstGeom prst="rect">
            <a:avLst/>
          </a:prstGeom>
          <a:noFill/>
          <a:ln/>
        </p:spPr>
        <p:txBody>
          <a:bodyPr wrap="square" lIns="0" tIns="0" rIns="0" bIns="0" rtlCol="0" anchor="ctr"/>
          <a:lstStyle/>
          <a:p>
            <a:pPr marL="0" indent="0" algn="ctr">
              <a:buNone/>
            </a:pPr>
            <a:r>
              <a:rPr lang="en-US" sz="2800" b="1" dirty="0">
                <a:solidFill>
                  <a:srgbClr val="0B2545"/>
                </a:solidFill>
                <a:latin typeface="Cambria" pitchFamily="34" charset="0"/>
                <a:ea typeface="Cambria" pitchFamily="34" charset="-122"/>
                <a:cs typeface="Cambria" pitchFamily="34" charset="-120"/>
              </a:rPr>
              <a:t>0.6671</a:t>
            </a:r>
            <a:endParaRPr lang="en-US" sz="2800" dirty="0"/>
          </a:p>
        </p:txBody>
      </p:sp>
      <p:sp>
        <p:nvSpPr>
          <p:cNvPr id="21" name="Text 18"/>
          <p:cNvSpPr txBox="1"/>
          <p:nvPr/>
        </p:nvSpPr>
        <p:spPr>
          <a:xfrm>
            <a:off x="9722815" y="1981505"/>
            <a:ext cx="1920240" cy="399593"/>
          </a:xfrm>
          <a:prstGeom prst="rect">
            <a:avLst/>
          </a:prstGeom>
          <a:noFill/>
          <a:ln/>
        </p:spPr>
        <p:txBody>
          <a:bodyPr wrap="square" lIns="0" tIns="0" rIns="0" bIns="0" rtlCol="0" anchor="t"/>
          <a:lstStyle/>
          <a:p>
            <a:pPr marL="0" indent="0" algn="ctr">
              <a:buNone/>
            </a:pPr>
            <a:r>
              <a:rPr lang="en-US" sz="1150" dirty="0">
                <a:solidFill>
                  <a:srgbClr val="5B6B7A"/>
                </a:solidFill>
                <a:latin typeface="Calibri" pitchFamily="34" charset="0"/>
                <a:ea typeface="Calibri" pitchFamily="34" charset="-122"/>
                <a:cs typeface="Calibri" pitchFamily="34" charset="-120"/>
              </a:rPr>
              <a:t>ROC-AUC</a:t>
            </a:r>
            <a:endParaRPr lang="en-US" sz="1150" dirty="0"/>
          </a:p>
        </p:txBody>
      </p:sp>
      <p:sp>
        <p:nvSpPr>
          <p:cNvPr id="22" name="Shape 19"/>
          <p:cNvSpPr/>
          <p:nvPr/>
        </p:nvSpPr>
        <p:spPr>
          <a:xfrm>
            <a:off x="457200" y="2606040"/>
            <a:ext cx="4206240" cy="2880360"/>
          </a:xfrm>
          <a:prstGeom prst="roundRect">
            <a:avLst>
              <a:gd name="adj" fmla="val 2540"/>
            </a:avLst>
          </a:prstGeom>
          <a:solidFill>
            <a:srgbClr val="FFFFFF"/>
          </a:solidFill>
          <a:ln w="9525">
            <a:solidFill>
              <a:srgbClr val="DCE4EA"/>
            </a:solidFill>
            <a:prstDash val="solid"/>
          </a:ln>
        </p:spPr>
      </p:sp>
      <p:sp>
        <p:nvSpPr>
          <p:cNvPr id="23" name="Text 20"/>
          <p:cNvSpPr txBox="1"/>
          <p:nvPr/>
        </p:nvSpPr>
        <p:spPr>
          <a:xfrm>
            <a:off x="640080" y="2670048"/>
            <a:ext cx="3840480" cy="292608"/>
          </a:xfrm>
          <a:prstGeom prst="rect">
            <a:avLst/>
          </a:prstGeom>
          <a:noFill/>
          <a:ln/>
        </p:spPr>
        <p:txBody>
          <a:bodyPr wrap="square" lIns="0" tIns="0" rIns="0" bIns="0" rtlCol="0" anchor="ctr"/>
          <a:lstStyle/>
          <a:p>
            <a:pPr marL="0" indent="0">
              <a:buNone/>
            </a:pPr>
            <a:r>
              <a:rPr lang="en-US" sz="1300" b="1" dirty="0">
                <a:solidFill>
                  <a:srgbClr val="0B2545"/>
                </a:solidFill>
                <a:latin typeface="Calibri" pitchFamily="34" charset="0"/>
                <a:ea typeface="Calibri" pitchFamily="34" charset="-122"/>
                <a:cs typeface="Calibri" pitchFamily="34" charset="-120"/>
              </a:rPr>
              <a:t>Confusion matrix (test set)</a:t>
            </a:r>
            <a:endParaRPr lang="en-US" sz="1300" dirty="0"/>
          </a:p>
        </p:txBody>
      </p:sp>
      <p:sp>
        <p:nvSpPr>
          <p:cNvPr id="24" name="Text 21"/>
          <p:cNvSpPr txBox="1"/>
          <p:nvPr/>
        </p:nvSpPr>
        <p:spPr>
          <a:xfrm>
            <a:off x="1600200" y="3017520"/>
            <a:ext cx="1417320" cy="292608"/>
          </a:xfrm>
          <a:prstGeom prst="rect">
            <a:avLst/>
          </a:prstGeom>
          <a:noFill/>
          <a:ln/>
        </p:spPr>
        <p:txBody>
          <a:bodyPr wrap="square" lIns="0" tIns="0" rIns="0" bIns="0" rtlCol="0" anchor="ctr"/>
          <a:lstStyle/>
          <a:p>
            <a:pPr marL="0" indent="0" algn="ctr">
              <a:buNone/>
            </a:pPr>
            <a:r>
              <a:rPr lang="en-US" sz="1100" b="1" dirty="0">
                <a:solidFill>
                  <a:srgbClr val="5B6B7A"/>
                </a:solidFill>
                <a:latin typeface="Calibri" pitchFamily="34" charset="0"/>
                <a:ea typeface="Calibri" pitchFamily="34" charset="-122"/>
                <a:cs typeface="Calibri" pitchFamily="34" charset="-120"/>
              </a:rPr>
              <a:t>Predicted: no</a:t>
            </a:r>
            <a:endParaRPr lang="en-US" sz="1100" dirty="0"/>
          </a:p>
        </p:txBody>
      </p:sp>
      <p:sp>
        <p:nvSpPr>
          <p:cNvPr id="25" name="Text 22"/>
          <p:cNvSpPr txBox="1"/>
          <p:nvPr/>
        </p:nvSpPr>
        <p:spPr>
          <a:xfrm>
            <a:off x="3063240" y="3017520"/>
            <a:ext cx="1417320" cy="292608"/>
          </a:xfrm>
          <a:prstGeom prst="rect">
            <a:avLst/>
          </a:prstGeom>
          <a:noFill/>
          <a:ln/>
        </p:spPr>
        <p:txBody>
          <a:bodyPr wrap="square" lIns="0" tIns="0" rIns="0" bIns="0" rtlCol="0" anchor="ctr"/>
          <a:lstStyle/>
          <a:p>
            <a:pPr marL="0" indent="0" algn="ctr">
              <a:buNone/>
            </a:pPr>
            <a:r>
              <a:rPr lang="en-US" sz="1100" b="1" dirty="0">
                <a:solidFill>
                  <a:srgbClr val="5B6B7A"/>
                </a:solidFill>
                <a:latin typeface="Calibri" pitchFamily="34" charset="0"/>
                <a:ea typeface="Calibri" pitchFamily="34" charset="-122"/>
                <a:cs typeface="Calibri" pitchFamily="34" charset="-120"/>
              </a:rPr>
              <a:t>Predicted: early</a:t>
            </a:r>
            <a:endParaRPr lang="en-US" sz="1100" dirty="0"/>
          </a:p>
        </p:txBody>
      </p:sp>
      <p:sp>
        <p:nvSpPr>
          <p:cNvPr id="26" name="Text 23"/>
          <p:cNvSpPr txBox="1"/>
          <p:nvPr/>
        </p:nvSpPr>
        <p:spPr>
          <a:xfrm>
            <a:off x="594360" y="3337560"/>
            <a:ext cx="960120" cy="914400"/>
          </a:xfrm>
          <a:prstGeom prst="rect">
            <a:avLst/>
          </a:prstGeom>
          <a:noFill/>
          <a:ln/>
        </p:spPr>
        <p:txBody>
          <a:bodyPr wrap="square" lIns="0" tIns="0" rIns="0" bIns="0" rtlCol="0" anchor="ctr"/>
          <a:lstStyle/>
          <a:p>
            <a:pPr marL="0" indent="0" algn="r">
              <a:buNone/>
            </a:pPr>
            <a:r>
              <a:rPr lang="en-US" sz="1100" b="1" dirty="0">
                <a:solidFill>
                  <a:srgbClr val="5B6B7A"/>
                </a:solidFill>
                <a:latin typeface="Calibri" pitchFamily="34" charset="0"/>
                <a:ea typeface="Calibri" pitchFamily="34" charset="-122"/>
                <a:cs typeface="Calibri" pitchFamily="34" charset="-120"/>
              </a:rPr>
              <a:t>Actual: no</a:t>
            </a:r>
            <a:endParaRPr lang="en-US" sz="1100" dirty="0"/>
          </a:p>
        </p:txBody>
      </p:sp>
      <p:sp>
        <p:nvSpPr>
          <p:cNvPr id="27" name="Text 24"/>
          <p:cNvSpPr txBox="1"/>
          <p:nvPr/>
        </p:nvSpPr>
        <p:spPr>
          <a:xfrm>
            <a:off x="594360" y="4297680"/>
            <a:ext cx="960120" cy="914400"/>
          </a:xfrm>
          <a:prstGeom prst="rect">
            <a:avLst/>
          </a:prstGeom>
          <a:noFill/>
          <a:ln/>
        </p:spPr>
        <p:txBody>
          <a:bodyPr wrap="square" lIns="0" tIns="0" rIns="0" bIns="0" rtlCol="0" anchor="ctr"/>
          <a:lstStyle/>
          <a:p>
            <a:pPr marL="0" indent="0" algn="r">
              <a:buNone/>
            </a:pPr>
            <a:r>
              <a:rPr lang="en-US" sz="1100" b="1" dirty="0">
                <a:solidFill>
                  <a:srgbClr val="5B6B7A"/>
                </a:solidFill>
                <a:latin typeface="Calibri" pitchFamily="34" charset="0"/>
                <a:ea typeface="Calibri" pitchFamily="34" charset="-122"/>
                <a:cs typeface="Calibri" pitchFamily="34" charset="-120"/>
              </a:rPr>
              <a:t>Actual: early</a:t>
            </a:r>
            <a:endParaRPr lang="en-US" sz="1100" dirty="0"/>
          </a:p>
        </p:txBody>
      </p:sp>
      <p:sp>
        <p:nvSpPr>
          <p:cNvPr id="28" name="Shape 25"/>
          <p:cNvSpPr/>
          <p:nvPr/>
        </p:nvSpPr>
        <p:spPr>
          <a:xfrm>
            <a:off x="1600200" y="3337560"/>
            <a:ext cx="1417320" cy="914400"/>
          </a:xfrm>
          <a:prstGeom prst="rect">
            <a:avLst/>
          </a:prstGeom>
          <a:solidFill>
            <a:srgbClr val="D6EEF0"/>
          </a:solidFill>
          <a:ln w="12700">
            <a:solidFill>
              <a:srgbClr val="FFFFFF"/>
            </a:solidFill>
            <a:prstDash val="solid"/>
          </a:ln>
        </p:spPr>
      </p:sp>
      <p:sp>
        <p:nvSpPr>
          <p:cNvPr id="29" name="Text 26"/>
          <p:cNvSpPr txBox="1"/>
          <p:nvPr/>
        </p:nvSpPr>
        <p:spPr>
          <a:xfrm>
            <a:off x="1600200" y="3337560"/>
            <a:ext cx="1417320" cy="914400"/>
          </a:xfrm>
          <a:prstGeom prst="rect">
            <a:avLst/>
          </a:prstGeom>
          <a:noFill/>
          <a:ln/>
        </p:spPr>
        <p:txBody>
          <a:bodyPr wrap="square" lIns="0" tIns="0" rIns="0" bIns="0" rtlCol="0" anchor="ctr"/>
          <a:lstStyle/>
          <a:p>
            <a:pPr marL="0" indent="0" algn="ctr">
              <a:buNone/>
            </a:pPr>
            <a:r>
              <a:rPr lang="en-US" sz="2000" b="1" dirty="0">
                <a:solidFill>
                  <a:srgbClr val="1F2D3A"/>
                </a:solidFill>
                <a:latin typeface="Calibri" pitchFamily="34" charset="0"/>
                <a:ea typeface="Calibri" pitchFamily="34" charset="-122"/>
                <a:cs typeface="Calibri" pitchFamily="34" charset="-120"/>
              </a:rPr>
              <a:t>12,790</a:t>
            </a:r>
            <a:endParaRPr lang="en-US" sz="2000" dirty="0"/>
          </a:p>
          <a:p>
            <a:pPr marL="0" indent="0" algn="ctr">
              <a:buNone/>
            </a:pPr>
            <a:r>
              <a:rPr lang="en-US" sz="1050" dirty="0">
                <a:solidFill>
                  <a:srgbClr val="1F2D3A"/>
                </a:solidFill>
                <a:latin typeface="Calibri" pitchFamily="34" charset="0"/>
                <a:ea typeface="Calibri" pitchFamily="34" charset="-122"/>
                <a:cs typeface="Calibri" pitchFamily="34" charset="-120"/>
              </a:rPr>
              <a:t>True negatives</a:t>
            </a:r>
            <a:endParaRPr lang="en-US" sz="2000" dirty="0"/>
          </a:p>
        </p:txBody>
      </p:sp>
      <p:sp>
        <p:nvSpPr>
          <p:cNvPr id="30" name="Shape 27"/>
          <p:cNvSpPr/>
          <p:nvPr/>
        </p:nvSpPr>
        <p:spPr>
          <a:xfrm>
            <a:off x="3063240" y="3337560"/>
            <a:ext cx="1417320" cy="914400"/>
          </a:xfrm>
          <a:prstGeom prst="rect">
            <a:avLst/>
          </a:prstGeom>
          <a:solidFill>
            <a:srgbClr val="FBE9C9"/>
          </a:solidFill>
          <a:ln w="12700">
            <a:solidFill>
              <a:srgbClr val="FFFFFF"/>
            </a:solidFill>
            <a:prstDash val="solid"/>
          </a:ln>
        </p:spPr>
      </p:sp>
      <p:sp>
        <p:nvSpPr>
          <p:cNvPr id="31" name="Text 28"/>
          <p:cNvSpPr txBox="1"/>
          <p:nvPr/>
        </p:nvSpPr>
        <p:spPr>
          <a:xfrm>
            <a:off x="3063240" y="3337560"/>
            <a:ext cx="1417320" cy="914400"/>
          </a:xfrm>
          <a:prstGeom prst="rect">
            <a:avLst/>
          </a:prstGeom>
          <a:noFill/>
          <a:ln/>
        </p:spPr>
        <p:txBody>
          <a:bodyPr wrap="square" lIns="0" tIns="0" rIns="0" bIns="0" rtlCol="0" anchor="ctr"/>
          <a:lstStyle/>
          <a:p>
            <a:pPr marL="0" indent="0" algn="ctr">
              <a:buNone/>
            </a:pPr>
            <a:r>
              <a:rPr lang="en-US" sz="2000" b="1" dirty="0">
                <a:solidFill>
                  <a:srgbClr val="1F2D3A"/>
                </a:solidFill>
                <a:latin typeface="Calibri" pitchFamily="34" charset="0"/>
                <a:ea typeface="Calibri" pitchFamily="34" charset="-122"/>
                <a:cs typeface="Calibri" pitchFamily="34" charset="-120"/>
              </a:rPr>
              <a:t>5,293</a:t>
            </a:r>
            <a:endParaRPr lang="en-US" sz="2000" dirty="0"/>
          </a:p>
          <a:p>
            <a:pPr marL="0" indent="0" algn="ctr">
              <a:buNone/>
            </a:pPr>
            <a:r>
              <a:rPr lang="en-US" sz="1050" dirty="0">
                <a:solidFill>
                  <a:srgbClr val="1F2D3A"/>
                </a:solidFill>
                <a:latin typeface="Calibri" pitchFamily="34" charset="0"/>
                <a:ea typeface="Calibri" pitchFamily="34" charset="-122"/>
                <a:cs typeface="Calibri" pitchFamily="34" charset="-120"/>
              </a:rPr>
              <a:t>False positives</a:t>
            </a:r>
            <a:endParaRPr lang="en-US" sz="2000" dirty="0"/>
          </a:p>
        </p:txBody>
      </p:sp>
      <p:sp>
        <p:nvSpPr>
          <p:cNvPr id="32" name="Shape 29"/>
          <p:cNvSpPr/>
          <p:nvPr/>
        </p:nvSpPr>
        <p:spPr>
          <a:xfrm>
            <a:off x="1600200" y="4297680"/>
            <a:ext cx="1417320" cy="914400"/>
          </a:xfrm>
          <a:prstGeom prst="rect">
            <a:avLst/>
          </a:prstGeom>
          <a:solidFill>
            <a:srgbClr val="FBE9C9"/>
          </a:solidFill>
          <a:ln w="12700">
            <a:solidFill>
              <a:srgbClr val="FFFFFF"/>
            </a:solidFill>
            <a:prstDash val="solid"/>
          </a:ln>
        </p:spPr>
      </p:sp>
      <p:sp>
        <p:nvSpPr>
          <p:cNvPr id="33" name="Text 30"/>
          <p:cNvSpPr txBox="1"/>
          <p:nvPr/>
        </p:nvSpPr>
        <p:spPr>
          <a:xfrm>
            <a:off x="1600200" y="4297680"/>
            <a:ext cx="1417320" cy="914400"/>
          </a:xfrm>
          <a:prstGeom prst="rect">
            <a:avLst/>
          </a:prstGeom>
          <a:noFill/>
          <a:ln/>
        </p:spPr>
        <p:txBody>
          <a:bodyPr wrap="square" lIns="0" tIns="0" rIns="0" bIns="0" rtlCol="0" anchor="ctr"/>
          <a:lstStyle/>
          <a:p>
            <a:pPr marL="0" indent="0" algn="ctr">
              <a:buNone/>
            </a:pPr>
            <a:r>
              <a:rPr lang="en-US" sz="2000" b="1" dirty="0">
                <a:solidFill>
                  <a:srgbClr val="1F2D3A"/>
                </a:solidFill>
                <a:latin typeface="Calibri" pitchFamily="34" charset="0"/>
                <a:ea typeface="Calibri" pitchFamily="34" charset="-122"/>
                <a:cs typeface="Calibri" pitchFamily="34" charset="-120"/>
              </a:rPr>
              <a:t>1,065</a:t>
            </a:r>
            <a:endParaRPr lang="en-US" sz="2000" dirty="0"/>
          </a:p>
          <a:p>
            <a:pPr marL="0" indent="0" algn="ctr">
              <a:buNone/>
            </a:pPr>
            <a:r>
              <a:rPr lang="en-US" sz="1050" dirty="0">
                <a:solidFill>
                  <a:srgbClr val="1F2D3A"/>
                </a:solidFill>
                <a:latin typeface="Calibri" pitchFamily="34" charset="0"/>
                <a:ea typeface="Calibri" pitchFamily="34" charset="-122"/>
                <a:cs typeface="Calibri" pitchFamily="34" charset="-120"/>
              </a:rPr>
              <a:t>False negatives</a:t>
            </a:r>
            <a:endParaRPr lang="en-US" sz="2000" dirty="0"/>
          </a:p>
        </p:txBody>
      </p:sp>
      <p:sp>
        <p:nvSpPr>
          <p:cNvPr id="34" name="Shape 31"/>
          <p:cNvSpPr/>
          <p:nvPr/>
        </p:nvSpPr>
        <p:spPr>
          <a:xfrm>
            <a:off x="3063240" y="4297680"/>
            <a:ext cx="1417320" cy="914400"/>
          </a:xfrm>
          <a:prstGeom prst="rect">
            <a:avLst/>
          </a:prstGeom>
          <a:solidFill>
            <a:srgbClr val="0E8C8C"/>
          </a:solidFill>
          <a:ln w="12700">
            <a:solidFill>
              <a:srgbClr val="FFFFFF"/>
            </a:solidFill>
            <a:prstDash val="solid"/>
          </a:ln>
        </p:spPr>
      </p:sp>
      <p:sp>
        <p:nvSpPr>
          <p:cNvPr id="35" name="Text 32"/>
          <p:cNvSpPr txBox="1"/>
          <p:nvPr/>
        </p:nvSpPr>
        <p:spPr>
          <a:xfrm>
            <a:off x="3063240" y="4297680"/>
            <a:ext cx="141732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1,206</a:t>
            </a:r>
            <a:endParaRPr lang="en-US" sz="2000" dirty="0"/>
          </a:p>
          <a:p>
            <a:pPr marL="0" indent="0" algn="ctr">
              <a:buNone/>
            </a:pPr>
            <a:r>
              <a:rPr lang="en-US" sz="1050" dirty="0">
                <a:solidFill>
                  <a:srgbClr val="FFFFFF"/>
                </a:solidFill>
                <a:latin typeface="Calibri" pitchFamily="34" charset="0"/>
                <a:ea typeface="Calibri" pitchFamily="34" charset="-122"/>
                <a:cs typeface="Calibri" pitchFamily="34" charset="-120"/>
              </a:rPr>
              <a:t>True positives</a:t>
            </a:r>
            <a:endParaRPr lang="en-US" sz="2000" dirty="0"/>
          </a:p>
        </p:txBody>
      </p:sp>
      <p:sp>
        <p:nvSpPr>
          <p:cNvPr id="36" name="Text 33"/>
          <p:cNvSpPr txBox="1"/>
          <p:nvPr/>
        </p:nvSpPr>
        <p:spPr>
          <a:xfrm>
            <a:off x="640080" y="5212080"/>
            <a:ext cx="3840480" cy="228600"/>
          </a:xfrm>
          <a:prstGeom prst="rect">
            <a:avLst/>
          </a:prstGeom>
          <a:noFill/>
          <a:ln/>
        </p:spPr>
        <p:txBody>
          <a:bodyPr wrap="square" lIns="0" tIns="0" rIns="0" bIns="0" rtlCol="0" anchor="ctr"/>
          <a:lstStyle/>
          <a:p>
            <a:pPr marL="0" indent="0">
              <a:buNone/>
            </a:pPr>
            <a:r>
              <a:rPr lang="en-US" sz="1050" i="1" dirty="0">
                <a:solidFill>
                  <a:srgbClr val="5B6B7A"/>
                </a:solidFill>
                <a:latin typeface="Calibri" pitchFamily="34" charset="0"/>
                <a:ea typeface="Calibri" pitchFamily="34" charset="-122"/>
                <a:cs typeface="Calibri" pitchFamily="34" charset="-120"/>
              </a:rPr>
              <a:t>Row totals: 18,083 no, 2,271 early</a:t>
            </a:r>
            <a:endParaRPr lang="en-US" sz="1050" dirty="0"/>
          </a:p>
        </p:txBody>
      </p:sp>
      <p:graphicFrame>
        <p:nvGraphicFramePr>
          <p:cNvPr id="37" name="Chart 0"/>
          <p:cNvGraphicFramePr/>
          <p:nvPr/>
        </p:nvGraphicFramePr>
        <p:xfrm>
          <a:off x="4846320" y="2606040"/>
          <a:ext cx="6888175"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38" name="Shape 34"/>
          <p:cNvSpPr/>
          <p:nvPr/>
        </p:nvSpPr>
        <p:spPr>
          <a:xfrm>
            <a:off x="457200" y="5596128"/>
            <a:ext cx="11277295" cy="713232"/>
          </a:xfrm>
          <a:prstGeom prst="roundRect">
            <a:avLst>
              <a:gd name="adj" fmla="val 10256"/>
            </a:avLst>
          </a:prstGeom>
          <a:solidFill>
            <a:srgbClr val="D6EEF0"/>
          </a:solidFill>
          <a:ln w="9525">
            <a:solidFill>
              <a:srgbClr val="D6EEF0"/>
            </a:solidFill>
            <a:prstDash val="solid"/>
          </a:ln>
        </p:spPr>
      </p:sp>
      <p:sp>
        <p:nvSpPr>
          <p:cNvPr id="39" name="Text 35"/>
          <p:cNvSpPr txBox="1"/>
          <p:nvPr/>
        </p:nvSpPr>
        <p:spPr>
          <a:xfrm>
            <a:off x="685800" y="5596128"/>
            <a:ext cx="10820095" cy="713232"/>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Reading the result: </a:t>
            </a:r>
            <a:r>
              <a:rPr lang="en-US" sz="1200" dirty="0">
                <a:solidFill>
                  <a:srgbClr val="1F2D3A"/>
                </a:solidFill>
                <a:latin typeface="Calibri" pitchFamily="34" charset="0"/>
                <a:ea typeface="Calibri" pitchFamily="34" charset="-122"/>
                <a:cs typeface="Calibri" pitchFamily="34" charset="-120"/>
              </a:rPr>
              <a:t>the model flags 1,206 of 2,271 early readmissions (recall 0.531) at the cost of 5,293 false alarms (precision 0.1856). It suits screening and prioritisation, not diagnosis.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Performance Comparison Across Models</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Diabetes and readmission are compared within each task only, never against each other</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12</a:t>
            </a:r>
            <a:endParaRPr lang="en-US" sz="1000" dirty="0"/>
          </a:p>
        </p:txBody>
      </p:sp>
      <p:sp>
        <p:nvSpPr>
          <p:cNvPr id="7" name="Text 4"/>
          <p:cNvSpPr txBox="1"/>
          <p:nvPr/>
        </p:nvSpPr>
        <p:spPr>
          <a:xfrm>
            <a:off x="457200" y="1280160"/>
            <a:ext cx="5486400" cy="292608"/>
          </a:xfrm>
          <a:prstGeom prst="rect">
            <a:avLst/>
          </a:prstGeom>
          <a:noFill/>
          <a:ln/>
        </p:spPr>
        <p:txBody>
          <a:bodyPr wrap="square" lIns="0" tIns="0" rIns="0" bIns="0" rtlCol="0" anchor="ctr"/>
          <a:lstStyle/>
          <a:p>
            <a:pPr marL="0" indent="0">
              <a:buNone/>
            </a:pPr>
            <a:r>
              <a:rPr lang="en-US" sz="1500" b="1" dirty="0">
                <a:solidFill>
                  <a:srgbClr val="0E8C8C"/>
                </a:solidFill>
                <a:latin typeface="Calibri" pitchFamily="34" charset="0"/>
                <a:ea typeface="Calibri" pitchFamily="34" charset="-122"/>
                <a:cs typeface="Calibri" pitchFamily="34" charset="-120"/>
              </a:rPr>
              <a:t>Task A: Diabetes status (test set, macro-averaged)</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5486400" cy="1645920"/>
        </p:xfrm>
        <a:graphic>
          <a:graphicData uri="http://schemas.openxmlformats.org/drawingml/2006/table">
            <a:tbl>
              <a:tblPr/>
              <a:tblGrid>
                <a:gridCol w="160020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960120">
                  <a:extLst>
                    <a:ext uri="{9D8B030D-6E8A-4147-A177-3AD203B41FA5}">
                      <a16:colId xmlns:a16="http://schemas.microsoft.com/office/drawing/2014/main" val="20004"/>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Macro F1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CV macro F1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29184">
                <a:tc>
                  <a:txBody>
                    <a:bodyPr/>
                    <a:lstStyle/>
                    <a:p>
                      <a:pPr marL="0" indent="0" algn="l">
                        <a:buNone/>
                      </a:pPr>
                      <a:r>
                        <a:rPr lang="en-US" sz="1100" dirty="0">
                          <a:solidFill>
                            <a:srgbClr val="1F2D3A"/>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0.6292</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0.4257</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0.4211 ± 0.0019</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0.7607</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extLst>
                  <a:ext uri="{0D108BD9-81ED-4DB2-BD59-A6C34878D82A}">
                    <a16:rowId xmlns:a16="http://schemas.microsoft.com/office/drawing/2014/main" val="10001"/>
                  </a:ext>
                </a:extLst>
              </a:tr>
              <a:tr h="329184">
                <a:tc>
                  <a:txBody>
                    <a:bodyPr/>
                    <a:lstStyle/>
                    <a:p>
                      <a:pPr marL="0" indent="0" algn="l">
                        <a:buNone/>
                      </a:pPr>
                      <a:r>
                        <a:rPr lang="en-US" sz="1100" dirty="0">
                          <a:solidFill>
                            <a:srgbClr val="1F2D3A"/>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0.8231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0.3771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0.3768 ± 0.0010</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0.7142</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100" dirty="0">
                          <a:solidFill>
                            <a:srgbClr val="1F2D3A"/>
                          </a:solidFill>
                          <a:latin typeface="Calibri" pitchFamily="34" charset="0"/>
                          <a:ea typeface="Calibri" pitchFamily="34" charset="-122"/>
                          <a:cs typeface="Calibri" pitchFamily="34" charset="-120"/>
                        </a:rPr>
                        <a:t>Extra Trees</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0.8111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0.3805</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0.3824 ± 0.0011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0.6920</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100" b="1" dirty="0">
                          <a:solidFill>
                            <a:srgbClr val="1F2D3A"/>
                          </a:solidFill>
                          <a:latin typeface="Calibri" pitchFamily="34" charset="0"/>
                          <a:ea typeface="Calibri" pitchFamily="34" charset="-122"/>
                          <a:cs typeface="Calibri" pitchFamily="34" charset="-120"/>
                        </a:rPr>
                        <a:t>Soft-voting ensemble</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0.8197</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0.4030</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0.4017 ± 0.0004</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0.7398</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txBox="1"/>
          <p:nvPr/>
        </p:nvSpPr>
        <p:spPr>
          <a:xfrm>
            <a:off x="6263640" y="1280160"/>
            <a:ext cx="5470855" cy="292608"/>
          </a:xfrm>
          <a:prstGeom prst="rect">
            <a:avLst/>
          </a:prstGeom>
          <a:noFill/>
          <a:ln/>
        </p:spPr>
        <p:txBody>
          <a:bodyPr wrap="square" lIns="0" tIns="0" rIns="0" bIns="0" rtlCol="0" anchor="ctr"/>
          <a:lstStyle/>
          <a:p>
            <a:pPr marL="0" indent="0">
              <a:buNone/>
            </a:pPr>
            <a:r>
              <a:rPr lang="en-US" sz="1500" b="1" dirty="0">
                <a:solidFill>
                  <a:srgbClr val="0E8C8C"/>
                </a:solidFill>
                <a:latin typeface="Calibri" pitchFamily="34" charset="0"/>
                <a:ea typeface="Calibri" pitchFamily="34" charset="-122"/>
                <a:cs typeface="Calibri" pitchFamily="34" charset="-120"/>
              </a:rPr>
              <a:t>Task B: 30-day readmission (test set, positive class = early)</a:t>
            </a:r>
            <a:endParaRPr lang="en-US" sz="15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263640" y="1600200"/>
          <a:ext cx="5193792" cy="1975104"/>
        </p:xfrm>
        <a:graphic>
          <a:graphicData uri="http://schemas.openxmlformats.org/drawingml/2006/table">
            <a:tbl>
              <a:tblPr/>
              <a:tblGrid>
                <a:gridCol w="17830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02920">
                  <a:extLst>
                    <a:ext uri="{9D8B030D-6E8A-4147-A177-3AD203B41FA5}">
                      <a16:colId xmlns:a16="http://schemas.microsoft.com/office/drawing/2014/main" val="20004"/>
                    </a:ext>
                  </a:extLst>
                </a:gridCol>
                <a:gridCol w="804672">
                  <a:extLst>
                    <a:ext uri="{9D8B030D-6E8A-4147-A177-3AD203B41FA5}">
                      <a16:colId xmlns:a16="http://schemas.microsoft.com/office/drawing/2014/main" val="20005"/>
                    </a:ext>
                  </a:extLst>
                </a:gridCol>
              </a:tblGrid>
              <a:tr h="329184">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Model</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Accuracy</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Precision</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Recall</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ROC-AUC</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0B2545"/>
                    </a:solidFill>
                  </a:tcPr>
                </a:tc>
                <a:extLst>
                  <a:ext uri="{0D108BD9-81ED-4DB2-BD59-A6C34878D82A}">
                    <a16:rowId xmlns:a16="http://schemas.microsoft.com/office/drawing/2014/main" val="10000"/>
                  </a:ext>
                </a:extLst>
              </a:tr>
              <a:tr h="329184">
                <a:tc>
                  <a:txBody>
                    <a:bodyPr/>
                    <a:lstStyle/>
                    <a:p>
                      <a:pPr marL="0" indent="0" algn="l">
                        <a:buNone/>
                      </a:pPr>
                      <a:r>
                        <a:rPr lang="en-US" sz="1100" dirty="0">
                          <a:solidFill>
                            <a:srgbClr val="1F2D3A"/>
                          </a:solidFill>
                          <a:latin typeface="Calibri" pitchFamily="34" charset="0"/>
                          <a:ea typeface="Calibri" pitchFamily="34" charset="-122"/>
                          <a:cs typeface="Calibri" pitchFamily="34" charset="-120"/>
                        </a:rPr>
                        <a:t>Logistic Regression</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0.6418</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0.17</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0.55</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0.25</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0.6440</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l">
                        <a:buNone/>
                      </a:pPr>
                      <a:r>
                        <a:rPr lang="en-US" sz="1100" dirty="0">
                          <a:solidFill>
                            <a:srgbClr val="1F2D3A"/>
                          </a:solidFill>
                          <a:latin typeface="Calibri" pitchFamily="34" charset="0"/>
                          <a:ea typeface="Calibri" pitchFamily="34" charset="-122"/>
                          <a:cs typeface="Calibri" pitchFamily="34" charset="-120"/>
                        </a:rPr>
                        <a:t>Random Forest</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0.8887</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0.63</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0.6511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2"/>
                  </a:ext>
                </a:extLst>
              </a:tr>
              <a:tr h="329184">
                <a:tc>
                  <a:txBody>
                    <a:bodyPr/>
                    <a:lstStyle/>
                    <a:p>
                      <a:pPr marL="0" indent="0" algn="l">
                        <a:buNone/>
                      </a:pPr>
                      <a:r>
                        <a:rPr lang="en-US" sz="1100" dirty="0">
                          <a:solidFill>
                            <a:srgbClr val="1F2D3A"/>
                          </a:solidFill>
                          <a:latin typeface="Calibri" pitchFamily="34" charset="0"/>
                          <a:ea typeface="Calibri" pitchFamily="34" charset="-122"/>
                          <a:cs typeface="Calibri" pitchFamily="34" charset="-120"/>
                        </a:rPr>
                        <a:t>Extra Trees</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0.8888</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0.56</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0.01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0.03</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0.6345</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3"/>
                  </a:ext>
                </a:extLst>
              </a:tr>
              <a:tr h="329184">
                <a:tc>
                  <a:txBody>
                    <a:bodyPr/>
                    <a:lstStyle/>
                    <a:p>
                      <a:pPr marL="0" indent="0" algn="l">
                        <a:buNone/>
                      </a:pPr>
                      <a:r>
                        <a:rPr lang="en-US" sz="1100" dirty="0">
                          <a:solidFill>
                            <a:srgbClr val="1F2D3A"/>
                          </a:solidFill>
                          <a:latin typeface="Calibri" pitchFamily="34" charset="0"/>
                          <a:ea typeface="Calibri" pitchFamily="34" charset="-122"/>
                          <a:cs typeface="Calibri" pitchFamily="34" charset="-120"/>
                        </a:rPr>
                        <a:t>Soft-voting ensemble</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0.8892</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0.62</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0.02</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0.03</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0.6653</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extLst>
                  <a:ext uri="{0D108BD9-81ED-4DB2-BD59-A6C34878D82A}">
                    <a16:rowId xmlns:a16="http://schemas.microsoft.com/office/drawing/2014/main" val="10004"/>
                  </a:ext>
                </a:extLst>
              </a:tr>
              <a:tr h="329184">
                <a:tc>
                  <a:txBody>
                    <a:bodyPr/>
                    <a:lstStyle/>
                    <a:p>
                      <a:pPr marL="0" indent="0" algn="l">
                        <a:buNone/>
                      </a:pPr>
                      <a:r>
                        <a:rPr lang="en-US" sz="1100" b="1" dirty="0">
                          <a:solidFill>
                            <a:srgbClr val="1F2D3A"/>
                          </a:solidFill>
                          <a:latin typeface="Calibri" pitchFamily="34" charset="0"/>
                          <a:ea typeface="Calibri" pitchFamily="34" charset="-122"/>
                          <a:cs typeface="Calibri" pitchFamily="34" charset="-120"/>
                        </a:rPr>
                        <a:t>Tuned RF (threshold 0.40)</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0.6876</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0.19</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dirty="0">
                          <a:solidFill>
                            <a:srgbClr val="1F2D3A"/>
                          </a:solidFill>
                          <a:latin typeface="Calibri" pitchFamily="34" charset="0"/>
                          <a:ea typeface="Calibri" pitchFamily="34" charset="-122"/>
                          <a:cs typeface="Calibri" pitchFamily="34" charset="-120"/>
                        </a:rPr>
                        <a:t>0.53</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0.28</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tc>
                  <a:txBody>
                    <a:bodyPr/>
                    <a:lstStyle/>
                    <a:p>
                      <a:pPr marL="0" indent="0" algn="ctr">
                        <a:buNone/>
                      </a:pPr>
                      <a:r>
                        <a:rPr lang="en-US" sz="1100" b="1" dirty="0">
                          <a:solidFill>
                            <a:srgbClr val="0A6B6B"/>
                          </a:solidFill>
                          <a:latin typeface="Calibri" pitchFamily="34" charset="0"/>
                          <a:ea typeface="Calibri" pitchFamily="34" charset="-122"/>
                          <a:cs typeface="Calibri" pitchFamily="34" charset="-120"/>
                        </a:rPr>
                        <a:t>0.6671</a:t>
                      </a:r>
                      <a:endParaRPr lang="en-US" sz="1100" dirty="0">
                        <a:latin typeface="Calibri" charset="0"/>
                        <a:ea typeface="Calibri" charset="0"/>
                        <a:cs typeface="Calibri" charset="0"/>
                      </a:endParaRPr>
                    </a:p>
                  </a:txBody>
                  <a:tcPr marL="73152" marR="73152" marT="27432" marB="27432" anchor="ctr">
                    <a:lnL w="6350" cap="flat" cmpd="sng" algn="ctr">
                      <a:solidFill>
                        <a:srgbClr val="DCE4EA"/>
                      </a:solidFill>
                      <a:prstDash val="solid"/>
                      <a:round/>
                      <a:headEnd type="none" w="med" len="med"/>
                      <a:tailEnd type="none" w="med" len="med"/>
                    </a:lnL>
                    <a:lnR w="6350" cap="flat" cmpd="sng" algn="ctr">
                      <a:solidFill>
                        <a:srgbClr val="DCE4EA"/>
                      </a:solidFill>
                      <a:prstDash val="solid"/>
                      <a:round/>
                      <a:headEnd type="none" w="med" len="med"/>
                      <a:tailEnd type="none" w="med" len="med"/>
                    </a:lnR>
                    <a:lnT w="6350" cap="flat" cmpd="sng" algn="ctr">
                      <a:solidFill>
                        <a:srgbClr val="DCE4EA"/>
                      </a:solidFill>
                      <a:prstDash val="solid"/>
                      <a:round/>
                      <a:headEnd type="none" w="med" len="med"/>
                      <a:tailEnd type="none" w="med" len="med"/>
                    </a:lnT>
                    <a:lnB w="6350" cap="flat" cmpd="sng" algn="ctr">
                      <a:solidFill>
                        <a:srgbClr val="DCE4EA"/>
                      </a:solidFill>
                      <a:prstDash val="solid"/>
                      <a:round/>
                      <a:headEnd type="none" w="med" len="med"/>
                      <a:tailEnd type="none" w="med" len="med"/>
                    </a:lnB>
                    <a:solidFill>
                      <a:srgbClr val="D6EEF0"/>
                    </a:solidFill>
                  </a:tcPr>
                </a:tc>
                <a:extLst>
                  <a:ext uri="{0D108BD9-81ED-4DB2-BD59-A6C34878D82A}">
                    <a16:rowId xmlns:a16="http://schemas.microsoft.com/office/drawing/2014/main" val="10005"/>
                  </a:ext>
                </a:extLst>
              </a:tr>
            </a:tbl>
          </a:graphicData>
        </a:graphic>
      </p:graphicFrame>
      <p:sp>
        <p:nvSpPr>
          <p:cNvPr id="11" name="Text 6"/>
          <p:cNvSpPr txBox="1"/>
          <p:nvPr/>
        </p:nvSpPr>
        <p:spPr>
          <a:xfrm>
            <a:off x="6263640" y="3611880"/>
            <a:ext cx="5470855" cy="228600"/>
          </a:xfrm>
          <a:prstGeom prst="rect">
            <a:avLst/>
          </a:prstGeom>
          <a:noFill/>
          <a:ln/>
        </p:spPr>
        <p:txBody>
          <a:bodyPr wrap="square" lIns="0" tIns="0" rIns="0" bIns="0" rtlCol="0" anchor="ctr"/>
          <a:lstStyle/>
          <a:p>
            <a:pPr marL="0" indent="0">
              <a:buNone/>
            </a:pPr>
            <a:r>
              <a:rPr lang="en-US" sz="1000" i="1" dirty="0">
                <a:solidFill>
                  <a:srgbClr val="5B6B7A"/>
                </a:solidFill>
                <a:latin typeface="Calibri" pitchFamily="34" charset="0"/>
                <a:ea typeface="Calibri" pitchFamily="34" charset="-122"/>
                <a:cs typeface="Calibri" pitchFamily="34" charset="-120"/>
              </a:rPr>
              <a:t>Precision, recall and F1 from classification reports (2 d.p.). Best value per column highlighted.</a:t>
            </a:r>
            <a:endParaRPr lang="en-US" sz="1000" dirty="0"/>
          </a:p>
        </p:txBody>
      </p:sp>
      <p:graphicFrame>
        <p:nvGraphicFramePr>
          <p:cNvPr id="12" name="Chart 0"/>
          <p:cNvGraphicFramePr/>
          <p:nvPr/>
        </p:nvGraphicFramePr>
        <p:xfrm>
          <a:off x="457200" y="3337560"/>
          <a:ext cx="5486400" cy="2103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263640" y="3840480"/>
          <a:ext cx="5470855" cy="1600200"/>
        </p:xfrm>
        <a:graphic>
          <a:graphicData uri="http://schemas.openxmlformats.org/drawingml/2006/chart">
            <c:chart xmlns:c="http://schemas.openxmlformats.org/drawingml/2006/chart" xmlns:r="http://schemas.openxmlformats.org/officeDocument/2006/relationships" r:id="rId4"/>
          </a:graphicData>
        </a:graphic>
      </p:graphicFrame>
      <p:sp>
        <p:nvSpPr>
          <p:cNvPr id="14" name="Shape 7"/>
          <p:cNvSpPr/>
          <p:nvPr/>
        </p:nvSpPr>
        <p:spPr>
          <a:xfrm>
            <a:off x="457200" y="5532120"/>
            <a:ext cx="11277295" cy="822960"/>
          </a:xfrm>
          <a:prstGeom prst="roundRect">
            <a:avLst>
              <a:gd name="adj" fmla="val 8889"/>
            </a:avLst>
          </a:prstGeom>
          <a:solidFill>
            <a:srgbClr val="D6EEF0"/>
          </a:solidFill>
          <a:ln w="9525">
            <a:solidFill>
              <a:srgbClr val="D6EEF0"/>
            </a:solidFill>
            <a:prstDash val="solid"/>
          </a:ln>
        </p:spPr>
      </p:sp>
      <p:sp>
        <p:nvSpPr>
          <p:cNvPr id="15" name="Text 8"/>
          <p:cNvSpPr txBox="1"/>
          <p:nvPr/>
        </p:nvSpPr>
        <p:spPr>
          <a:xfrm>
            <a:off x="640080" y="5532120"/>
            <a:ext cx="10911535" cy="822960"/>
          </a:xfrm>
          <a:prstGeom prst="rect">
            <a:avLst/>
          </a:prstGeom>
          <a:noFill/>
          <a:ln/>
        </p:spPr>
        <p:txBody>
          <a:bodyPr wrap="square" lIns="0" tIns="0" rIns="0" bIns="0" rtlCol="0" anchor="ctr"/>
          <a:lstStyle/>
          <a:p>
            <a:pPr marL="0" indent="0">
              <a:buNone/>
            </a:pPr>
            <a:r>
              <a:rPr lang="en-US" sz="1100" b="1" dirty="0">
                <a:solidFill>
                  <a:srgbClr val="0B2545"/>
                </a:solidFill>
                <a:latin typeface="Calibri" pitchFamily="34" charset="0"/>
                <a:ea typeface="Calibri" pitchFamily="34" charset="-122"/>
                <a:cs typeface="Calibri" pitchFamily="34" charset="-120"/>
              </a:rPr>
              <a:t>Note: </a:t>
            </a:r>
            <a:r>
              <a:rPr lang="en-US" sz="1100" dirty="0">
                <a:solidFill>
                  <a:srgbClr val="1F2D3A"/>
                </a:solidFill>
                <a:latin typeface="Calibri" pitchFamily="34" charset="0"/>
                <a:ea typeface="Calibri" pitchFamily="34" charset="-122"/>
                <a:cs typeface="Calibri" pitchFamily="34" charset="-120"/>
              </a:rPr>
              <a:t>Ensemble and individual models were benchmarked under identical conditions. Logistic Regression gave the strongest macro F1 on the diabetes task, while the ensemble delivered higher accuracy than Logistic Regression and the most stable cross-validation (SD 0.0004). On readmission, class weighting and a validation-tuned threshold (0.40) were the decisive improvements, raising early-readmission recall from 1.7% to 53.1%.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Healthcare Insights and Practical Relevance</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What the models suggest, and how far those suggestions can be trusted</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13</a:t>
            </a:r>
            <a:endParaRPr lang="en-US" sz="1000" dirty="0"/>
          </a:p>
        </p:txBody>
      </p:sp>
      <p:graphicFrame>
        <p:nvGraphicFramePr>
          <p:cNvPr id="7" name="Chart 0"/>
          <p:cNvGraphicFramePr/>
          <p:nvPr/>
        </p:nvGraphicFramePr>
        <p:xfrm>
          <a:off x="457200" y="1325880"/>
          <a:ext cx="539496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6080760" y="1325880"/>
            <a:ext cx="5653735" cy="1234440"/>
          </a:xfrm>
          <a:prstGeom prst="roundRect">
            <a:avLst>
              <a:gd name="adj" fmla="val 5926"/>
            </a:avLst>
          </a:prstGeom>
          <a:solidFill>
            <a:srgbClr val="FFFFFF"/>
          </a:solidFill>
          <a:ln w="9525">
            <a:solidFill>
              <a:srgbClr val="DCE4EA"/>
            </a:solidFill>
            <a:prstDash val="solid"/>
          </a:ln>
        </p:spPr>
      </p:sp>
      <p:sp>
        <p:nvSpPr>
          <p:cNvPr id="9" name="Shape 5"/>
          <p:cNvSpPr/>
          <p:nvPr/>
        </p:nvSpPr>
        <p:spPr>
          <a:xfrm>
            <a:off x="6217920" y="1463040"/>
            <a:ext cx="347472" cy="347472"/>
          </a:xfrm>
          <a:prstGeom prst="ellipse">
            <a:avLst/>
          </a:prstGeom>
          <a:solidFill>
            <a:srgbClr val="0E8C8C"/>
          </a:solidFill>
          <a:ln w="12700">
            <a:solidFill>
              <a:srgbClr val="0E8C8C"/>
            </a:solidFill>
            <a:prstDash val="solid"/>
          </a:ln>
        </p:spPr>
      </p:sp>
      <p:sp>
        <p:nvSpPr>
          <p:cNvPr id="10" name="Text 6"/>
          <p:cNvSpPr txBox="1"/>
          <p:nvPr/>
        </p:nvSpPr>
        <p:spPr>
          <a:xfrm>
            <a:off x="6217920" y="1463040"/>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6675120" y="1417320"/>
            <a:ext cx="4922215" cy="27432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Prior hospital use matters</a:t>
            </a:r>
            <a:endParaRPr lang="en-US" sz="1350" dirty="0"/>
          </a:p>
        </p:txBody>
      </p:sp>
      <p:sp>
        <p:nvSpPr>
          <p:cNvPr id="12" name="Text 8"/>
          <p:cNvSpPr txBox="1"/>
          <p:nvPr/>
        </p:nvSpPr>
        <p:spPr>
          <a:xfrm>
            <a:off x="6675120" y="1719072"/>
            <a:ext cx="4922215" cy="804672"/>
          </a:xfrm>
          <a:prstGeom prst="rect">
            <a:avLst/>
          </a:prstGeom>
          <a:noFill/>
          <a:ln/>
        </p:spPr>
        <p:txBody>
          <a:bodyPr wrap="square" lIns="0" tIns="0" rIns="0" bIns="0" rtlCol="0" anchor="t"/>
          <a:lstStyle/>
          <a:p>
            <a:pPr marL="0" indent="0">
              <a:buNone/>
            </a:pPr>
            <a:r>
              <a:rPr lang="en-US" sz="1250" dirty="0">
                <a:solidFill>
                  <a:srgbClr val="1F2D3A"/>
                </a:solidFill>
                <a:latin typeface="Calibri" pitchFamily="34" charset="0"/>
                <a:ea typeface="Calibri" pitchFamily="34" charset="-122"/>
                <a:cs typeface="Calibri" pitchFamily="34" charset="-120"/>
              </a:rPr>
              <a:t>Prior inpatient visits and emergency visits rank among the top SHAP contributors, consistent with earlier utilisation signalling higher risk.</a:t>
            </a:r>
            <a:endParaRPr lang="en-US" sz="1250" dirty="0"/>
          </a:p>
        </p:txBody>
      </p:sp>
      <p:sp>
        <p:nvSpPr>
          <p:cNvPr id="13" name="Shape 9"/>
          <p:cNvSpPr/>
          <p:nvPr/>
        </p:nvSpPr>
        <p:spPr>
          <a:xfrm>
            <a:off x="6080760" y="2670048"/>
            <a:ext cx="5653735" cy="1234440"/>
          </a:xfrm>
          <a:prstGeom prst="roundRect">
            <a:avLst>
              <a:gd name="adj" fmla="val 5926"/>
            </a:avLst>
          </a:prstGeom>
          <a:solidFill>
            <a:srgbClr val="FFFFFF"/>
          </a:solidFill>
          <a:ln w="9525">
            <a:solidFill>
              <a:srgbClr val="DCE4EA"/>
            </a:solidFill>
            <a:prstDash val="solid"/>
          </a:ln>
        </p:spPr>
      </p:sp>
      <p:sp>
        <p:nvSpPr>
          <p:cNvPr id="14" name="Shape 10"/>
          <p:cNvSpPr/>
          <p:nvPr/>
        </p:nvSpPr>
        <p:spPr>
          <a:xfrm>
            <a:off x="6217920" y="2807208"/>
            <a:ext cx="347472" cy="347472"/>
          </a:xfrm>
          <a:prstGeom prst="ellipse">
            <a:avLst/>
          </a:prstGeom>
          <a:solidFill>
            <a:srgbClr val="0E8C8C"/>
          </a:solidFill>
          <a:ln w="12700">
            <a:solidFill>
              <a:srgbClr val="0E8C8C"/>
            </a:solidFill>
            <a:prstDash val="solid"/>
          </a:ln>
        </p:spPr>
      </p:sp>
      <p:sp>
        <p:nvSpPr>
          <p:cNvPr id="15" name="Text 11"/>
          <p:cNvSpPr txBox="1"/>
          <p:nvPr/>
        </p:nvSpPr>
        <p:spPr>
          <a:xfrm>
            <a:off x="6217920" y="2807208"/>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2"/>
          <p:cNvSpPr txBox="1"/>
          <p:nvPr/>
        </p:nvSpPr>
        <p:spPr>
          <a:xfrm>
            <a:off x="6675120" y="2761488"/>
            <a:ext cx="4922215" cy="27432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Care complexity and discharge</a:t>
            </a:r>
            <a:endParaRPr lang="en-US" sz="1350" dirty="0"/>
          </a:p>
        </p:txBody>
      </p:sp>
      <p:sp>
        <p:nvSpPr>
          <p:cNvPr id="17" name="Text 13"/>
          <p:cNvSpPr txBox="1"/>
          <p:nvPr/>
        </p:nvSpPr>
        <p:spPr>
          <a:xfrm>
            <a:off x="6675120" y="3063240"/>
            <a:ext cx="4922215" cy="804672"/>
          </a:xfrm>
          <a:prstGeom prst="rect">
            <a:avLst/>
          </a:prstGeom>
          <a:noFill/>
          <a:ln/>
        </p:spPr>
        <p:txBody>
          <a:bodyPr wrap="square" lIns="0" tIns="0" rIns="0" bIns="0" rtlCol="0" anchor="t"/>
          <a:lstStyle/>
          <a:p>
            <a:pPr marL="0" indent="0">
              <a:buNone/>
            </a:pPr>
            <a:r>
              <a:rPr lang="en-US" sz="1250" dirty="0">
                <a:solidFill>
                  <a:srgbClr val="1F2D3A"/>
                </a:solidFill>
                <a:latin typeface="Calibri" pitchFamily="34" charset="0"/>
                <a:ea typeface="Calibri" pitchFamily="34" charset="-122"/>
                <a:cs typeface="Calibri" pitchFamily="34" charset="-120"/>
              </a:rPr>
              <a:t>Medication count, number of diagnoses, length of stay and discharge disposition all carry importance, pointing to complex, sicker patients.</a:t>
            </a:r>
            <a:endParaRPr lang="en-US" sz="1250" dirty="0"/>
          </a:p>
        </p:txBody>
      </p:sp>
      <p:sp>
        <p:nvSpPr>
          <p:cNvPr id="18" name="Shape 14"/>
          <p:cNvSpPr/>
          <p:nvPr/>
        </p:nvSpPr>
        <p:spPr>
          <a:xfrm>
            <a:off x="6080760" y="4014216"/>
            <a:ext cx="5653735" cy="1234440"/>
          </a:xfrm>
          <a:prstGeom prst="roundRect">
            <a:avLst>
              <a:gd name="adj" fmla="val 5926"/>
            </a:avLst>
          </a:prstGeom>
          <a:solidFill>
            <a:srgbClr val="FFFFFF"/>
          </a:solidFill>
          <a:ln w="9525">
            <a:solidFill>
              <a:srgbClr val="DCE4EA"/>
            </a:solidFill>
            <a:prstDash val="solid"/>
          </a:ln>
        </p:spPr>
      </p:sp>
      <p:sp>
        <p:nvSpPr>
          <p:cNvPr id="19" name="Shape 15"/>
          <p:cNvSpPr/>
          <p:nvPr/>
        </p:nvSpPr>
        <p:spPr>
          <a:xfrm>
            <a:off x="6217920" y="4151376"/>
            <a:ext cx="347472" cy="347472"/>
          </a:xfrm>
          <a:prstGeom prst="ellipse">
            <a:avLst/>
          </a:prstGeom>
          <a:solidFill>
            <a:srgbClr val="0B2545"/>
          </a:solidFill>
          <a:ln w="12700">
            <a:solidFill>
              <a:srgbClr val="0B2545"/>
            </a:solidFill>
            <a:prstDash val="solid"/>
          </a:ln>
        </p:spPr>
      </p:sp>
      <p:sp>
        <p:nvSpPr>
          <p:cNvPr id="20" name="Text 16"/>
          <p:cNvSpPr txBox="1"/>
          <p:nvPr/>
        </p:nvSpPr>
        <p:spPr>
          <a:xfrm>
            <a:off x="6217920" y="4151376"/>
            <a:ext cx="347472" cy="347472"/>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6675120" y="4105656"/>
            <a:ext cx="4922215" cy="274320"/>
          </a:xfrm>
          <a:prstGeom prst="rect">
            <a:avLst/>
          </a:prstGeom>
          <a:noFill/>
          <a:ln/>
        </p:spPr>
        <p:txBody>
          <a:bodyPr wrap="square" lIns="0" tIns="0" rIns="0" bIns="0" rtlCol="0" anchor="ctr"/>
          <a:lstStyle/>
          <a:p>
            <a:pPr marL="0" indent="0">
              <a:buNone/>
            </a:pPr>
            <a:r>
              <a:rPr lang="en-US" sz="1350" b="1" dirty="0">
                <a:solidFill>
                  <a:srgbClr val="0B2545"/>
                </a:solidFill>
                <a:latin typeface="Calibri" pitchFamily="34" charset="0"/>
                <a:ea typeface="Calibri" pitchFamily="34" charset="-122"/>
                <a:cs typeface="Calibri" pitchFamily="34" charset="-120"/>
              </a:rPr>
              <a:t>Diabetes indicators</a:t>
            </a:r>
            <a:endParaRPr lang="en-US" sz="1350" dirty="0"/>
          </a:p>
        </p:txBody>
      </p:sp>
      <p:sp>
        <p:nvSpPr>
          <p:cNvPr id="22" name="Text 18"/>
          <p:cNvSpPr txBox="1"/>
          <p:nvPr/>
        </p:nvSpPr>
        <p:spPr>
          <a:xfrm>
            <a:off x="6675120" y="4407408"/>
            <a:ext cx="4922215" cy="804672"/>
          </a:xfrm>
          <a:prstGeom prst="rect">
            <a:avLst/>
          </a:prstGeom>
          <a:noFill/>
          <a:ln/>
        </p:spPr>
        <p:txBody>
          <a:bodyPr wrap="square" lIns="0" tIns="0" rIns="0" bIns="0" rtlCol="0" anchor="t"/>
          <a:lstStyle/>
          <a:p>
            <a:pPr marL="0" indent="0">
              <a:buNone/>
            </a:pPr>
            <a:r>
              <a:rPr lang="en-US" sz="1250" dirty="0">
                <a:solidFill>
                  <a:srgbClr val="1F2D3A"/>
                </a:solidFill>
                <a:latin typeface="Calibri" pitchFamily="34" charset="0"/>
                <a:ea typeface="Calibri" pitchFamily="34" charset="-122"/>
                <a:cs typeface="Calibri" pitchFamily="34" charset="-120"/>
              </a:rPr>
              <a:t>SHAP highlights HighBP, CholCheck and HighChol: cardiovascular risk markers and screening behaviour. This output is from a small sample.</a:t>
            </a:r>
            <a:endParaRPr lang="en-US" sz="1250" dirty="0"/>
          </a:p>
        </p:txBody>
      </p:sp>
      <p:sp>
        <p:nvSpPr>
          <p:cNvPr id="23" name="Shape 19"/>
          <p:cNvSpPr/>
          <p:nvPr/>
        </p:nvSpPr>
        <p:spPr>
          <a:xfrm>
            <a:off x="457200" y="5394960"/>
            <a:ext cx="5394960" cy="896112"/>
          </a:xfrm>
          <a:prstGeom prst="roundRect">
            <a:avLst>
              <a:gd name="adj" fmla="val 8163"/>
            </a:avLst>
          </a:prstGeom>
          <a:solidFill>
            <a:srgbClr val="D6EEF0"/>
          </a:solidFill>
          <a:ln w="9525">
            <a:solidFill>
              <a:srgbClr val="D6EEF0"/>
            </a:solidFill>
            <a:prstDash val="solid"/>
          </a:ln>
        </p:spPr>
      </p:sp>
      <p:sp>
        <p:nvSpPr>
          <p:cNvPr id="24" name="Text 20"/>
          <p:cNvSpPr txBox="1"/>
          <p:nvPr/>
        </p:nvSpPr>
        <p:spPr>
          <a:xfrm>
            <a:off x="640080" y="5394960"/>
            <a:ext cx="5029200" cy="896112"/>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Practical use: </a:t>
            </a:r>
            <a:r>
              <a:rPr lang="en-US" sz="1200" dirty="0">
                <a:solidFill>
                  <a:srgbClr val="1F2D3A"/>
                </a:solidFill>
                <a:latin typeface="Calibri" pitchFamily="34" charset="0"/>
                <a:ea typeface="Calibri" pitchFamily="34" charset="-122"/>
                <a:cs typeface="Calibri" pitchFamily="34" charset="-120"/>
              </a:rPr>
              <a:t>a screening flag that catches 53.1% of early readmissions could help prioritise follow-up, with 18.6% precision.</a:t>
            </a:r>
            <a:endParaRPr lang="en-US" sz="1200" dirty="0"/>
          </a:p>
        </p:txBody>
      </p:sp>
      <p:sp>
        <p:nvSpPr>
          <p:cNvPr id="25" name="Shape 21"/>
          <p:cNvSpPr/>
          <p:nvPr/>
        </p:nvSpPr>
        <p:spPr>
          <a:xfrm>
            <a:off x="6080760" y="5394960"/>
            <a:ext cx="5653735" cy="896112"/>
          </a:xfrm>
          <a:prstGeom prst="roundRect">
            <a:avLst>
              <a:gd name="adj" fmla="val 8163"/>
            </a:avLst>
          </a:prstGeom>
          <a:solidFill>
            <a:srgbClr val="FBE9C9"/>
          </a:solidFill>
          <a:ln w="9525">
            <a:solidFill>
              <a:srgbClr val="FBE9C9"/>
            </a:solidFill>
            <a:prstDash val="solid"/>
          </a:ln>
        </p:spPr>
      </p:sp>
      <p:sp>
        <p:nvSpPr>
          <p:cNvPr id="26" name="Text 22"/>
          <p:cNvSpPr txBox="1"/>
          <p:nvPr/>
        </p:nvSpPr>
        <p:spPr>
          <a:xfrm>
            <a:off x="6263640" y="5394960"/>
            <a:ext cx="5287975" cy="896112"/>
          </a:xfrm>
          <a:prstGeom prst="rect">
            <a:avLst/>
          </a:prstGeom>
          <a:noFill/>
          <a:ln/>
        </p:spPr>
        <p:txBody>
          <a:bodyPr wrap="square" lIns="0" tIns="0" rIns="0" bIns="0" rtlCol="0" anchor="ctr"/>
          <a:lstStyle/>
          <a:p>
            <a:pPr marL="0" indent="0">
              <a:buNone/>
            </a:pPr>
            <a:r>
              <a:rPr lang="en-US" sz="1200" b="1" dirty="0">
                <a:solidFill>
                  <a:srgbClr val="0B2545"/>
                </a:solidFill>
                <a:latin typeface="Calibri" pitchFamily="34" charset="0"/>
                <a:ea typeface="Calibri" pitchFamily="34" charset="-122"/>
                <a:cs typeface="Calibri" pitchFamily="34" charset="-120"/>
              </a:rPr>
              <a:t>Caution: </a:t>
            </a:r>
            <a:r>
              <a:rPr lang="en-US" sz="1200" dirty="0">
                <a:solidFill>
                  <a:srgbClr val="1F2D3A"/>
                </a:solidFill>
                <a:latin typeface="Calibri" pitchFamily="34" charset="0"/>
                <a:ea typeface="Calibri" pitchFamily="34" charset="-122"/>
                <a:cs typeface="Calibri" pitchFamily="34" charset="-120"/>
              </a:rPr>
              <a:t>importance and SHAP show association, not causation. No clinical validation or outcome improvement has been demonstrated.</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9"/>
        </a:solidFill>
        <a:effectLst/>
      </p:bgPr>
    </p:bg>
    <p:spTree>
      <p:nvGrpSpPr>
        <p:cNvPr id="1" name=""/>
        <p:cNvGrpSpPr/>
        <p:nvPr/>
      </p:nvGrpSpPr>
      <p:grpSpPr>
        <a:xfrm>
          <a:off x="0" y="0"/>
          <a:ext cx="0" cy="0"/>
          <a:chOff x="0" y="0"/>
          <a:chExt cx="0" cy="0"/>
        </a:xfrm>
      </p:grpSpPr>
      <p:sp>
        <p:nvSpPr>
          <p:cNvPr id="2" name="Text 0"/>
          <p:cNvSpPr txBox="1"/>
          <p:nvPr/>
        </p:nvSpPr>
        <p:spPr>
          <a:xfrm>
            <a:off x="457200" y="274320"/>
            <a:ext cx="11277295" cy="566928"/>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Conclusion, Limitations and Future Scope</a:t>
            </a:r>
            <a:endParaRPr lang="en-US" sz="2800" dirty="0"/>
          </a:p>
        </p:txBody>
      </p:sp>
      <p:sp>
        <p:nvSpPr>
          <p:cNvPr id="3" name="Text 1"/>
          <p:cNvSpPr txBox="1"/>
          <p:nvPr/>
        </p:nvSpPr>
        <p:spPr>
          <a:xfrm>
            <a:off x="457200" y="850392"/>
            <a:ext cx="11277295" cy="329184"/>
          </a:xfrm>
          <a:prstGeom prst="rect">
            <a:avLst/>
          </a:prstGeom>
          <a:noFill/>
          <a:ln/>
        </p:spPr>
        <p:txBody>
          <a:bodyPr wrap="square" lIns="0" tIns="0" rIns="0" bIns="0" rtlCol="0" anchor="ctr"/>
          <a:lstStyle/>
          <a:p>
            <a:pPr marL="0" indent="0">
              <a:buNone/>
            </a:pPr>
            <a:r>
              <a:rPr lang="en-US" sz="1400" i="1" dirty="0">
                <a:solidFill>
                  <a:srgbClr val="0E8C8C"/>
                </a:solidFill>
                <a:latin typeface="Calibri" pitchFamily="34" charset="0"/>
                <a:ea typeface="Calibri" pitchFamily="34" charset="-122"/>
                <a:cs typeface="Calibri" pitchFamily="34" charset="-120"/>
              </a:rPr>
              <a:t>Completed work is separated from proposed work</a:t>
            </a:r>
            <a:endParaRPr lang="en-US" sz="1400" dirty="0"/>
          </a:p>
        </p:txBody>
      </p:sp>
      <p:sp>
        <p:nvSpPr>
          <p:cNvPr id="4" name="Text 2"/>
          <p:cNvSpPr txBox="1"/>
          <p:nvPr/>
        </p:nvSpPr>
        <p:spPr>
          <a:xfrm>
            <a:off x="457200" y="6473952"/>
            <a:ext cx="8229600" cy="237744"/>
          </a:xfrm>
          <a:prstGeom prst="rect">
            <a:avLst/>
          </a:prstGeom>
          <a:noFill/>
          <a:ln/>
        </p:spPr>
        <p:txBody>
          <a:bodyPr wrap="square" lIns="0" tIns="0" rIns="0" bIns="0" rtlCol="0" anchor="ctr"/>
          <a:lstStyle/>
          <a:p>
            <a:pPr marL="0" indent="0">
              <a:buNone/>
            </a:pPr>
            <a:r>
              <a:rPr lang="en-US" sz="1000" dirty="0">
                <a:solidFill>
                  <a:srgbClr val="5B6B7A"/>
                </a:solidFill>
                <a:latin typeface="Calibri" pitchFamily="34" charset="0"/>
                <a:ea typeface="Calibri" pitchFamily="34" charset="-122"/>
                <a:cs typeface="Calibri" pitchFamily="34" charset="-120"/>
              </a:rPr>
              <a:t>Explainable Ensemble Learning for Early Patient Risk Prediction  |  Healthcare Analytics</a:t>
            </a:r>
            <a:endParaRPr lang="en-US" sz="1000" dirty="0"/>
          </a:p>
        </p:txBody>
      </p:sp>
      <p:sp>
        <p:nvSpPr>
          <p:cNvPr id="5" name="Text 3"/>
          <p:cNvSpPr txBox="1"/>
          <p:nvPr/>
        </p:nvSpPr>
        <p:spPr>
          <a:xfrm>
            <a:off x="11185855" y="6473952"/>
            <a:ext cx="548640" cy="237744"/>
          </a:xfrm>
          <a:prstGeom prst="rect">
            <a:avLst/>
          </a:prstGeom>
          <a:noFill/>
          <a:ln/>
        </p:spPr>
        <p:txBody>
          <a:bodyPr wrap="square" lIns="0" tIns="0" rIns="0" bIns="0" rtlCol="0" anchor="ctr"/>
          <a:lstStyle/>
          <a:p>
            <a:pPr marL="0" indent="0" algn="r">
              <a:buNone/>
            </a:pPr>
            <a:r>
              <a:rPr lang="en-US" sz="1000" dirty="0">
                <a:solidFill>
                  <a:srgbClr val="5B6B7A"/>
                </a:solidFill>
                <a:latin typeface="Calibri" pitchFamily="34" charset="0"/>
                <a:ea typeface="Calibri" pitchFamily="34" charset="-122"/>
                <a:cs typeface="Calibri" pitchFamily="34" charset="-120"/>
              </a:rPr>
              <a:t>14</a:t>
            </a:r>
            <a:endParaRPr lang="en-US" sz="1000" dirty="0"/>
          </a:p>
        </p:txBody>
      </p:sp>
      <p:sp>
        <p:nvSpPr>
          <p:cNvPr id="7" name="Shape 4"/>
          <p:cNvSpPr/>
          <p:nvPr/>
        </p:nvSpPr>
        <p:spPr>
          <a:xfrm>
            <a:off x="457200" y="1325880"/>
            <a:ext cx="3637178" cy="3977640"/>
          </a:xfrm>
          <a:prstGeom prst="roundRect">
            <a:avLst>
              <a:gd name="adj" fmla="val 2011"/>
            </a:avLst>
          </a:prstGeom>
          <a:solidFill>
            <a:srgbClr val="FFFFFF"/>
          </a:solidFill>
          <a:ln w="9525">
            <a:solidFill>
              <a:srgbClr val="DCE4EA"/>
            </a:solidFill>
            <a:prstDash val="solid"/>
          </a:ln>
        </p:spPr>
      </p:sp>
      <p:sp>
        <p:nvSpPr>
          <p:cNvPr id="8" name="Shape 5"/>
          <p:cNvSpPr/>
          <p:nvPr/>
        </p:nvSpPr>
        <p:spPr>
          <a:xfrm>
            <a:off x="640080" y="1463040"/>
            <a:ext cx="274320" cy="274320"/>
          </a:xfrm>
          <a:prstGeom prst="ellipse">
            <a:avLst/>
          </a:prstGeom>
          <a:solidFill>
            <a:srgbClr val="0E8C8C"/>
          </a:solidFill>
          <a:ln w="12700">
            <a:solidFill>
              <a:srgbClr val="0E8C8C"/>
            </a:solidFill>
            <a:prstDash val="solid"/>
          </a:ln>
        </p:spPr>
      </p:sp>
      <p:sp>
        <p:nvSpPr>
          <p:cNvPr id="9" name="Text 6"/>
          <p:cNvSpPr txBox="1"/>
          <p:nvPr/>
        </p:nvSpPr>
        <p:spPr>
          <a:xfrm>
            <a:off x="1024128" y="1435608"/>
            <a:ext cx="2905658" cy="329184"/>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Completed work and findings</a:t>
            </a:r>
            <a:endParaRPr lang="en-US" sz="1500" dirty="0"/>
          </a:p>
        </p:txBody>
      </p:sp>
      <p:sp>
        <p:nvSpPr>
          <p:cNvPr id="10" name="Text 7"/>
          <p:cNvSpPr txBox="1"/>
          <p:nvPr/>
        </p:nvSpPr>
        <p:spPr>
          <a:xfrm>
            <a:off x="640080" y="1920240"/>
            <a:ext cx="3271418" cy="329184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Two separate tasks, four models each, identical splits</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Diabetes: Logistic Regression best macro F1 (0.4257); ensemble most stable in CV (SD 0.0004)</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Readmission: ensemble accuracy 0.8892 but recall only 0.0172</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Class-weighted RF with validation threshold 0.40: recall 0.531, F1 0.275, ROC-AUC 0.6671</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SHAP and feature importance identify prior utilisation, discharge and care complexity as key factors</a:t>
            </a:r>
            <a:endParaRPr lang="en-US" sz="1350" dirty="0"/>
          </a:p>
        </p:txBody>
      </p:sp>
      <p:sp>
        <p:nvSpPr>
          <p:cNvPr id="11" name="Shape 8"/>
          <p:cNvSpPr/>
          <p:nvPr/>
        </p:nvSpPr>
        <p:spPr>
          <a:xfrm>
            <a:off x="4277258" y="1325880"/>
            <a:ext cx="3637178" cy="3977640"/>
          </a:xfrm>
          <a:prstGeom prst="roundRect">
            <a:avLst>
              <a:gd name="adj" fmla="val 2011"/>
            </a:avLst>
          </a:prstGeom>
          <a:solidFill>
            <a:srgbClr val="FFFFFF"/>
          </a:solidFill>
          <a:ln w="9525">
            <a:solidFill>
              <a:srgbClr val="DCE4EA"/>
            </a:solidFill>
            <a:prstDash val="solid"/>
          </a:ln>
        </p:spPr>
      </p:sp>
      <p:sp>
        <p:nvSpPr>
          <p:cNvPr id="12" name="Shape 9"/>
          <p:cNvSpPr/>
          <p:nvPr/>
        </p:nvSpPr>
        <p:spPr>
          <a:xfrm>
            <a:off x="4460138" y="1463040"/>
            <a:ext cx="274320" cy="274320"/>
          </a:xfrm>
          <a:prstGeom prst="ellipse">
            <a:avLst/>
          </a:prstGeom>
          <a:solidFill>
            <a:srgbClr val="D98E04"/>
          </a:solidFill>
          <a:ln w="12700">
            <a:solidFill>
              <a:srgbClr val="D98E04"/>
            </a:solidFill>
            <a:prstDash val="solid"/>
          </a:ln>
        </p:spPr>
      </p:sp>
      <p:sp>
        <p:nvSpPr>
          <p:cNvPr id="13" name="Text 10"/>
          <p:cNvSpPr txBox="1"/>
          <p:nvPr/>
        </p:nvSpPr>
        <p:spPr>
          <a:xfrm>
            <a:off x="4844186" y="1435608"/>
            <a:ext cx="2905658" cy="329184"/>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Limitations</a:t>
            </a:r>
            <a:endParaRPr lang="en-US" sz="1500" dirty="0"/>
          </a:p>
        </p:txBody>
      </p:sp>
      <p:sp>
        <p:nvSpPr>
          <p:cNvPr id="14" name="Text 11"/>
          <p:cNvSpPr txBox="1"/>
          <p:nvPr/>
        </p:nvSpPr>
        <p:spPr>
          <a:xfrm>
            <a:off x="4460138" y="1920240"/>
            <a:ext cx="3271418" cy="329184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Low precision for readmission (0.1856): many false alarms</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Prediabetes remains almost undetected (2.0% of data)</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Modest ROC-AUC; one train/test split for readmission</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SHAP computed on small samples and on the baseline Random Forest</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Public observational data, no external or clinical validation</a:t>
            </a:r>
            <a:endParaRPr lang="en-US" sz="1350" dirty="0"/>
          </a:p>
        </p:txBody>
      </p:sp>
      <p:sp>
        <p:nvSpPr>
          <p:cNvPr id="15" name="Shape 12"/>
          <p:cNvSpPr/>
          <p:nvPr/>
        </p:nvSpPr>
        <p:spPr>
          <a:xfrm>
            <a:off x="8097317" y="1325880"/>
            <a:ext cx="3637178" cy="3977640"/>
          </a:xfrm>
          <a:prstGeom prst="roundRect">
            <a:avLst>
              <a:gd name="adj" fmla="val 2011"/>
            </a:avLst>
          </a:prstGeom>
          <a:solidFill>
            <a:srgbClr val="FFFFFF"/>
          </a:solidFill>
          <a:ln w="9525">
            <a:solidFill>
              <a:srgbClr val="DCE4EA"/>
            </a:solidFill>
            <a:prstDash val="solid"/>
          </a:ln>
        </p:spPr>
      </p:sp>
      <p:sp>
        <p:nvSpPr>
          <p:cNvPr id="16" name="Shape 13"/>
          <p:cNvSpPr/>
          <p:nvPr/>
        </p:nvSpPr>
        <p:spPr>
          <a:xfrm>
            <a:off x="8280197" y="1463040"/>
            <a:ext cx="274320" cy="274320"/>
          </a:xfrm>
          <a:prstGeom prst="ellipse">
            <a:avLst/>
          </a:prstGeom>
          <a:solidFill>
            <a:srgbClr val="0B2545"/>
          </a:solidFill>
          <a:ln w="12700">
            <a:solidFill>
              <a:srgbClr val="0B2545"/>
            </a:solidFill>
            <a:prstDash val="solid"/>
          </a:ln>
        </p:spPr>
      </p:sp>
      <p:sp>
        <p:nvSpPr>
          <p:cNvPr id="17" name="Text 14"/>
          <p:cNvSpPr txBox="1"/>
          <p:nvPr/>
        </p:nvSpPr>
        <p:spPr>
          <a:xfrm>
            <a:off x="8664245" y="1435608"/>
            <a:ext cx="2905658" cy="329184"/>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Future scope (proposed)</a:t>
            </a:r>
            <a:endParaRPr lang="en-US" sz="1500" dirty="0"/>
          </a:p>
        </p:txBody>
      </p:sp>
      <p:sp>
        <p:nvSpPr>
          <p:cNvPr id="18" name="Text 15"/>
          <p:cNvSpPr txBox="1"/>
          <p:nvPr/>
        </p:nvSpPr>
        <p:spPr>
          <a:xfrm>
            <a:off x="8280197" y="1920240"/>
            <a:ext cx="3271418" cy="3291840"/>
          </a:xfrm>
          <a:prstGeom prst="rect">
            <a:avLst/>
          </a:prstGeom>
          <a:noFill/>
          <a:ln/>
        </p:spPr>
        <p:txBody>
          <a:bodyPr wrap="square" lIns="0" tIns="0" rIns="0" bIns="0" rtlCol="0" anchor="t"/>
          <a:lstStyle/>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Validate on independent hospital and survey data</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SHAP for the final tuned model with larger samples</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Hyperparameter tuning and probability calibration</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Test further model families such as gradient boosting</a:t>
            </a:r>
            <a:endParaRPr lang="en-US" sz="1350" dirty="0"/>
          </a:p>
          <a:p>
            <a:pPr marL="177800" indent="-177800">
              <a:spcAft>
                <a:spcPts val="500"/>
              </a:spcAft>
              <a:buSzPct val="100000"/>
              <a:buChar char="•"/>
            </a:pPr>
            <a:r>
              <a:rPr lang="en-US" sz="1350" dirty="0">
                <a:solidFill>
                  <a:srgbClr val="1F2D3A"/>
                </a:solidFill>
                <a:latin typeface="Calibri" pitchFamily="34" charset="0"/>
                <a:ea typeface="Calibri" pitchFamily="34" charset="-122"/>
                <a:cs typeface="Calibri" pitchFamily="34" charset="-120"/>
              </a:rPr>
              <a:t>Consider deployment only after clinical review</a:t>
            </a:r>
            <a:endParaRPr lang="en-US" sz="1350" dirty="0"/>
          </a:p>
        </p:txBody>
      </p:sp>
      <p:sp>
        <p:nvSpPr>
          <p:cNvPr id="19" name="Shape 16"/>
          <p:cNvSpPr/>
          <p:nvPr/>
        </p:nvSpPr>
        <p:spPr>
          <a:xfrm>
            <a:off x="457200" y="5440680"/>
            <a:ext cx="11277295" cy="914400"/>
          </a:xfrm>
          <a:prstGeom prst="roundRect">
            <a:avLst>
              <a:gd name="adj" fmla="val 10000"/>
            </a:avLst>
          </a:prstGeom>
          <a:solidFill>
            <a:srgbClr val="0B2545"/>
          </a:solidFill>
          <a:ln w="12700">
            <a:solidFill>
              <a:srgbClr val="0B2545"/>
            </a:solidFill>
            <a:prstDash val="solid"/>
          </a:ln>
        </p:spPr>
      </p:sp>
      <p:sp>
        <p:nvSpPr>
          <p:cNvPr id="20" name="Text 17"/>
          <p:cNvSpPr txBox="1"/>
          <p:nvPr/>
        </p:nvSpPr>
        <p:spPr>
          <a:xfrm>
            <a:off x="822960" y="5440680"/>
            <a:ext cx="3291840" cy="91440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21" name="Text 18"/>
          <p:cNvSpPr txBox="1"/>
          <p:nvPr/>
        </p:nvSpPr>
        <p:spPr>
          <a:xfrm>
            <a:off x="4206240" y="5440680"/>
            <a:ext cx="7162495" cy="914400"/>
          </a:xfrm>
          <a:prstGeom prst="rect">
            <a:avLst/>
          </a:prstGeom>
          <a:noFill/>
          <a:ln/>
        </p:spPr>
        <p:txBody>
          <a:bodyPr wrap="square" lIns="0" tIns="0" rIns="0" bIns="0" rtlCol="0" anchor="ctr"/>
          <a:lstStyle/>
          <a:p>
            <a:pPr marL="0" indent="0">
              <a:buNone/>
            </a:pPr>
            <a:r>
              <a:rPr lang="en-US" sz="1400" dirty="0">
                <a:solidFill>
                  <a:srgbClr val="DCE8F2"/>
                </a:solidFill>
                <a:latin typeface="Calibri" pitchFamily="34" charset="0"/>
                <a:ea typeface="Calibri" pitchFamily="34" charset="-122"/>
                <a:cs typeface="Calibri" pitchFamily="34" charset="-120"/>
              </a:rPr>
              <a:t>An explainable, imbalance-aware comparison of ensemble and individual models for early patient risk prediction. Questions?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3110</Words>
  <Application>Microsoft Office PowerPoint</Application>
  <PresentationFormat>Widescreen</PresentationFormat>
  <Paragraphs>444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Explainable Ensemble Learning Framework for Early Patient Risk Prediction in Healthcare</dc:title>
  <dc:subject>PptxGenJS Presentation</dc:subject>
  <dc:creator>Vismayaa Rajan, Arya Jain</dc:creator>
  <cp:lastModifiedBy>HP</cp:lastModifiedBy>
  <cp:revision>2</cp:revision>
  <dcterms:created xsi:type="dcterms:W3CDTF">2026-10-27T10:27:22Z</dcterms:created>
  <dcterms:modified xsi:type="dcterms:W3CDTF">2026-10-27T10:32:29Z</dcterms:modified>
</cp:coreProperties>
</file>